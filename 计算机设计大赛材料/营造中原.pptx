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9.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10.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11.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12.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13.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62" r:id="rId3"/>
    <p:sldMasterId id="2147483664" r:id="rId4"/>
    <p:sldMasterId id="2147483666" r:id="rId5"/>
    <p:sldMasterId id="2147483668" r:id="rId6"/>
    <p:sldMasterId id="2147483670" r:id="rId7"/>
    <p:sldMasterId id="2147483672" r:id="rId8"/>
    <p:sldMasterId id="2147483674" r:id="rId9"/>
    <p:sldMasterId id="2147483676" r:id="rId10"/>
  </p:sldMasterIdLst>
  <p:notesMasterIdLst>
    <p:notesMasterId r:id="rId31"/>
  </p:notesMasterIdLst>
  <p:sldIdLst>
    <p:sldId id="256" r:id="rId11"/>
    <p:sldId id="257" r:id="rId12"/>
    <p:sldId id="269" r:id="rId13"/>
    <p:sldId id="258" r:id="rId14"/>
    <p:sldId id="259" r:id="rId15"/>
    <p:sldId id="270" r:id="rId16"/>
    <p:sldId id="273" r:id="rId17"/>
    <p:sldId id="274" r:id="rId18"/>
    <p:sldId id="260" r:id="rId19"/>
    <p:sldId id="261" r:id="rId20"/>
    <p:sldId id="262" r:id="rId21"/>
    <p:sldId id="263" r:id="rId22"/>
    <p:sldId id="264" r:id="rId23"/>
    <p:sldId id="265" r:id="rId24"/>
    <p:sldId id="275" r:id="rId25"/>
    <p:sldId id="276" r:id="rId26"/>
    <p:sldId id="277" r:id="rId27"/>
    <p:sldId id="267" r:id="rId28"/>
    <p:sldId id="278" r:id="rId29"/>
    <p:sldId id="268"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04" userDrawn="1">
          <p15:clr>
            <a:srgbClr val="747775"/>
          </p15:clr>
        </p15:guide>
        <p15:guide id="2" pos="280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1" autoAdjust="0"/>
    <p:restoredTop sz="72727" autoAdjust="0"/>
  </p:normalViewPr>
  <p:slideViewPr>
    <p:cSldViewPr snapToGrid="0" showGuides="1">
      <p:cViewPr varScale="1">
        <p:scale>
          <a:sx n="61" d="100"/>
          <a:sy n="61" d="100"/>
        </p:scale>
        <p:origin x="58" y="643"/>
      </p:cViewPr>
      <p:guideLst>
        <p:guide orient="horz" pos="1504"/>
        <p:guide pos="280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slideMaster" Target="slideMasters/slideMaster3.xml"/><Relationship Id="rId21" Type="http://schemas.openxmlformats.org/officeDocument/2006/relationships/slide" Target="slides/slide11.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tableStyles" Target="tableStyles.xml"/><Relationship Id="rId8" Type="http://schemas.openxmlformats.org/officeDocument/2006/relationships/slideMaster" Target="slideMasters/slideMaster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大家好。今天我们带来的作品是“营造中原：河南古代建筑文明数字长卷”。河南，作为中华文明的重要发祥地，拥有数千年的建城史和辉煌的古代建筑遗产。然而，这些宝贵的文化瑰宝散落在中原大地，其历史脉络与文化价值尚未被充分挖掘和展示。我们的项目旨在通过数字技术，将这些散落的珍珠串联起来，构建一幅生动、可交互的数字长卷，让更多人领略中原建筑文明的魅力。接下来，我们将从项目背景、设计思路、功能展示等几个方面，为大家详细介绍我们的作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六个部分。首先，我们将阐述项目的背景与选题意义，说明为何选择河南古代建筑作为研究对象。其次，介绍作品的整体概述与设计思路，展示我们如何构建“数字长卷”这一核心概念。接着，我们会详细展示作品的五大核心功能模块。之后，将介绍项目所采用的技术路线。第五部分，总结本项目的特色与创新点。最后，对项目进行总结并展望未来的发展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大家好。今天我们带来的作品是“营造中原：河南古代建筑文明数字长卷”。河南，作为中华文明的重要发祥地，拥有数千年的建城史和辉煌的古代建筑遗产。然而，这些宝贵的文化瑰宝散落在中原大地，其历史脉络与文化价值尚未被充分挖掘和展示。我们的项目旨在通过数字技术，将这些散落的珍珠串联起来，构建一幅生动、可交互的数字长卷，让更多人领略中原建筑文明的魅力。接下来，我们将从项目背景、设计思路、功能展示等几个方面，为大家详细介绍我们的作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项目始于对中原文明的敬畏与思考。河南作为中华文明的核心区域，其古代建筑遗产极其丰富，从夏商的二里头遗址到北宋的东京城，构成了一条完整的历史链条。然而，这些宝贵的文化资源面临着传播方式单一、年轻群体认知不足等问题。因此，我们希望借助数字技术，打造一个集知识性、趣味性、艺术性于一体的可视化平台，让用户能够直观地感受中原建筑的魅力，从而实现文化的有效传承和美育教育的目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作品定位是打造一部可交互的数字长卷。在设计上，我们采用了“一轴两翼，多点联动”的思路。这里的“一轴”是指以时间为线索的朝代演化轴；“两翼”分别是空间维度的山河分布和分类维度的建筑类型；“多点联动”则是指各个功能模块之间的信息关联与交互。通过这种设计，我们希望为用户提供一个多维度、立体化的探索体验，无论是普通文化爱好者还是专业研究者，都能在其中找到感兴趣的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大家好。今天我们带来的作品是“营造中原：河南古代建筑文明数字长卷”。河南，作为中华文明的重要发祥地，拥有数千年的建城史和辉煌的古代建筑遗产。然而，这些宝贵的文化瑰宝散落在中原大地，其历史脉络与文化价值尚未被充分挖掘和展示。我们的项目旨在通过数字技术，将这些散落的珍珠串联起来，构建一幅生动、可交互的数字长卷，让更多人领略中原建筑文明的魅力。接下来，我们将从项目背景、设计思路、功能展示等几个方面，为大家详细介绍我们的作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项目始于对中原文明的敬畏与思考。河南作为中华文明的核心区域，其古代建筑遗产极其丰富，从夏商的二里头遗址到北宋的东京城，构成了一条完整的历史链条。然而，这些宝贵的文化资源面临着传播方式单一、年轻群体认知不足等问题。因此，我们希望借助数字技术，打造一个集知识性、趣味性、艺术性于一体的可视化平台，让用户能够直观地感受中原建筑的魅力，从而实现文化的有效传承和美育教育的目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大家好。今天我们带来的作品是“营造中原：河南古代建筑文明数字长卷”。河南，作为中华文明的重要发祥地，拥有数千年的建城史和辉煌的古代建筑遗产。然而，这些宝贵的文化瑰宝散落在中原大地，其历史脉络与文化价值尚未被充分挖掘和展示。我们的项目旨在通过数字技术，将这些散落的珍珠串联起来，构建一幅生动、可交互的数字长卷，让更多人领略中原建筑文明的魅力。接下来，我们将从项目背景、设计思路、功能展示等几个方面，为大家详细介绍我们的作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将为大家逐一展示作品的五大核心功能模块。首先是“山河分布”模块，它将建筑点与地理空间相结合；其次是“时代演化”模块，展示建筑的历史发展脉络；第三是“建筑详情”模块，提供每个建筑的深度信息；第四是“统计分析”模块，通过数据洞察规律；最后是“专题叙事”模块，进行主题化的深度解读。这五个模块共同构成了我们作品的核心交互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首先是“山河分布”模块。我们利用GeoJSON数据绘制了河南省的数字地图，并将所有建筑样本点标注其上。用户可以清晰地看到，从豫西的洛阳盆地到豫东的黄淮平原，不同类型的古建筑星罗棋布。</a:t>
            </a:r>
          </a:p>
          <a:p>
            <a:pPr indent="0" algn="l">
              <a:lnSpc>
                <a:spcPct val="100000"/>
              </a:lnSpc>
            </a:pPr>
            <a:r>
              <a:rPr lang="en-US" sz="1400" b="0" i="0" u="none" strike="noStrike" dirty="0">
                <a:solidFill>
                  <a:srgbClr val="000000"/>
                </a:solidFill>
              </a:rPr>
              <a:t>通过区域和类型筛选，用户可以聚焦特定区域或特定类型的建筑，例如，查看所有隋唐时期的粮仓分布，从而直观理解当时的经济格局。点击标记点，还能快速获取建筑的基础信息。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功能是“时代演化”模块。我们将河南建筑史浓缩在一条动态时间轴上。当用户拖动时间轴时，可以清晰地看到，从史前的聚落遗址，到夏商的都城，再到唐宋的繁华都市，河南建筑的重心经历了从西向东，再向南北扩散的过程。每个阶段都配有简要的文字概述和代表性建筑，帮助用户建立起宏观的历史认知框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功能是“建筑详情”模块。我们为每一个建筑都制作了详尽的数字档案。以商丘古城墙为例，用户不仅可以看到高精度的线稿图，还能了解其“里方外圆”的独特形制、历史上的数次重修，以及它在中国古代城池建筑中的地位。通过这种方式，我们将散落在文献中的知识整合起来，形成系统化的建筑档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个功能是“统计分析”模块。我们认为，数据不仅是数字，更是文化的量化表达。通过对所有样本进行统计，我们可以清晰地看到，唐宋时期是河南古代建筑发展的高峰期；从类型上看，城址和遗址类建筑占比最高，反映了中原作为历代都城的历史地位。这些图表不仅直观，更能引导用户进行深度思考，从宏观数据中发现文化发展的脉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一个功能是“专题叙事”模块。我们认为，单个建筑的价值是有限的，只有将它们串联起来，才能讲述更宏大的故事。例如，在“天下粮仓”专题中，我们将分布在河南各地的隋唐粮仓连接起来，用户可以看到一个完整的国家粮食战略布局，理解隋唐时期洛阳、开封作为东都的经济基础。这种专题化的叙事方式，极大地提升了作品的深度和趣味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大家好。今天我们带来的作品是“营造中原：河南古代建筑文明数字长卷”。河南，作为中华文明的重要发祥地，拥有数千年的建城史和辉煌的古代建筑遗产。然而，这些宝贵的文化瑰宝散落在中原大地，其历史脉络与文化价值尚未被充分挖掘和展示。我们的项目旨在通过数字技术，将这些散落的珍珠串联起来，构建一幅生动、可交互的数字长卷，让更多人领略中原建筑文明的魅力。接下来，我们将从项目背景、设计思路、功能展示等几个方面，为大家详细介绍我们的作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项目始于对中原文明的敬畏与思考。河南作为中华文明的核心区域，其古代建筑遗产极其丰富，从夏商的二里头遗址到北宋的东京城，构成了一条完整的历史链条。然而，这些宝贵的文化资源面临着传播方式单一、年轻群体认知不足等问题。因此，我们希望借助数字技术，打造一个集知识性、趣味性、艺术性于一体的可视化平台，让用户能够直观地感受中原建筑的魅力，从而实现文化的有效传承和美育教育的目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大家好。今天我们带来的作品是“营造中原：河南古代建筑文明数字长卷”。河南，作为中华文明的重要发祥地，拥有数千年的建城史和辉煌的古代建筑遗产。然而，这些宝贵的文化瑰宝散落在中原大地，其历史脉络与文化价值尚未被充分挖掘和展示。我们的项目旨在通过数字技术，将这些散落的珍珠串联起来，构建一幅生动、可交互的数字长卷，让更多人领略中原建筑文明的魅力。接下来，我们将从项目背景、设计思路、功能展示等几个方面，为大家详细介绍我们的作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总结来说，我们项目的特色与创新主要体现在四个方面。</a:t>
            </a:r>
          </a:p>
          <a:p>
            <a:pPr indent="0" algn="l">
              <a:lnSpc>
                <a:spcPct val="100000"/>
              </a:lnSpc>
            </a:pPr>
            <a:r>
              <a:rPr lang="en-US" sz="1400" b="0" i="0" u="none" strike="noStrike">
                <a:solidFill>
                  <a:srgbClr val="000000"/>
                </a:solidFill>
              </a:rPr>
              <a:t>首先，我们强调文化主题驱动的叙事方式，以“数字长卷”为核心线索，让冰冷的数据变得有故事、有温度。</a:t>
            </a:r>
          </a:p>
          <a:p>
            <a:pPr indent="0" algn="l">
              <a:lnSpc>
                <a:spcPct val="100000"/>
              </a:lnSpc>
            </a:pPr>
            <a:r>
              <a:rPr lang="en-US" sz="1400" b="0" i="0" u="none" strike="noStrike">
                <a:solidFill>
                  <a:srgbClr val="000000"/>
                </a:solidFill>
              </a:rPr>
              <a:t>其次，我们构建了多维度协同的展示体系，提供了一个“时空一体”的立体认知框架，帮助用户全方位理解古代建筑。</a:t>
            </a:r>
          </a:p>
          <a:p>
            <a:pPr indent="0" algn="l">
              <a:lnSpc>
                <a:spcPct val="100000"/>
              </a:lnSpc>
            </a:pPr>
            <a:r>
              <a:rPr lang="en-US" sz="1400" b="0" i="0" u="none" strike="noStrike">
                <a:solidFill>
                  <a:srgbClr val="000000"/>
                </a:solidFill>
              </a:rPr>
              <a:t>第三，在视觉表现上，我们实现了国风美学与现代技术的有机融合，既有传统文化的雅致，又不失现代科技的交互感。</a:t>
            </a:r>
          </a:p>
          <a:p>
            <a:pPr indent="0" algn="l">
              <a:lnSpc>
                <a:spcPct val="100000"/>
              </a:lnSpc>
            </a:pPr>
            <a:r>
              <a:rPr lang="en-US" sz="1400" b="0" i="0" u="none" strike="noStrike">
                <a:solidFill>
                  <a:srgbClr val="000000"/>
                </a:solidFill>
              </a:rPr>
              <a:t>最后，这个项目承载了我们青年一代传承和创新中华优秀传统文化的责任与思考，希望能为文化遗产的数字化保护贡献一份力量。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大家好。今天我们带来的作品是“营造中原：河南古代建筑文明数字长卷”。河南，作为中华文明的重要发祥地，拥有数千年的建城史和辉煌的古代建筑遗产。然而，这些宝贵的文化瑰宝散落在中原大地，其历史脉络与文化价值尚未被充分挖掘和展示。我们的项目旨在通过数字技术，将这些散落的珍珠串联起来，构建一幅生动、可交互的数字长卷，让更多人领略中原建筑文明的魅力。接下来，我们将从项目背景、设计思路、功能展示等几个方面，为大家详细介绍我们的作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而言，我们的项目完成了对河南古代建筑文明的一次数字化梳理与呈现。当然，这只是一个开始。未来，我们希望能进一步扩展数据，优化交互体验，甚至引入VR技术，让用户能“走进”这些古建筑。同时，我们也计划将项目成果应用到更广泛的文化传播场景中，让更多人感受到中原文化的魅力。我们相信，数字技术将成为连接过去与未来的重要桥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image" Target="../media/image2.jpe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notesSlide" Target="../notesSlides/notesSlide2.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slideLayout" Target="../slideLayouts/slideLayout12.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8"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18" Type="http://schemas.openxmlformats.org/officeDocument/2006/relationships/image" Target="../media/image3.jpeg"/><Relationship Id="rId3" Type="http://schemas.openxmlformats.org/officeDocument/2006/relationships/tags" Target="../tags/tag33.xml"/><Relationship Id="rId21" Type="http://schemas.openxmlformats.org/officeDocument/2006/relationships/image" Target="../media/image6.svg"/><Relationship Id="rId7" Type="http://schemas.openxmlformats.org/officeDocument/2006/relationships/tags" Target="../tags/tag37.xml"/><Relationship Id="rId12" Type="http://schemas.openxmlformats.org/officeDocument/2006/relationships/tags" Target="../tags/tag42.xml"/><Relationship Id="rId17" Type="http://schemas.openxmlformats.org/officeDocument/2006/relationships/notesSlide" Target="../notesSlides/notesSlide4.xml"/><Relationship Id="rId25" Type="http://schemas.openxmlformats.org/officeDocument/2006/relationships/image" Target="../media/image10.svg"/><Relationship Id="rId2" Type="http://schemas.openxmlformats.org/officeDocument/2006/relationships/tags" Target="../tags/tag32.xml"/><Relationship Id="rId16" Type="http://schemas.openxmlformats.org/officeDocument/2006/relationships/slideLayout" Target="../slideLayouts/slideLayout12.xml"/><Relationship Id="rId20" Type="http://schemas.openxmlformats.org/officeDocument/2006/relationships/image" Target="../media/image5.png"/><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24" Type="http://schemas.openxmlformats.org/officeDocument/2006/relationships/image" Target="../media/image9.png"/><Relationship Id="rId5" Type="http://schemas.openxmlformats.org/officeDocument/2006/relationships/tags" Target="../tags/tag35.xml"/><Relationship Id="rId15" Type="http://schemas.openxmlformats.org/officeDocument/2006/relationships/tags" Target="../tags/tag45.xml"/><Relationship Id="rId23" Type="http://schemas.openxmlformats.org/officeDocument/2006/relationships/image" Target="../media/image8.svg"/><Relationship Id="rId10" Type="http://schemas.openxmlformats.org/officeDocument/2006/relationships/tags" Target="../tags/tag40.xml"/><Relationship Id="rId19" Type="http://schemas.openxmlformats.org/officeDocument/2006/relationships/image" Target="../media/image4.jpeg"/><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 Id="rId22"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2.jpe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jpe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tags" Target="../tags/tag58.xml"/><Relationship Id="rId18" Type="http://schemas.openxmlformats.org/officeDocument/2006/relationships/tags" Target="../tags/tag63.xml"/><Relationship Id="rId26" Type="http://schemas.openxmlformats.org/officeDocument/2006/relationships/image" Target="../media/image20.png"/><Relationship Id="rId3" Type="http://schemas.openxmlformats.org/officeDocument/2006/relationships/tags" Target="../tags/tag48.xml"/><Relationship Id="rId21" Type="http://schemas.openxmlformats.org/officeDocument/2006/relationships/slideLayout" Target="../slideLayouts/slideLayout15.xml"/><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5" Type="http://schemas.openxmlformats.org/officeDocument/2006/relationships/image" Target="../media/image19.svg"/><Relationship Id="rId2" Type="http://schemas.openxmlformats.org/officeDocument/2006/relationships/tags" Target="../tags/tag47.xml"/><Relationship Id="rId16" Type="http://schemas.openxmlformats.org/officeDocument/2006/relationships/tags" Target="../tags/tag61.xml"/><Relationship Id="rId20" Type="http://schemas.openxmlformats.org/officeDocument/2006/relationships/tags" Target="../tags/tag65.xml"/><Relationship Id="rId29" Type="http://schemas.openxmlformats.org/officeDocument/2006/relationships/image" Target="../media/image23.svg"/><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24" Type="http://schemas.openxmlformats.org/officeDocument/2006/relationships/image" Target="../media/image18.png"/><Relationship Id="rId32" Type="http://schemas.openxmlformats.org/officeDocument/2006/relationships/image" Target="../media/image26.jpeg"/><Relationship Id="rId5" Type="http://schemas.openxmlformats.org/officeDocument/2006/relationships/tags" Target="../tags/tag50.xml"/><Relationship Id="rId15" Type="http://schemas.openxmlformats.org/officeDocument/2006/relationships/tags" Target="../tags/tag60.xml"/><Relationship Id="rId23" Type="http://schemas.openxmlformats.org/officeDocument/2006/relationships/image" Target="../media/image3.jpeg"/><Relationship Id="rId28" Type="http://schemas.openxmlformats.org/officeDocument/2006/relationships/image" Target="../media/image22.png"/><Relationship Id="rId10" Type="http://schemas.openxmlformats.org/officeDocument/2006/relationships/tags" Target="../tags/tag55.xml"/><Relationship Id="rId19" Type="http://schemas.openxmlformats.org/officeDocument/2006/relationships/tags" Target="../tags/tag64.xml"/><Relationship Id="rId31" Type="http://schemas.openxmlformats.org/officeDocument/2006/relationships/image" Target="../media/image25.svg"/><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 Id="rId22" Type="http://schemas.openxmlformats.org/officeDocument/2006/relationships/notesSlide" Target="../notesSlides/notesSlide7.xml"/><Relationship Id="rId27" Type="http://schemas.openxmlformats.org/officeDocument/2006/relationships/image" Target="../media/image21.svg"/><Relationship Id="rId30"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3" Type="http://schemas.openxmlformats.org/officeDocument/2006/relationships/tags" Target="../tags/tag78.xml"/><Relationship Id="rId18" Type="http://schemas.openxmlformats.org/officeDocument/2006/relationships/tags" Target="../tags/tag83.xml"/><Relationship Id="rId26" Type="http://schemas.openxmlformats.org/officeDocument/2006/relationships/image" Target="../media/image2.jpeg"/><Relationship Id="rId3" Type="http://schemas.openxmlformats.org/officeDocument/2006/relationships/tags" Target="../tags/tag68.xml"/><Relationship Id="rId21" Type="http://schemas.openxmlformats.org/officeDocument/2006/relationships/tags" Target="../tags/tag86.xml"/><Relationship Id="rId34" Type="http://schemas.openxmlformats.org/officeDocument/2006/relationships/image" Target="../media/image32.svg"/><Relationship Id="rId7" Type="http://schemas.openxmlformats.org/officeDocument/2006/relationships/tags" Target="../tags/tag72.xml"/><Relationship Id="rId12" Type="http://schemas.openxmlformats.org/officeDocument/2006/relationships/tags" Target="../tags/tag77.xml"/><Relationship Id="rId17" Type="http://schemas.openxmlformats.org/officeDocument/2006/relationships/tags" Target="../tags/tag82.xml"/><Relationship Id="rId25" Type="http://schemas.openxmlformats.org/officeDocument/2006/relationships/notesSlide" Target="../notesSlides/notesSlide9.xml"/><Relationship Id="rId33" Type="http://schemas.openxmlformats.org/officeDocument/2006/relationships/image" Target="../media/image31.png"/><Relationship Id="rId2" Type="http://schemas.openxmlformats.org/officeDocument/2006/relationships/tags" Target="../tags/tag67.xml"/><Relationship Id="rId16" Type="http://schemas.openxmlformats.org/officeDocument/2006/relationships/tags" Target="../tags/tag81.xml"/><Relationship Id="rId20" Type="http://schemas.openxmlformats.org/officeDocument/2006/relationships/tags" Target="../tags/tag85.xml"/><Relationship Id="rId29" Type="http://schemas.openxmlformats.org/officeDocument/2006/relationships/image" Target="../media/image29.png"/><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tags" Target="../tags/tag76.xml"/><Relationship Id="rId24" Type="http://schemas.openxmlformats.org/officeDocument/2006/relationships/slideLayout" Target="../slideLayouts/slideLayout12.xml"/><Relationship Id="rId32" Type="http://schemas.openxmlformats.org/officeDocument/2006/relationships/image" Target="../media/image6.svg"/><Relationship Id="rId5" Type="http://schemas.openxmlformats.org/officeDocument/2006/relationships/tags" Target="../tags/tag70.xml"/><Relationship Id="rId15" Type="http://schemas.openxmlformats.org/officeDocument/2006/relationships/tags" Target="../tags/tag80.xml"/><Relationship Id="rId23" Type="http://schemas.openxmlformats.org/officeDocument/2006/relationships/tags" Target="../tags/tag88.xml"/><Relationship Id="rId28" Type="http://schemas.openxmlformats.org/officeDocument/2006/relationships/image" Target="../media/image28.svg"/><Relationship Id="rId36" Type="http://schemas.openxmlformats.org/officeDocument/2006/relationships/image" Target="../media/image10.svg"/><Relationship Id="rId10" Type="http://schemas.openxmlformats.org/officeDocument/2006/relationships/tags" Target="../tags/tag75.xml"/><Relationship Id="rId19" Type="http://schemas.openxmlformats.org/officeDocument/2006/relationships/tags" Target="../tags/tag84.xml"/><Relationship Id="rId31" Type="http://schemas.openxmlformats.org/officeDocument/2006/relationships/image" Target="../media/image5.png"/><Relationship Id="rId4" Type="http://schemas.openxmlformats.org/officeDocument/2006/relationships/tags" Target="../tags/tag69.xml"/><Relationship Id="rId9" Type="http://schemas.openxmlformats.org/officeDocument/2006/relationships/tags" Target="../tags/tag74.xml"/><Relationship Id="rId14" Type="http://schemas.openxmlformats.org/officeDocument/2006/relationships/tags" Target="../tags/tag79.xml"/><Relationship Id="rId22" Type="http://schemas.openxmlformats.org/officeDocument/2006/relationships/tags" Target="../tags/tag87.xml"/><Relationship Id="rId27" Type="http://schemas.openxmlformats.org/officeDocument/2006/relationships/image" Target="../media/image27.png"/><Relationship Id="rId30" Type="http://schemas.openxmlformats.org/officeDocument/2006/relationships/image" Target="../media/image30.svg"/><Relationship Id="rId35" Type="http://schemas.openxmlformats.org/officeDocument/2006/relationships/image" Target="../media/image9.png"/><Relationship Id="rId8" Type="http://schemas.openxmlformats.org/officeDocument/2006/relationships/tags" Target="../tags/tag73.xml"/></Relationships>
</file>

<file path=ppt/slides/_rels/slide10.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tags" Target="../tags/tag101.xml"/><Relationship Id="rId18" Type="http://schemas.openxmlformats.org/officeDocument/2006/relationships/image" Target="../media/image2.jpeg"/><Relationship Id="rId3" Type="http://schemas.openxmlformats.org/officeDocument/2006/relationships/tags" Target="../tags/tag91.xml"/><Relationship Id="rId21" Type="http://schemas.openxmlformats.org/officeDocument/2006/relationships/image" Target="../media/image35.png"/><Relationship Id="rId7" Type="http://schemas.openxmlformats.org/officeDocument/2006/relationships/tags" Target="../tags/tag95.xml"/><Relationship Id="rId12" Type="http://schemas.openxmlformats.org/officeDocument/2006/relationships/tags" Target="../tags/tag100.xml"/><Relationship Id="rId17" Type="http://schemas.openxmlformats.org/officeDocument/2006/relationships/notesSlide" Target="../notesSlides/notesSlide10.xml"/><Relationship Id="rId25" Type="http://schemas.openxmlformats.org/officeDocument/2006/relationships/image" Target="../media/image39.png"/><Relationship Id="rId2" Type="http://schemas.openxmlformats.org/officeDocument/2006/relationships/tags" Target="../tags/tag90.xml"/><Relationship Id="rId16" Type="http://schemas.openxmlformats.org/officeDocument/2006/relationships/slideLayout" Target="../slideLayouts/slideLayout12.xml"/><Relationship Id="rId20" Type="http://schemas.openxmlformats.org/officeDocument/2006/relationships/image" Target="../media/image34.svg"/><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tags" Target="../tags/tag99.xml"/><Relationship Id="rId24" Type="http://schemas.openxmlformats.org/officeDocument/2006/relationships/image" Target="../media/image38.svg"/><Relationship Id="rId5" Type="http://schemas.openxmlformats.org/officeDocument/2006/relationships/tags" Target="../tags/tag93.xml"/><Relationship Id="rId15" Type="http://schemas.openxmlformats.org/officeDocument/2006/relationships/tags" Target="../tags/tag103.xml"/><Relationship Id="rId23" Type="http://schemas.openxmlformats.org/officeDocument/2006/relationships/image" Target="../media/image37.png"/><Relationship Id="rId10" Type="http://schemas.openxmlformats.org/officeDocument/2006/relationships/tags" Target="../tags/tag98.xml"/><Relationship Id="rId19" Type="http://schemas.openxmlformats.org/officeDocument/2006/relationships/image" Target="../media/image33.png"/><Relationship Id="rId4" Type="http://schemas.openxmlformats.org/officeDocument/2006/relationships/tags" Target="../tags/tag92.xml"/><Relationship Id="rId9" Type="http://schemas.openxmlformats.org/officeDocument/2006/relationships/tags" Target="../tags/tag97.xml"/><Relationship Id="rId14" Type="http://schemas.openxmlformats.org/officeDocument/2006/relationships/tags" Target="../tags/tag102.xml"/><Relationship Id="rId22" Type="http://schemas.openxmlformats.org/officeDocument/2006/relationships/image" Target="../media/image36.svg"/></Relationships>
</file>

<file path=ppt/slides/_rels/slide11.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tags" Target="../tags/tag116.xml"/><Relationship Id="rId18" Type="http://schemas.openxmlformats.org/officeDocument/2006/relationships/tags" Target="../tags/tag121.xml"/><Relationship Id="rId26" Type="http://schemas.openxmlformats.org/officeDocument/2006/relationships/image" Target="../media/image27.png"/><Relationship Id="rId3" Type="http://schemas.openxmlformats.org/officeDocument/2006/relationships/tags" Target="../tags/tag106.xml"/><Relationship Id="rId21" Type="http://schemas.openxmlformats.org/officeDocument/2006/relationships/image" Target="../media/image2.jpeg"/><Relationship Id="rId7" Type="http://schemas.openxmlformats.org/officeDocument/2006/relationships/tags" Target="../tags/tag110.xml"/><Relationship Id="rId12" Type="http://schemas.openxmlformats.org/officeDocument/2006/relationships/tags" Target="../tags/tag115.xml"/><Relationship Id="rId17" Type="http://schemas.openxmlformats.org/officeDocument/2006/relationships/tags" Target="../tags/tag120.xml"/><Relationship Id="rId25" Type="http://schemas.openxmlformats.org/officeDocument/2006/relationships/image" Target="../media/image41.svg"/><Relationship Id="rId2" Type="http://schemas.openxmlformats.org/officeDocument/2006/relationships/tags" Target="../tags/tag105.xml"/><Relationship Id="rId16" Type="http://schemas.openxmlformats.org/officeDocument/2006/relationships/tags" Target="../tags/tag119.xml"/><Relationship Id="rId20" Type="http://schemas.openxmlformats.org/officeDocument/2006/relationships/notesSlide" Target="../notesSlides/notesSlide11.xml"/><Relationship Id="rId29" Type="http://schemas.openxmlformats.org/officeDocument/2006/relationships/image" Target="../media/image6.svg"/><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24" Type="http://schemas.openxmlformats.org/officeDocument/2006/relationships/image" Target="../media/image40.png"/><Relationship Id="rId5" Type="http://schemas.openxmlformats.org/officeDocument/2006/relationships/tags" Target="../tags/tag108.xml"/><Relationship Id="rId15" Type="http://schemas.openxmlformats.org/officeDocument/2006/relationships/tags" Target="../tags/tag118.xml"/><Relationship Id="rId23" Type="http://schemas.openxmlformats.org/officeDocument/2006/relationships/image" Target="../media/image30.svg"/><Relationship Id="rId28" Type="http://schemas.openxmlformats.org/officeDocument/2006/relationships/image" Target="../media/image5.png"/><Relationship Id="rId10" Type="http://schemas.openxmlformats.org/officeDocument/2006/relationships/tags" Target="../tags/tag113.xml"/><Relationship Id="rId19" Type="http://schemas.openxmlformats.org/officeDocument/2006/relationships/slideLayout" Target="../slideLayouts/slideLayout12.xml"/><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tags" Target="../tags/tag117.xml"/><Relationship Id="rId22" Type="http://schemas.openxmlformats.org/officeDocument/2006/relationships/image" Target="../media/image29.png"/><Relationship Id="rId27" Type="http://schemas.openxmlformats.org/officeDocument/2006/relationships/image" Target="../media/image28.svg"/><Relationship Id="rId30" Type="http://schemas.openxmlformats.org/officeDocument/2006/relationships/image" Target="../media/image42.png"/></Relationships>
</file>

<file path=ppt/slides/_rels/slide12.xml.rels><?xml version="1.0" encoding="UTF-8" standalone="yes"?>
<Relationships xmlns="http://schemas.openxmlformats.org/package/2006/relationships"><Relationship Id="rId13" Type="http://schemas.openxmlformats.org/officeDocument/2006/relationships/tags" Target="../tags/tag134.xml"/><Relationship Id="rId18" Type="http://schemas.openxmlformats.org/officeDocument/2006/relationships/tags" Target="../tags/tag139.xml"/><Relationship Id="rId26" Type="http://schemas.openxmlformats.org/officeDocument/2006/relationships/image" Target="../media/image44.svg"/><Relationship Id="rId3" Type="http://schemas.openxmlformats.org/officeDocument/2006/relationships/tags" Target="../tags/tag124.xml"/><Relationship Id="rId21" Type="http://schemas.openxmlformats.org/officeDocument/2006/relationships/notesSlide" Target="../notesSlides/notesSlide12.xml"/><Relationship Id="rId34" Type="http://schemas.openxmlformats.org/officeDocument/2006/relationships/image" Target="../media/image52.png"/><Relationship Id="rId7" Type="http://schemas.openxmlformats.org/officeDocument/2006/relationships/tags" Target="../tags/tag128.xml"/><Relationship Id="rId12" Type="http://schemas.openxmlformats.org/officeDocument/2006/relationships/tags" Target="../tags/tag133.xml"/><Relationship Id="rId17" Type="http://schemas.openxmlformats.org/officeDocument/2006/relationships/tags" Target="../tags/tag138.xml"/><Relationship Id="rId25" Type="http://schemas.openxmlformats.org/officeDocument/2006/relationships/image" Target="../media/image43.png"/><Relationship Id="rId33" Type="http://schemas.openxmlformats.org/officeDocument/2006/relationships/image" Target="../media/image51.png"/><Relationship Id="rId2" Type="http://schemas.openxmlformats.org/officeDocument/2006/relationships/tags" Target="../tags/tag123.xml"/><Relationship Id="rId16" Type="http://schemas.openxmlformats.org/officeDocument/2006/relationships/tags" Target="../tags/tag137.xml"/><Relationship Id="rId20" Type="http://schemas.openxmlformats.org/officeDocument/2006/relationships/slideLayout" Target="../slideLayouts/slideLayout12.xml"/><Relationship Id="rId29" Type="http://schemas.openxmlformats.org/officeDocument/2006/relationships/image" Target="../media/image47.png"/><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24" Type="http://schemas.openxmlformats.org/officeDocument/2006/relationships/image" Target="../media/image6.svg"/><Relationship Id="rId32" Type="http://schemas.openxmlformats.org/officeDocument/2006/relationships/image" Target="../media/image50.svg"/><Relationship Id="rId5" Type="http://schemas.openxmlformats.org/officeDocument/2006/relationships/tags" Target="../tags/tag126.xml"/><Relationship Id="rId15" Type="http://schemas.openxmlformats.org/officeDocument/2006/relationships/tags" Target="../tags/tag136.xml"/><Relationship Id="rId23" Type="http://schemas.openxmlformats.org/officeDocument/2006/relationships/image" Target="../media/image5.png"/><Relationship Id="rId28" Type="http://schemas.openxmlformats.org/officeDocument/2006/relationships/image" Target="../media/image46.svg"/><Relationship Id="rId36" Type="http://schemas.openxmlformats.org/officeDocument/2006/relationships/image" Target="../media/image54.png"/><Relationship Id="rId10" Type="http://schemas.openxmlformats.org/officeDocument/2006/relationships/tags" Target="../tags/tag131.xml"/><Relationship Id="rId19" Type="http://schemas.openxmlformats.org/officeDocument/2006/relationships/tags" Target="../tags/tag140.xml"/><Relationship Id="rId31" Type="http://schemas.openxmlformats.org/officeDocument/2006/relationships/image" Target="../media/image49.png"/><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tags" Target="../tags/tag135.xml"/><Relationship Id="rId22" Type="http://schemas.openxmlformats.org/officeDocument/2006/relationships/image" Target="../media/image2.jpeg"/><Relationship Id="rId27" Type="http://schemas.openxmlformats.org/officeDocument/2006/relationships/image" Target="../media/image45.png"/><Relationship Id="rId30" Type="http://schemas.openxmlformats.org/officeDocument/2006/relationships/image" Target="../media/image48.svg"/><Relationship Id="rId35" Type="http://schemas.openxmlformats.org/officeDocument/2006/relationships/image" Target="../media/image53.png"/><Relationship Id="rId8" Type="http://schemas.openxmlformats.org/officeDocument/2006/relationships/tags" Target="../tags/tag129.xml"/></Relationships>
</file>

<file path=ppt/slides/_rels/slide13.xml.rels><?xml version="1.0" encoding="UTF-8" standalone="yes"?>
<Relationships xmlns="http://schemas.openxmlformats.org/package/2006/relationships"><Relationship Id="rId8" Type="http://schemas.openxmlformats.org/officeDocument/2006/relationships/tags" Target="../tags/tag148.xml"/><Relationship Id="rId13" Type="http://schemas.openxmlformats.org/officeDocument/2006/relationships/tags" Target="../tags/tag153.xml"/><Relationship Id="rId18" Type="http://schemas.openxmlformats.org/officeDocument/2006/relationships/tags" Target="../tags/tag158.xml"/><Relationship Id="rId26" Type="http://schemas.openxmlformats.org/officeDocument/2006/relationships/image" Target="../media/image57.png"/><Relationship Id="rId3" Type="http://schemas.openxmlformats.org/officeDocument/2006/relationships/tags" Target="../tags/tag143.xml"/><Relationship Id="rId21" Type="http://schemas.openxmlformats.org/officeDocument/2006/relationships/image" Target="../media/image2.jpeg"/><Relationship Id="rId7" Type="http://schemas.openxmlformats.org/officeDocument/2006/relationships/tags" Target="../tags/tag147.xml"/><Relationship Id="rId12" Type="http://schemas.openxmlformats.org/officeDocument/2006/relationships/tags" Target="../tags/tag152.xml"/><Relationship Id="rId17" Type="http://schemas.openxmlformats.org/officeDocument/2006/relationships/tags" Target="../tags/tag157.xml"/><Relationship Id="rId25" Type="http://schemas.openxmlformats.org/officeDocument/2006/relationships/image" Target="../media/image56.svg"/><Relationship Id="rId2" Type="http://schemas.openxmlformats.org/officeDocument/2006/relationships/tags" Target="../tags/tag142.xml"/><Relationship Id="rId16" Type="http://schemas.openxmlformats.org/officeDocument/2006/relationships/tags" Target="../tags/tag156.xml"/><Relationship Id="rId20" Type="http://schemas.openxmlformats.org/officeDocument/2006/relationships/notesSlide" Target="../notesSlides/notesSlide13.xml"/><Relationship Id="rId29" Type="http://schemas.openxmlformats.org/officeDocument/2006/relationships/image" Target="../media/image60.svg"/><Relationship Id="rId1" Type="http://schemas.openxmlformats.org/officeDocument/2006/relationships/tags" Target="../tags/tag141.xml"/><Relationship Id="rId6" Type="http://schemas.openxmlformats.org/officeDocument/2006/relationships/tags" Target="../tags/tag146.xml"/><Relationship Id="rId11" Type="http://schemas.openxmlformats.org/officeDocument/2006/relationships/tags" Target="../tags/tag151.xml"/><Relationship Id="rId24" Type="http://schemas.openxmlformats.org/officeDocument/2006/relationships/image" Target="../media/image55.png"/><Relationship Id="rId5" Type="http://schemas.openxmlformats.org/officeDocument/2006/relationships/tags" Target="../tags/tag145.xml"/><Relationship Id="rId15" Type="http://schemas.openxmlformats.org/officeDocument/2006/relationships/tags" Target="../tags/tag155.xml"/><Relationship Id="rId23" Type="http://schemas.openxmlformats.org/officeDocument/2006/relationships/image" Target="../media/image32.svg"/><Relationship Id="rId28" Type="http://schemas.openxmlformats.org/officeDocument/2006/relationships/image" Target="../media/image59.png"/><Relationship Id="rId10" Type="http://schemas.openxmlformats.org/officeDocument/2006/relationships/tags" Target="../tags/tag150.xml"/><Relationship Id="rId19" Type="http://schemas.openxmlformats.org/officeDocument/2006/relationships/slideLayout" Target="../slideLayouts/slideLayout12.xml"/><Relationship Id="rId4" Type="http://schemas.openxmlformats.org/officeDocument/2006/relationships/tags" Target="../tags/tag144.xml"/><Relationship Id="rId9" Type="http://schemas.openxmlformats.org/officeDocument/2006/relationships/tags" Target="../tags/tag149.xml"/><Relationship Id="rId14" Type="http://schemas.openxmlformats.org/officeDocument/2006/relationships/tags" Target="../tags/tag154.xml"/><Relationship Id="rId22" Type="http://schemas.openxmlformats.org/officeDocument/2006/relationships/image" Target="../media/image31.png"/><Relationship Id="rId27" Type="http://schemas.openxmlformats.org/officeDocument/2006/relationships/image" Target="../media/image58.svg"/><Relationship Id="rId30" Type="http://schemas.openxmlformats.org/officeDocument/2006/relationships/image" Target="../media/image61.png"/></Relationships>
</file>

<file path=ppt/slides/_rels/slide14.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18" Type="http://schemas.openxmlformats.org/officeDocument/2006/relationships/tags" Target="../tags/tag176.xml"/><Relationship Id="rId26" Type="http://schemas.openxmlformats.org/officeDocument/2006/relationships/image" Target="../media/image63.svg"/><Relationship Id="rId3" Type="http://schemas.openxmlformats.org/officeDocument/2006/relationships/tags" Target="../tags/tag161.xml"/><Relationship Id="rId21" Type="http://schemas.openxmlformats.org/officeDocument/2006/relationships/tags" Target="../tags/tag179.xml"/><Relationship Id="rId7" Type="http://schemas.openxmlformats.org/officeDocument/2006/relationships/tags" Target="../tags/tag165.xml"/><Relationship Id="rId12" Type="http://schemas.openxmlformats.org/officeDocument/2006/relationships/tags" Target="../tags/tag170.xml"/><Relationship Id="rId17" Type="http://schemas.openxmlformats.org/officeDocument/2006/relationships/tags" Target="../tags/tag175.xml"/><Relationship Id="rId25" Type="http://schemas.openxmlformats.org/officeDocument/2006/relationships/image" Target="../media/image62.png"/><Relationship Id="rId2" Type="http://schemas.openxmlformats.org/officeDocument/2006/relationships/tags" Target="../tags/tag160.xml"/><Relationship Id="rId16" Type="http://schemas.openxmlformats.org/officeDocument/2006/relationships/tags" Target="../tags/tag174.xml"/><Relationship Id="rId20" Type="http://schemas.openxmlformats.org/officeDocument/2006/relationships/tags" Target="../tags/tag178.xml"/><Relationship Id="rId29" Type="http://schemas.openxmlformats.org/officeDocument/2006/relationships/image" Target="../media/image27.png"/><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24" Type="http://schemas.openxmlformats.org/officeDocument/2006/relationships/image" Target="../media/image2.jpeg"/><Relationship Id="rId5" Type="http://schemas.openxmlformats.org/officeDocument/2006/relationships/tags" Target="../tags/tag163.xml"/><Relationship Id="rId15" Type="http://schemas.openxmlformats.org/officeDocument/2006/relationships/tags" Target="../tags/tag173.xml"/><Relationship Id="rId23" Type="http://schemas.openxmlformats.org/officeDocument/2006/relationships/notesSlide" Target="../notesSlides/notesSlide14.xml"/><Relationship Id="rId28" Type="http://schemas.openxmlformats.org/officeDocument/2006/relationships/image" Target="../media/image6.svg"/><Relationship Id="rId10" Type="http://schemas.openxmlformats.org/officeDocument/2006/relationships/tags" Target="../tags/tag168.xml"/><Relationship Id="rId19" Type="http://schemas.openxmlformats.org/officeDocument/2006/relationships/tags" Target="../tags/tag177.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tags" Target="../tags/tag172.xml"/><Relationship Id="rId22" Type="http://schemas.openxmlformats.org/officeDocument/2006/relationships/slideLayout" Target="../slideLayouts/slideLayout12.xml"/><Relationship Id="rId27" Type="http://schemas.openxmlformats.org/officeDocument/2006/relationships/image" Target="../media/image5.png"/><Relationship Id="rId30" Type="http://schemas.openxmlformats.org/officeDocument/2006/relationships/image" Target="../media/image28.sv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3" Type="http://schemas.openxmlformats.org/officeDocument/2006/relationships/tags" Target="../tags/tag192.xml"/><Relationship Id="rId18" Type="http://schemas.openxmlformats.org/officeDocument/2006/relationships/tags" Target="../tags/tag197.xml"/><Relationship Id="rId26" Type="http://schemas.openxmlformats.org/officeDocument/2006/relationships/notesSlide" Target="../notesSlides/notesSlide16.xml"/><Relationship Id="rId3" Type="http://schemas.openxmlformats.org/officeDocument/2006/relationships/tags" Target="../tags/tag182.xml"/><Relationship Id="rId21" Type="http://schemas.openxmlformats.org/officeDocument/2006/relationships/tags" Target="../tags/tag200.xml"/><Relationship Id="rId34" Type="http://schemas.openxmlformats.org/officeDocument/2006/relationships/image" Target="../media/image70.png"/><Relationship Id="rId7" Type="http://schemas.openxmlformats.org/officeDocument/2006/relationships/tags" Target="../tags/tag186.xml"/><Relationship Id="rId12" Type="http://schemas.openxmlformats.org/officeDocument/2006/relationships/tags" Target="../tags/tag191.xml"/><Relationship Id="rId17" Type="http://schemas.openxmlformats.org/officeDocument/2006/relationships/tags" Target="../tags/tag196.xml"/><Relationship Id="rId25" Type="http://schemas.openxmlformats.org/officeDocument/2006/relationships/slideLayout" Target="../slideLayouts/slideLayout18.xml"/><Relationship Id="rId33" Type="http://schemas.openxmlformats.org/officeDocument/2006/relationships/image" Target="../media/image69.svg"/><Relationship Id="rId2" Type="http://schemas.openxmlformats.org/officeDocument/2006/relationships/tags" Target="../tags/tag181.xml"/><Relationship Id="rId16" Type="http://schemas.openxmlformats.org/officeDocument/2006/relationships/tags" Target="../tags/tag195.xml"/><Relationship Id="rId20" Type="http://schemas.openxmlformats.org/officeDocument/2006/relationships/tags" Target="../tags/tag199.xml"/><Relationship Id="rId29" Type="http://schemas.openxmlformats.org/officeDocument/2006/relationships/image" Target="../media/image65.svg"/><Relationship Id="rId1" Type="http://schemas.openxmlformats.org/officeDocument/2006/relationships/tags" Target="../tags/tag180.xml"/><Relationship Id="rId6" Type="http://schemas.openxmlformats.org/officeDocument/2006/relationships/tags" Target="../tags/tag185.xml"/><Relationship Id="rId11" Type="http://schemas.openxmlformats.org/officeDocument/2006/relationships/tags" Target="../tags/tag190.xml"/><Relationship Id="rId24" Type="http://schemas.openxmlformats.org/officeDocument/2006/relationships/tags" Target="../tags/tag203.xml"/><Relationship Id="rId32" Type="http://schemas.openxmlformats.org/officeDocument/2006/relationships/image" Target="../media/image68.png"/><Relationship Id="rId5" Type="http://schemas.openxmlformats.org/officeDocument/2006/relationships/tags" Target="../tags/tag184.xml"/><Relationship Id="rId15" Type="http://schemas.openxmlformats.org/officeDocument/2006/relationships/tags" Target="../tags/tag194.xml"/><Relationship Id="rId23" Type="http://schemas.openxmlformats.org/officeDocument/2006/relationships/tags" Target="../tags/tag202.xml"/><Relationship Id="rId28" Type="http://schemas.openxmlformats.org/officeDocument/2006/relationships/image" Target="../media/image64.png"/><Relationship Id="rId10" Type="http://schemas.openxmlformats.org/officeDocument/2006/relationships/tags" Target="../tags/tag189.xml"/><Relationship Id="rId19" Type="http://schemas.openxmlformats.org/officeDocument/2006/relationships/tags" Target="../tags/tag198.xml"/><Relationship Id="rId31" Type="http://schemas.openxmlformats.org/officeDocument/2006/relationships/image" Target="../media/image67.svg"/><Relationship Id="rId4" Type="http://schemas.openxmlformats.org/officeDocument/2006/relationships/tags" Target="../tags/tag183.xml"/><Relationship Id="rId9" Type="http://schemas.openxmlformats.org/officeDocument/2006/relationships/tags" Target="../tags/tag188.xml"/><Relationship Id="rId14" Type="http://schemas.openxmlformats.org/officeDocument/2006/relationships/tags" Target="../tags/tag193.xml"/><Relationship Id="rId22" Type="http://schemas.openxmlformats.org/officeDocument/2006/relationships/tags" Target="../tags/tag201.xml"/><Relationship Id="rId27" Type="http://schemas.openxmlformats.org/officeDocument/2006/relationships/image" Target="../media/image3.jpeg"/><Relationship Id="rId30" Type="http://schemas.openxmlformats.org/officeDocument/2006/relationships/image" Target="../media/image66.png"/><Relationship Id="rId35" Type="http://schemas.openxmlformats.org/officeDocument/2006/relationships/image" Target="../media/image71.svg"/><Relationship Id="rId8" Type="http://schemas.openxmlformats.org/officeDocument/2006/relationships/tags" Target="../tags/tag187.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8" Type="http://schemas.openxmlformats.org/officeDocument/2006/relationships/tags" Target="../tags/tag211.xml"/><Relationship Id="rId13" Type="http://schemas.openxmlformats.org/officeDocument/2006/relationships/tags" Target="../tags/tag216.xml"/><Relationship Id="rId18" Type="http://schemas.openxmlformats.org/officeDocument/2006/relationships/notesSlide" Target="../notesSlides/notesSlide18.xml"/><Relationship Id="rId26" Type="http://schemas.openxmlformats.org/officeDocument/2006/relationships/image" Target="../media/image74.png"/><Relationship Id="rId3" Type="http://schemas.openxmlformats.org/officeDocument/2006/relationships/tags" Target="../tags/tag206.xml"/><Relationship Id="rId21" Type="http://schemas.openxmlformats.org/officeDocument/2006/relationships/image" Target="../media/image10.svg"/><Relationship Id="rId7" Type="http://schemas.openxmlformats.org/officeDocument/2006/relationships/tags" Target="../tags/tag210.xml"/><Relationship Id="rId12" Type="http://schemas.openxmlformats.org/officeDocument/2006/relationships/tags" Target="../tags/tag215.xml"/><Relationship Id="rId17" Type="http://schemas.openxmlformats.org/officeDocument/2006/relationships/slideLayout" Target="../slideLayouts/slideLayout12.xml"/><Relationship Id="rId25" Type="http://schemas.openxmlformats.org/officeDocument/2006/relationships/image" Target="../media/image48.svg"/><Relationship Id="rId2" Type="http://schemas.openxmlformats.org/officeDocument/2006/relationships/tags" Target="../tags/tag205.xml"/><Relationship Id="rId16" Type="http://schemas.openxmlformats.org/officeDocument/2006/relationships/tags" Target="../tags/tag219.xml"/><Relationship Id="rId20" Type="http://schemas.openxmlformats.org/officeDocument/2006/relationships/image" Target="../media/image9.png"/><Relationship Id="rId1" Type="http://schemas.openxmlformats.org/officeDocument/2006/relationships/tags" Target="../tags/tag204.xml"/><Relationship Id="rId6" Type="http://schemas.openxmlformats.org/officeDocument/2006/relationships/tags" Target="../tags/tag209.xml"/><Relationship Id="rId11" Type="http://schemas.openxmlformats.org/officeDocument/2006/relationships/tags" Target="../tags/tag214.xml"/><Relationship Id="rId24" Type="http://schemas.openxmlformats.org/officeDocument/2006/relationships/image" Target="../media/image47.png"/><Relationship Id="rId5" Type="http://schemas.openxmlformats.org/officeDocument/2006/relationships/tags" Target="../tags/tag208.xml"/><Relationship Id="rId15" Type="http://schemas.openxmlformats.org/officeDocument/2006/relationships/tags" Target="../tags/tag218.xml"/><Relationship Id="rId23" Type="http://schemas.openxmlformats.org/officeDocument/2006/relationships/image" Target="../media/image73.svg"/><Relationship Id="rId28" Type="http://schemas.openxmlformats.org/officeDocument/2006/relationships/image" Target="../media/image76.png"/><Relationship Id="rId10" Type="http://schemas.openxmlformats.org/officeDocument/2006/relationships/tags" Target="../tags/tag213.xml"/><Relationship Id="rId19" Type="http://schemas.openxmlformats.org/officeDocument/2006/relationships/image" Target="../media/image2.jpeg"/><Relationship Id="rId4" Type="http://schemas.openxmlformats.org/officeDocument/2006/relationships/tags" Target="../tags/tag207.xml"/><Relationship Id="rId9" Type="http://schemas.openxmlformats.org/officeDocument/2006/relationships/tags" Target="../tags/tag212.xml"/><Relationship Id="rId14" Type="http://schemas.openxmlformats.org/officeDocument/2006/relationships/tags" Target="../tags/tag217.xml"/><Relationship Id="rId22" Type="http://schemas.openxmlformats.org/officeDocument/2006/relationships/image" Target="../media/image72.png"/><Relationship Id="rId27" Type="http://schemas.openxmlformats.org/officeDocument/2006/relationships/image" Target="../media/image75.sv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8" Type="http://schemas.openxmlformats.org/officeDocument/2006/relationships/tags" Target="../tags/tag227.xml"/><Relationship Id="rId13" Type="http://schemas.openxmlformats.org/officeDocument/2006/relationships/tags" Target="../tags/tag232.xml"/><Relationship Id="rId18" Type="http://schemas.openxmlformats.org/officeDocument/2006/relationships/tags" Target="../tags/tag237.xml"/><Relationship Id="rId26" Type="http://schemas.openxmlformats.org/officeDocument/2006/relationships/image" Target="../media/image81.svg"/><Relationship Id="rId3" Type="http://schemas.openxmlformats.org/officeDocument/2006/relationships/tags" Target="../tags/tag222.xml"/><Relationship Id="rId21" Type="http://schemas.openxmlformats.org/officeDocument/2006/relationships/image" Target="../media/image3.jpeg"/><Relationship Id="rId7" Type="http://schemas.openxmlformats.org/officeDocument/2006/relationships/tags" Target="../tags/tag226.xml"/><Relationship Id="rId12" Type="http://schemas.openxmlformats.org/officeDocument/2006/relationships/tags" Target="../tags/tag231.xml"/><Relationship Id="rId17" Type="http://schemas.openxmlformats.org/officeDocument/2006/relationships/tags" Target="../tags/tag236.xml"/><Relationship Id="rId25" Type="http://schemas.openxmlformats.org/officeDocument/2006/relationships/image" Target="../media/image80.png"/><Relationship Id="rId2" Type="http://schemas.openxmlformats.org/officeDocument/2006/relationships/tags" Target="../tags/tag221.xml"/><Relationship Id="rId16" Type="http://schemas.openxmlformats.org/officeDocument/2006/relationships/tags" Target="../tags/tag235.xml"/><Relationship Id="rId20" Type="http://schemas.openxmlformats.org/officeDocument/2006/relationships/notesSlide" Target="../notesSlides/notesSlide20.xml"/><Relationship Id="rId1" Type="http://schemas.openxmlformats.org/officeDocument/2006/relationships/tags" Target="../tags/tag220.xml"/><Relationship Id="rId6" Type="http://schemas.openxmlformats.org/officeDocument/2006/relationships/tags" Target="../tags/tag225.xml"/><Relationship Id="rId11" Type="http://schemas.openxmlformats.org/officeDocument/2006/relationships/tags" Target="../tags/tag230.xml"/><Relationship Id="rId24" Type="http://schemas.openxmlformats.org/officeDocument/2006/relationships/image" Target="../media/image79.png"/><Relationship Id="rId5" Type="http://schemas.openxmlformats.org/officeDocument/2006/relationships/tags" Target="../tags/tag224.xml"/><Relationship Id="rId15" Type="http://schemas.openxmlformats.org/officeDocument/2006/relationships/tags" Target="../tags/tag234.xml"/><Relationship Id="rId23" Type="http://schemas.openxmlformats.org/officeDocument/2006/relationships/image" Target="../media/image78.svg"/><Relationship Id="rId28" Type="http://schemas.openxmlformats.org/officeDocument/2006/relationships/image" Target="../media/image83.svg"/><Relationship Id="rId10" Type="http://schemas.openxmlformats.org/officeDocument/2006/relationships/tags" Target="../tags/tag229.xml"/><Relationship Id="rId19" Type="http://schemas.openxmlformats.org/officeDocument/2006/relationships/slideLayout" Target="../slideLayouts/slideLayout12.xml"/><Relationship Id="rId4" Type="http://schemas.openxmlformats.org/officeDocument/2006/relationships/tags" Target="../tags/tag223.xml"/><Relationship Id="rId9" Type="http://schemas.openxmlformats.org/officeDocument/2006/relationships/tags" Target="../tags/tag228.xml"/><Relationship Id="rId14" Type="http://schemas.openxmlformats.org/officeDocument/2006/relationships/tags" Target="../tags/tag233.xml"/><Relationship Id="rId22" Type="http://schemas.openxmlformats.org/officeDocument/2006/relationships/image" Target="../media/image77.png"/><Relationship Id="rId27"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136" r="-1136"/>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2E404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159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dirty="0">
                <a:solidFill>
                  <a:srgbClr val="D4AF3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营造中原</a:t>
            </a:r>
            <a:endParaRPr lang="en-US" sz="1100" dirty="0"/>
          </a:p>
        </p:txBody>
      </p:sp>
      <p:sp>
        <p:nvSpPr>
          <p:cNvPr id="4" name="AutoShape 4"/>
          <p:cNvSpPr/>
          <p:nvPr/>
        </p:nvSpPr>
        <p:spPr>
          <a:xfrm>
            <a:off x="0" y="3302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0" i="0" u="none" strike="noStrike" spc="400" dirty="0">
                <a:solidFill>
                  <a:srgbClr val="FFFFFF"/>
                </a:solidFill>
                <a:latin typeface="+mj-ea"/>
                <a:ea typeface="+mj-ea"/>
                <a:cs typeface="Noto Serif SC" panose="02020200000000000000" charset="-122"/>
                <a:sym typeface="Noto Serif SC" panose="02020200000000000000" charset="-122"/>
              </a:rPr>
              <a:t>河南古代建筑文明数字长卷</a:t>
            </a:r>
            <a:endParaRPr lang="en-US" sz="3600" dirty="0">
              <a:latin typeface="+mj-ea"/>
              <a:ea typeface="+mj-ea"/>
            </a:endParaRPr>
          </a:p>
        </p:txBody>
      </p:sp>
      <p:sp>
        <p:nvSpPr>
          <p:cNvPr id="5" name="AutoShape 5"/>
          <p:cNvSpPr/>
          <p:nvPr/>
        </p:nvSpPr>
        <p:spPr>
          <a:xfrm>
            <a:off x="5390515" y="4940300"/>
            <a:ext cx="1270000" cy="254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7" name="AutoShape 6"/>
          <p:cNvSpPr/>
          <p:nvPr/>
        </p:nvSpPr>
        <p:spPr>
          <a:xfrm>
            <a:off x="127000" y="4826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8" name="文本框 7"/>
          <p:cNvSpPr txBox="1"/>
          <p:nvPr/>
        </p:nvSpPr>
        <p:spPr>
          <a:xfrm>
            <a:off x="3721735" y="4191000"/>
            <a:ext cx="4748530" cy="553085"/>
          </a:xfrm>
          <a:prstGeom prst="rect">
            <a:avLst/>
          </a:prstGeom>
          <a:noFill/>
        </p:spPr>
        <p:txBody>
          <a:bodyPr wrap="square" rtlCol="0">
            <a:spAutoFit/>
          </a:bodyPr>
          <a:lstStyle/>
          <a:p>
            <a:pPr indent="0" algn="ctr">
              <a:lnSpc>
                <a:spcPct val="125000"/>
              </a:lnSpc>
              <a:defRPr/>
            </a:pPr>
            <a:r>
              <a:rPr lang="zh-CN" altLang="en-US" sz="2400" dirty="0">
                <a:solidFill>
                  <a:schemeClr val="bg1"/>
                </a:solidFill>
                <a:latin typeface="+mj-ea"/>
                <a:ea typeface="+mj-ea"/>
                <a:sym typeface="+mn-ea"/>
              </a:rPr>
              <a:t>基于数据可视化的文化</a:t>
            </a:r>
            <a:r>
              <a:rPr lang="zh-CN" altLang="en-US" sz="2400" dirty="0">
                <a:solidFill>
                  <a:schemeClr val="bg1"/>
                </a:solidFill>
                <a:uFillTx/>
                <a:latin typeface="+中文标题" charset="0"/>
                <a:ea typeface="+mj-ea"/>
                <a:sym typeface="+mn-ea"/>
              </a:rPr>
              <a:t>遗产</a:t>
            </a:r>
            <a:r>
              <a:rPr lang="zh-CN" altLang="en-US" sz="2400" dirty="0">
                <a:solidFill>
                  <a:schemeClr val="bg1"/>
                </a:solidFill>
                <a:latin typeface="+mj-ea"/>
                <a:ea typeface="+mj-ea"/>
                <a:sym typeface="+mn-ea"/>
              </a:rPr>
              <a:t>呈现</a:t>
            </a:r>
            <a:endParaRPr lang="zh-CN" altLang="en-US" sz="2400"/>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3">
            <a:lum/>
          </a:blip>
          <a:srcRect/>
          <a:stretch>
            <a:fillRect l="-1136" r="-1136"/>
          </a:stretch>
        </a:blipFill>
        <a:effectLst/>
      </p:bgPr>
    </p:bg>
    <p:spTree>
      <p:nvGrpSpPr>
        <p:cNvPr id="1" name=""/>
        <p:cNvGrpSpPr/>
        <p:nvPr/>
      </p:nvGrpSpPr>
      <p:grpSpPr>
        <a:xfrm>
          <a:off x="0" y="0"/>
          <a:ext cx="0" cy="0"/>
          <a:chOff x="0" y="0"/>
          <a:chExt cx="0" cy="0"/>
        </a:xfrm>
      </p:grpSpPr>
      <p:sp>
        <p:nvSpPr>
          <p:cNvPr id="2" name="AutoShape 2"/>
          <p:cNvSpPr/>
          <p:nvPr/>
        </p:nvSpPr>
        <p:spPr>
          <a:xfrm>
            <a:off x="-14859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lang="en-US"/>
          </a:p>
        </p:txBody>
      </p:sp>
      <p:sp>
        <p:nvSpPr>
          <p:cNvPr id="3" name="AutoShape 3"/>
          <p:cNvSpPr/>
          <p:nvPr/>
        </p:nvSpPr>
        <p:spPr>
          <a:xfrm>
            <a:off x="762000" y="635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目 录</a:t>
            </a:r>
            <a:endParaRPr lang="en-US" sz="1100" dirty="0"/>
          </a:p>
        </p:txBody>
      </p:sp>
      <p:sp>
        <p:nvSpPr>
          <p:cNvPr id="4" name="AutoShape 4"/>
          <p:cNvSpPr/>
          <p:nvPr/>
        </p:nvSpPr>
        <p:spPr>
          <a:xfrm>
            <a:off x="762000" y="1270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grpSp>
        <p:nvGrpSpPr>
          <p:cNvPr id="176" name="组合 175"/>
          <p:cNvGrpSpPr/>
          <p:nvPr>
            <p:custDataLst>
              <p:tags r:id="rId1"/>
            </p:custDataLst>
          </p:nvPr>
        </p:nvGrpSpPr>
        <p:grpSpPr>
          <a:xfrm>
            <a:off x="762000" y="1778000"/>
            <a:ext cx="5207000" cy="1270000"/>
            <a:chOff x="1200" y="2800"/>
            <a:chExt cx="8200" cy="2000"/>
          </a:xfrm>
        </p:grpSpPr>
        <p:sp>
          <p:nvSpPr>
            <p:cNvPr id="5" name="AutoShape 5"/>
            <p:cNvSpPr/>
            <p:nvPr>
              <p:custDataLst>
                <p:tags r:id="rId27"/>
              </p:custDataLst>
            </p:nvPr>
          </p:nvSpPr>
          <p:spPr>
            <a:xfrm>
              <a:off x="1200" y="2800"/>
              <a:ext cx="8200" cy="2000"/>
            </a:xfrm>
            <a:prstGeom prst="roundRect">
              <a:avLst>
                <a:gd name="adj" fmla="val 12000"/>
              </a:avLst>
            </a:prstGeom>
            <a:solidFill>
              <a:srgbClr val="FFFFFF">
                <a:alpha val="85000"/>
              </a:srgbClr>
            </a:solidFill>
            <a:ln w="25400" cap="flat" cmpd="sng">
              <a:noFill/>
              <a:prstDash val="solid"/>
              <a:round/>
            </a:ln>
            <a:effectLst>
              <a:outerShdw blurRad="152400" dist="50800" dir="2700000" algn="tl" rotWithShape="0">
                <a:srgbClr val="2E4047">
                  <a:alpha val="12000"/>
                </a:srgbClr>
              </a:outerShdw>
            </a:effectLst>
          </p:spPr>
          <p:txBody>
            <a:bodyPr vert="horz" wrap="square" lIns="63500" tIns="63500" rIns="63500" bIns="63500" rtlCol="0" anchor="ctr"/>
            <a:lstStyle/>
            <a:p>
              <a:pPr algn="ctr">
                <a:defRPr/>
              </a:pPr>
              <a:endParaRPr/>
            </a:p>
          </p:txBody>
        </p:sp>
        <p:sp>
          <p:nvSpPr>
            <p:cNvPr id="6" name="AutoShape 6"/>
            <p:cNvSpPr/>
            <p:nvPr>
              <p:custDataLst>
                <p:tags r:id="rId28"/>
              </p:custDataLst>
            </p:nvPr>
          </p:nvSpPr>
          <p:spPr>
            <a:xfrm>
              <a:off x="1600" y="3100"/>
              <a:ext cx="1600" cy="1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a:t>
              </a:r>
              <a:endParaRPr lang="en-US" sz="1100"/>
            </a:p>
          </p:txBody>
        </p:sp>
        <p:sp>
          <p:nvSpPr>
            <p:cNvPr id="7" name="AutoShape 7"/>
            <p:cNvSpPr/>
            <p:nvPr>
              <p:custDataLst>
                <p:tags r:id="rId29"/>
              </p:custDataLst>
            </p:nvPr>
          </p:nvSpPr>
          <p:spPr>
            <a:xfrm>
              <a:off x="3600" y="3200"/>
              <a:ext cx="54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项目</a:t>
              </a:r>
              <a:r>
                <a:rPr lang="zh-CN" altLang="en-US" sz="18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概述</a:t>
              </a:r>
            </a:p>
          </p:txBody>
        </p:sp>
        <p:sp>
          <p:nvSpPr>
            <p:cNvPr id="8" name="AutoShape 8"/>
            <p:cNvSpPr/>
            <p:nvPr>
              <p:custDataLst>
                <p:tags r:id="rId30"/>
              </p:custDataLst>
            </p:nvPr>
          </p:nvSpPr>
          <p:spPr>
            <a:xfrm>
              <a:off x="3600" y="4000"/>
              <a:ext cx="5400" cy="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1809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立足中原文明，讲好河南故事</a:t>
              </a:r>
              <a:endParaRPr lang="en-US" sz="1100"/>
            </a:p>
          </p:txBody>
        </p:sp>
      </p:grpSp>
      <p:grpSp>
        <p:nvGrpSpPr>
          <p:cNvPr id="177" name="组合 176"/>
          <p:cNvGrpSpPr/>
          <p:nvPr>
            <p:custDataLst>
              <p:tags r:id="rId2"/>
            </p:custDataLst>
          </p:nvPr>
        </p:nvGrpSpPr>
        <p:grpSpPr>
          <a:xfrm>
            <a:off x="762000" y="3302000"/>
            <a:ext cx="5207000" cy="1270000"/>
            <a:chOff x="1200" y="5200"/>
            <a:chExt cx="8200" cy="2000"/>
          </a:xfrm>
        </p:grpSpPr>
        <p:sp>
          <p:nvSpPr>
            <p:cNvPr id="9" name="AutoShape 9"/>
            <p:cNvSpPr/>
            <p:nvPr>
              <p:custDataLst>
                <p:tags r:id="rId23"/>
              </p:custDataLst>
            </p:nvPr>
          </p:nvSpPr>
          <p:spPr>
            <a:xfrm>
              <a:off x="1200" y="5200"/>
              <a:ext cx="8200" cy="2000"/>
            </a:xfrm>
            <a:prstGeom prst="roundRect">
              <a:avLst>
                <a:gd name="adj" fmla="val 12000"/>
              </a:avLst>
            </a:prstGeom>
            <a:solidFill>
              <a:srgbClr val="FFFFFF">
                <a:alpha val="85000"/>
              </a:srgbClr>
            </a:solidFill>
            <a:ln w="25400" cap="flat" cmpd="sng">
              <a:noFill/>
              <a:prstDash val="solid"/>
              <a:round/>
            </a:ln>
            <a:effectLst>
              <a:outerShdw blurRad="152400" dist="50800" dir="2700000" algn="tl" rotWithShape="0">
                <a:srgbClr val="2E4047">
                  <a:alpha val="12000"/>
                </a:srgbClr>
              </a:outerShdw>
            </a:effectLst>
          </p:spPr>
          <p:txBody>
            <a:bodyPr vert="horz" wrap="square" lIns="63500" tIns="63500" rIns="63500" bIns="63500" rtlCol="0" anchor="ctr"/>
            <a:lstStyle/>
            <a:p>
              <a:pPr algn="ctr">
                <a:defRPr/>
              </a:pPr>
              <a:endParaRPr/>
            </a:p>
          </p:txBody>
        </p:sp>
        <p:sp>
          <p:nvSpPr>
            <p:cNvPr id="10" name="AutoShape 10"/>
            <p:cNvSpPr/>
            <p:nvPr>
              <p:custDataLst>
                <p:tags r:id="rId24"/>
              </p:custDataLst>
            </p:nvPr>
          </p:nvSpPr>
          <p:spPr>
            <a:xfrm>
              <a:off x="1600" y="5500"/>
              <a:ext cx="1600" cy="1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a:t>
              </a:r>
              <a:endParaRPr lang="en-US" sz="1100"/>
            </a:p>
          </p:txBody>
        </p:sp>
        <p:sp>
          <p:nvSpPr>
            <p:cNvPr id="11" name="AutoShape 11"/>
            <p:cNvSpPr/>
            <p:nvPr>
              <p:custDataLst>
                <p:tags r:id="rId25"/>
              </p:custDataLst>
            </p:nvPr>
          </p:nvSpPr>
          <p:spPr>
            <a:xfrm>
              <a:off x="3600" y="5600"/>
              <a:ext cx="54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数据维度</a:t>
              </a:r>
            </a:p>
          </p:txBody>
        </p:sp>
        <p:sp>
          <p:nvSpPr>
            <p:cNvPr id="12" name="AutoShape 12"/>
            <p:cNvSpPr/>
            <p:nvPr>
              <p:custDataLst>
                <p:tags r:id="rId26"/>
              </p:custDataLst>
            </p:nvPr>
          </p:nvSpPr>
          <p:spPr>
            <a:xfrm>
              <a:off x="3600" y="6400"/>
              <a:ext cx="5400" cy="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1809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数字长卷，古今交汇</a:t>
              </a:r>
              <a:endParaRPr lang="en-US" sz="1100"/>
            </a:p>
          </p:txBody>
        </p:sp>
      </p:grpSp>
      <p:grpSp>
        <p:nvGrpSpPr>
          <p:cNvPr id="178" name="组合 177"/>
          <p:cNvGrpSpPr/>
          <p:nvPr>
            <p:custDataLst>
              <p:tags r:id="rId3"/>
            </p:custDataLst>
          </p:nvPr>
        </p:nvGrpSpPr>
        <p:grpSpPr>
          <a:xfrm>
            <a:off x="762000" y="4826000"/>
            <a:ext cx="5207000" cy="1270000"/>
            <a:chOff x="1200" y="7600"/>
            <a:chExt cx="8200" cy="2000"/>
          </a:xfrm>
        </p:grpSpPr>
        <p:sp>
          <p:nvSpPr>
            <p:cNvPr id="13" name="AutoShape 13"/>
            <p:cNvSpPr/>
            <p:nvPr>
              <p:custDataLst>
                <p:tags r:id="rId19"/>
              </p:custDataLst>
            </p:nvPr>
          </p:nvSpPr>
          <p:spPr>
            <a:xfrm>
              <a:off x="1200" y="7600"/>
              <a:ext cx="8200" cy="2000"/>
            </a:xfrm>
            <a:prstGeom prst="roundRect">
              <a:avLst>
                <a:gd name="adj" fmla="val 12000"/>
              </a:avLst>
            </a:prstGeom>
            <a:solidFill>
              <a:srgbClr val="FFFFFF">
                <a:alpha val="85000"/>
              </a:srgbClr>
            </a:solidFill>
            <a:ln w="25400" cap="flat" cmpd="sng">
              <a:noFill/>
              <a:prstDash val="solid"/>
              <a:round/>
            </a:ln>
            <a:effectLst>
              <a:outerShdw blurRad="152400" dist="50800" dir="2700000" algn="tl" rotWithShape="0">
                <a:srgbClr val="2E4047">
                  <a:alpha val="12000"/>
                </a:srgbClr>
              </a:outerShdw>
            </a:effectLst>
          </p:spPr>
          <p:txBody>
            <a:bodyPr vert="horz" wrap="square" lIns="63500" tIns="63500" rIns="63500" bIns="63500" rtlCol="0" anchor="ctr"/>
            <a:lstStyle/>
            <a:p>
              <a:pPr algn="ctr">
                <a:defRPr/>
              </a:pPr>
              <a:endParaRPr/>
            </a:p>
          </p:txBody>
        </p:sp>
        <p:sp>
          <p:nvSpPr>
            <p:cNvPr id="14" name="AutoShape 14"/>
            <p:cNvSpPr/>
            <p:nvPr>
              <p:custDataLst>
                <p:tags r:id="rId20"/>
              </p:custDataLst>
            </p:nvPr>
          </p:nvSpPr>
          <p:spPr>
            <a:xfrm>
              <a:off x="1600" y="7900"/>
              <a:ext cx="1600" cy="1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a:t>
              </a:r>
              <a:endParaRPr lang="en-US" sz="1100"/>
            </a:p>
          </p:txBody>
        </p:sp>
        <p:sp>
          <p:nvSpPr>
            <p:cNvPr id="15" name="AutoShape 15"/>
            <p:cNvSpPr/>
            <p:nvPr>
              <p:custDataLst>
                <p:tags r:id="rId21"/>
              </p:custDataLst>
            </p:nvPr>
          </p:nvSpPr>
          <p:spPr>
            <a:xfrm>
              <a:off x="3600" y="8000"/>
              <a:ext cx="54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核心功能模块展示</a:t>
              </a:r>
              <a:endParaRPr lang="en-US" sz="1100"/>
            </a:p>
          </p:txBody>
        </p:sp>
        <p:sp>
          <p:nvSpPr>
            <p:cNvPr id="16" name="AutoShape 16"/>
            <p:cNvSpPr/>
            <p:nvPr>
              <p:custDataLst>
                <p:tags r:id="rId22"/>
              </p:custDataLst>
            </p:nvPr>
          </p:nvSpPr>
          <p:spPr>
            <a:xfrm>
              <a:off x="3600" y="8800"/>
              <a:ext cx="5400" cy="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1809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多维视角，探索建筑之美</a:t>
              </a:r>
              <a:endParaRPr lang="en-US" sz="1100"/>
            </a:p>
          </p:txBody>
        </p:sp>
      </p:grpSp>
      <p:grpSp>
        <p:nvGrpSpPr>
          <p:cNvPr id="179" name="组合 178"/>
          <p:cNvGrpSpPr/>
          <p:nvPr>
            <p:custDataLst>
              <p:tags r:id="rId4"/>
            </p:custDataLst>
          </p:nvPr>
        </p:nvGrpSpPr>
        <p:grpSpPr>
          <a:xfrm>
            <a:off x="6223000" y="1778000"/>
            <a:ext cx="5207000" cy="1270000"/>
            <a:chOff x="9800" y="2800"/>
            <a:chExt cx="8200" cy="2000"/>
          </a:xfrm>
        </p:grpSpPr>
        <p:sp>
          <p:nvSpPr>
            <p:cNvPr id="17" name="AutoShape 17"/>
            <p:cNvSpPr/>
            <p:nvPr>
              <p:custDataLst>
                <p:tags r:id="rId15"/>
              </p:custDataLst>
            </p:nvPr>
          </p:nvSpPr>
          <p:spPr>
            <a:xfrm>
              <a:off x="9800" y="2800"/>
              <a:ext cx="8200" cy="2000"/>
            </a:xfrm>
            <a:prstGeom prst="roundRect">
              <a:avLst>
                <a:gd name="adj" fmla="val 12000"/>
              </a:avLst>
            </a:prstGeom>
            <a:solidFill>
              <a:srgbClr val="FFFFFF">
                <a:alpha val="85000"/>
              </a:srgbClr>
            </a:solidFill>
            <a:ln w="25400" cap="flat" cmpd="sng">
              <a:noFill/>
              <a:prstDash val="solid"/>
              <a:round/>
            </a:ln>
            <a:effectLst>
              <a:outerShdw blurRad="152400" dist="50800" dir="2700000" algn="tl" rotWithShape="0">
                <a:srgbClr val="2E4047">
                  <a:alpha val="12000"/>
                </a:srgbClr>
              </a:outerShdw>
            </a:effectLst>
          </p:spPr>
          <p:txBody>
            <a:bodyPr vert="horz" wrap="square" lIns="63500" tIns="63500" rIns="63500" bIns="63500" rtlCol="0" anchor="ctr"/>
            <a:lstStyle/>
            <a:p>
              <a:pPr algn="ctr">
                <a:defRPr/>
              </a:pPr>
              <a:endParaRPr/>
            </a:p>
          </p:txBody>
        </p:sp>
        <p:sp>
          <p:nvSpPr>
            <p:cNvPr id="18" name="AutoShape 18"/>
            <p:cNvSpPr/>
            <p:nvPr>
              <p:custDataLst>
                <p:tags r:id="rId16"/>
              </p:custDataLst>
            </p:nvPr>
          </p:nvSpPr>
          <p:spPr>
            <a:xfrm>
              <a:off x="10200" y="3100"/>
              <a:ext cx="1600" cy="1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04</a:t>
              </a:r>
              <a:endParaRPr lang="en-US" sz="1100"/>
            </a:p>
          </p:txBody>
        </p:sp>
        <p:sp>
          <p:nvSpPr>
            <p:cNvPr id="19" name="AutoShape 19"/>
            <p:cNvSpPr/>
            <p:nvPr>
              <p:custDataLst>
                <p:tags r:id="rId17"/>
              </p:custDataLst>
            </p:nvPr>
          </p:nvSpPr>
          <p:spPr>
            <a:xfrm>
              <a:off x="12200" y="3200"/>
              <a:ext cx="54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技术路线与实现方案</a:t>
              </a:r>
              <a:endParaRPr lang="en-US" sz="1100"/>
            </a:p>
          </p:txBody>
        </p:sp>
        <p:sp>
          <p:nvSpPr>
            <p:cNvPr id="20" name="AutoShape 20"/>
            <p:cNvSpPr/>
            <p:nvPr>
              <p:custDataLst>
                <p:tags r:id="rId18"/>
              </p:custDataLst>
            </p:nvPr>
          </p:nvSpPr>
          <p:spPr>
            <a:xfrm>
              <a:off x="12200" y="4000"/>
              <a:ext cx="5400" cy="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71809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科技赋能，文化传承</a:t>
              </a:r>
              <a:endParaRPr lang="en-US" sz="1100" dirty="0"/>
            </a:p>
          </p:txBody>
        </p:sp>
      </p:grpSp>
      <p:grpSp>
        <p:nvGrpSpPr>
          <p:cNvPr id="180" name="组合 179"/>
          <p:cNvGrpSpPr/>
          <p:nvPr>
            <p:custDataLst>
              <p:tags r:id="rId5"/>
            </p:custDataLst>
          </p:nvPr>
        </p:nvGrpSpPr>
        <p:grpSpPr>
          <a:xfrm>
            <a:off x="6223000" y="3302000"/>
            <a:ext cx="5207000" cy="1270000"/>
            <a:chOff x="9800" y="5200"/>
            <a:chExt cx="8200" cy="2000"/>
          </a:xfrm>
        </p:grpSpPr>
        <p:sp>
          <p:nvSpPr>
            <p:cNvPr id="21" name="AutoShape 21"/>
            <p:cNvSpPr/>
            <p:nvPr>
              <p:custDataLst>
                <p:tags r:id="rId11"/>
              </p:custDataLst>
            </p:nvPr>
          </p:nvSpPr>
          <p:spPr>
            <a:xfrm>
              <a:off x="9800" y="5200"/>
              <a:ext cx="8200" cy="2000"/>
            </a:xfrm>
            <a:prstGeom prst="roundRect">
              <a:avLst>
                <a:gd name="adj" fmla="val 12000"/>
              </a:avLst>
            </a:prstGeom>
            <a:solidFill>
              <a:srgbClr val="FFFFFF">
                <a:alpha val="85000"/>
              </a:srgbClr>
            </a:solidFill>
            <a:ln w="25400" cap="flat" cmpd="sng">
              <a:noFill/>
              <a:prstDash val="solid"/>
              <a:round/>
            </a:ln>
            <a:effectLst>
              <a:outerShdw blurRad="152400" dist="50800" dir="2700000" algn="tl" rotWithShape="0">
                <a:srgbClr val="2E4047">
                  <a:alpha val="12000"/>
                </a:srgbClr>
              </a:outerShdw>
            </a:effectLst>
          </p:spPr>
          <p:txBody>
            <a:bodyPr vert="horz" wrap="square" lIns="63500" tIns="63500" rIns="63500" bIns="63500" rtlCol="0" anchor="ctr"/>
            <a:lstStyle/>
            <a:p>
              <a:pPr algn="ctr">
                <a:defRPr/>
              </a:pPr>
              <a:endParaRPr/>
            </a:p>
          </p:txBody>
        </p:sp>
        <p:sp>
          <p:nvSpPr>
            <p:cNvPr id="22" name="AutoShape 22"/>
            <p:cNvSpPr/>
            <p:nvPr>
              <p:custDataLst>
                <p:tags r:id="rId12"/>
              </p:custDataLst>
            </p:nvPr>
          </p:nvSpPr>
          <p:spPr>
            <a:xfrm>
              <a:off x="10200" y="5500"/>
              <a:ext cx="1600" cy="1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05</a:t>
              </a:r>
              <a:endParaRPr lang="en-US" sz="1100"/>
            </a:p>
          </p:txBody>
        </p:sp>
        <p:sp>
          <p:nvSpPr>
            <p:cNvPr id="23" name="AutoShape 23"/>
            <p:cNvSpPr/>
            <p:nvPr>
              <p:custDataLst>
                <p:tags r:id="rId13"/>
              </p:custDataLst>
            </p:nvPr>
          </p:nvSpPr>
          <p:spPr>
            <a:xfrm>
              <a:off x="12200" y="5600"/>
              <a:ext cx="54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项目特色与创新亮点</a:t>
              </a:r>
              <a:endParaRPr lang="en-US" sz="1100"/>
            </a:p>
          </p:txBody>
        </p:sp>
        <p:sp>
          <p:nvSpPr>
            <p:cNvPr id="24" name="AutoShape 24"/>
            <p:cNvSpPr/>
            <p:nvPr>
              <p:custDataLst>
                <p:tags r:id="rId14"/>
              </p:custDataLst>
            </p:nvPr>
          </p:nvSpPr>
          <p:spPr>
            <a:xfrm>
              <a:off x="12200" y="6400"/>
              <a:ext cx="5400" cy="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71809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传承与创新的融合</a:t>
              </a:r>
              <a:endParaRPr lang="en-US" sz="1100" dirty="0"/>
            </a:p>
          </p:txBody>
        </p:sp>
      </p:grpSp>
      <p:grpSp>
        <p:nvGrpSpPr>
          <p:cNvPr id="181" name="组合 180"/>
          <p:cNvGrpSpPr/>
          <p:nvPr>
            <p:custDataLst>
              <p:tags r:id="rId6"/>
            </p:custDataLst>
          </p:nvPr>
        </p:nvGrpSpPr>
        <p:grpSpPr>
          <a:xfrm>
            <a:off x="6223000" y="4826000"/>
            <a:ext cx="5207000" cy="1270000"/>
            <a:chOff x="9800" y="7600"/>
            <a:chExt cx="8200" cy="2000"/>
          </a:xfrm>
        </p:grpSpPr>
        <p:sp>
          <p:nvSpPr>
            <p:cNvPr id="25" name="AutoShape 25"/>
            <p:cNvSpPr/>
            <p:nvPr>
              <p:custDataLst>
                <p:tags r:id="rId7"/>
              </p:custDataLst>
            </p:nvPr>
          </p:nvSpPr>
          <p:spPr>
            <a:xfrm>
              <a:off x="9800" y="7600"/>
              <a:ext cx="8200" cy="2000"/>
            </a:xfrm>
            <a:prstGeom prst="roundRect">
              <a:avLst>
                <a:gd name="adj" fmla="val 12000"/>
              </a:avLst>
            </a:prstGeom>
            <a:solidFill>
              <a:srgbClr val="FFFFFF">
                <a:alpha val="85000"/>
              </a:srgbClr>
            </a:solidFill>
            <a:ln w="25400" cap="flat" cmpd="sng">
              <a:noFill/>
              <a:prstDash val="solid"/>
              <a:round/>
            </a:ln>
            <a:effectLst>
              <a:outerShdw blurRad="152400" dist="50800" dir="2700000" algn="tl" rotWithShape="0">
                <a:srgbClr val="2E4047">
                  <a:alpha val="12000"/>
                </a:srgbClr>
              </a:outerShdw>
            </a:effectLst>
          </p:spPr>
          <p:txBody>
            <a:bodyPr vert="horz" wrap="square" lIns="63500" tIns="63500" rIns="63500" bIns="63500" rtlCol="0" anchor="ctr"/>
            <a:lstStyle/>
            <a:p>
              <a:pPr algn="ctr">
                <a:defRPr/>
              </a:pPr>
              <a:endParaRPr/>
            </a:p>
          </p:txBody>
        </p:sp>
        <p:sp>
          <p:nvSpPr>
            <p:cNvPr id="26" name="AutoShape 26"/>
            <p:cNvSpPr/>
            <p:nvPr>
              <p:custDataLst>
                <p:tags r:id="rId8"/>
              </p:custDataLst>
            </p:nvPr>
          </p:nvSpPr>
          <p:spPr>
            <a:xfrm>
              <a:off x="10200" y="7900"/>
              <a:ext cx="1600" cy="1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06</a:t>
              </a:r>
              <a:endParaRPr lang="en-US" sz="1100"/>
            </a:p>
          </p:txBody>
        </p:sp>
        <p:sp>
          <p:nvSpPr>
            <p:cNvPr id="27" name="AutoShape 27"/>
            <p:cNvSpPr/>
            <p:nvPr>
              <p:custDataLst>
                <p:tags r:id="rId9"/>
              </p:custDataLst>
            </p:nvPr>
          </p:nvSpPr>
          <p:spPr>
            <a:xfrm>
              <a:off x="12200" y="8000"/>
              <a:ext cx="54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总结与未来展望</a:t>
              </a:r>
              <a:endParaRPr lang="en-US" sz="1100"/>
            </a:p>
          </p:txBody>
        </p:sp>
        <p:sp>
          <p:nvSpPr>
            <p:cNvPr id="28" name="AutoShape 28"/>
            <p:cNvSpPr/>
            <p:nvPr>
              <p:custDataLst>
                <p:tags r:id="rId10"/>
              </p:custDataLst>
            </p:nvPr>
          </p:nvSpPr>
          <p:spPr>
            <a:xfrm>
              <a:off x="12200" y="8800"/>
              <a:ext cx="5400" cy="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71809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继往开来，共筑文化新篇</a:t>
              </a:r>
              <a:endParaRPr lang="en-US" sz="11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250" fill="hold">
                                          <p:stCondLst>
                                            <p:cond delay="0"/>
                                          </p:stCondLst>
                                        </p:cTn>
                                        <p:tgtEl>
                                          <p:spTgt spid="176"/>
                                        </p:tgtEl>
                                        <p:attrNameLst>
                                          <p:attrName>style.visibility</p:attrName>
                                        </p:attrNameLst>
                                      </p:cBhvr>
                                      <p:to>
                                        <p:strVal val="visible"/>
                                      </p:to>
                                    </p:set>
                                    <p:anim calcmode="lin" valueType="num">
                                      <p:cBhvr>
                                        <p:cTn id="11" dur="250" fill="hold"/>
                                        <p:tgtEl>
                                          <p:spTgt spid="176"/>
                                        </p:tgtEl>
                                        <p:attrNameLst>
                                          <p:attrName>ppt_w</p:attrName>
                                        </p:attrNameLst>
                                      </p:cBhvr>
                                      <p:tavLst>
                                        <p:tav tm="0">
                                          <p:val>
                                            <p:fltVal val="0"/>
                                          </p:val>
                                        </p:tav>
                                        <p:tav tm="100000">
                                          <p:val>
                                            <p:strVal val="#ppt_w*1.2"/>
                                          </p:val>
                                        </p:tav>
                                      </p:tavLst>
                                    </p:anim>
                                    <p:anim calcmode="lin" valueType="num">
                                      <p:cBhvr>
                                        <p:cTn id="12" dur="250" fill="hold"/>
                                        <p:tgtEl>
                                          <p:spTgt spid="176"/>
                                        </p:tgtEl>
                                        <p:attrNameLst>
                                          <p:attrName>ppt_h</p:attrName>
                                        </p:attrNameLst>
                                      </p:cBhvr>
                                      <p:tavLst>
                                        <p:tav tm="0">
                                          <p:val>
                                            <p:fltVal val="0"/>
                                          </p:val>
                                        </p:tav>
                                        <p:tav tm="100000">
                                          <p:val>
                                            <p:strVal val="#ppt_h*1.2"/>
                                          </p:val>
                                        </p:tav>
                                      </p:tavLst>
                                    </p:anim>
                                    <p:animEffect transition="in" filter="fade">
                                      <p:cBhvr>
                                        <p:cTn id="13" dur="250"/>
                                        <p:tgtEl>
                                          <p:spTgt spid="176"/>
                                        </p:tgtEl>
                                      </p:cBhvr>
                                    </p:animEffect>
                                    <p:anim to="" calcmode="lin" valueType="num">
                                      <p:cBhvr>
                                        <p:cTn id="14" dur="250" fill="hold">
                                          <p:stCondLst>
                                            <p:cond delay="0"/>
                                          </p:stCondLst>
                                        </p:cTn>
                                        <p:tgtEl>
                                          <p:spTgt spid="176"/>
                                        </p:tgtEl>
                                        <p:attrNameLst>
                                          <p:attrName>ppt_x</p:attrName>
                                        </p:attrNameLst>
                                      </p:cBhvr>
                                      <p:tavLst>
                                        <p:tav tm="0">
                                          <p:val>
                                            <p:fltVal val="0.64909"/>
                                          </p:val>
                                        </p:tav>
                                        <p:tav tm="100000">
                                          <p:val>
                                            <p:fltVal val="0.50295"/>
                                          </p:val>
                                        </p:tav>
                                      </p:tavLst>
                                    </p:anim>
                                    <p:anim to="" calcmode="lin" valueType="num">
                                      <p:cBhvr>
                                        <p:cTn id="15" dur="250" fill="hold">
                                          <p:stCondLst>
                                            <p:cond delay="0"/>
                                          </p:stCondLst>
                                        </p:cTn>
                                        <p:tgtEl>
                                          <p:spTgt spid="176"/>
                                        </p:tgtEl>
                                        <p:attrNameLst>
                                          <p:attrName>ppt_y</p:attrName>
                                        </p:attrNameLst>
                                      </p:cBhvr>
                                      <p:tavLst>
                                        <p:tav tm="0">
                                          <p:val>
                                            <p:fltVal val="0.5"/>
                                          </p:val>
                                        </p:tav>
                                        <p:tav tm="100000">
                                          <p:val>
                                            <p:fltVal val="0.57931"/>
                                          </p:val>
                                        </p:tav>
                                      </p:tavLst>
                                    </p:anim>
                                  </p:childTnLst>
                                </p:cTn>
                              </p:par>
                            </p:childTnLst>
                          </p:cTn>
                        </p:par>
                        <p:par>
                          <p:cTn id="16" fill="hold">
                            <p:stCondLst>
                              <p:cond delay="1000"/>
                            </p:stCondLst>
                            <p:childTnLst>
                              <p:par>
                                <p:cTn id="17" presetID="53" presetClass="entr" presetSubtype="16" fill="hold" nodeType="afterEffect">
                                  <p:stCondLst>
                                    <p:cond delay="0"/>
                                  </p:stCondLst>
                                  <p:childTnLst>
                                    <p:set>
                                      <p:cBhvr>
                                        <p:cTn id="18" dur="200" fill="hold">
                                          <p:stCondLst>
                                            <p:cond delay="0"/>
                                          </p:stCondLst>
                                        </p:cTn>
                                        <p:tgtEl>
                                          <p:spTgt spid="177"/>
                                        </p:tgtEl>
                                        <p:attrNameLst>
                                          <p:attrName>style.visibility</p:attrName>
                                        </p:attrNameLst>
                                      </p:cBhvr>
                                      <p:to>
                                        <p:strVal val="visible"/>
                                      </p:to>
                                    </p:set>
                                    <p:anim calcmode="lin" valueType="num">
                                      <p:cBhvr>
                                        <p:cTn id="19" dur="200" fill="hold"/>
                                        <p:tgtEl>
                                          <p:spTgt spid="177"/>
                                        </p:tgtEl>
                                        <p:attrNameLst>
                                          <p:attrName>ppt_w</p:attrName>
                                        </p:attrNameLst>
                                      </p:cBhvr>
                                      <p:tavLst>
                                        <p:tav tm="0">
                                          <p:val>
                                            <p:fltVal val="0"/>
                                          </p:val>
                                        </p:tav>
                                        <p:tav tm="100000">
                                          <p:val>
                                            <p:strVal val="#ppt_w*1.2"/>
                                          </p:val>
                                        </p:tav>
                                      </p:tavLst>
                                    </p:anim>
                                    <p:anim calcmode="lin" valueType="num">
                                      <p:cBhvr>
                                        <p:cTn id="20" dur="200" fill="hold"/>
                                        <p:tgtEl>
                                          <p:spTgt spid="177"/>
                                        </p:tgtEl>
                                        <p:attrNameLst>
                                          <p:attrName>ppt_h</p:attrName>
                                        </p:attrNameLst>
                                      </p:cBhvr>
                                      <p:tavLst>
                                        <p:tav tm="0">
                                          <p:val>
                                            <p:fltVal val="0"/>
                                          </p:val>
                                        </p:tav>
                                        <p:tav tm="100000">
                                          <p:val>
                                            <p:strVal val="#ppt_h*1.2"/>
                                          </p:val>
                                        </p:tav>
                                      </p:tavLst>
                                    </p:anim>
                                    <p:animEffect transition="in" filter="fade">
                                      <p:cBhvr>
                                        <p:cTn id="21" dur="200"/>
                                        <p:tgtEl>
                                          <p:spTgt spid="177"/>
                                        </p:tgtEl>
                                      </p:cBhvr>
                                    </p:animEffect>
                                    <p:anim to="" calcmode="lin" valueType="num">
                                      <p:cBhvr>
                                        <p:cTn id="22" dur="200" fill="hold">
                                          <p:stCondLst>
                                            <p:cond delay="0"/>
                                          </p:stCondLst>
                                        </p:cTn>
                                        <p:tgtEl>
                                          <p:spTgt spid="177"/>
                                        </p:tgtEl>
                                        <p:attrNameLst>
                                          <p:attrName>ppt_x</p:attrName>
                                        </p:attrNameLst>
                                      </p:cBhvr>
                                      <p:tavLst>
                                        <p:tav tm="0">
                                          <p:val>
                                            <p:fltVal val="0.64909"/>
                                          </p:val>
                                        </p:tav>
                                        <p:tav tm="100000">
                                          <p:val>
                                            <p:fltVal val="0.50295"/>
                                          </p:val>
                                        </p:tav>
                                      </p:tavLst>
                                    </p:anim>
                                    <p:anim to="" calcmode="lin" valueType="num">
                                      <p:cBhvr>
                                        <p:cTn id="23" dur="200" fill="hold">
                                          <p:stCondLst>
                                            <p:cond delay="0"/>
                                          </p:stCondLst>
                                        </p:cTn>
                                        <p:tgtEl>
                                          <p:spTgt spid="177"/>
                                        </p:tgtEl>
                                        <p:attrNameLst>
                                          <p:attrName>ppt_y</p:attrName>
                                        </p:attrNameLst>
                                      </p:cBhvr>
                                      <p:tavLst>
                                        <p:tav tm="0">
                                          <p:val>
                                            <p:fltVal val="0.5"/>
                                          </p:val>
                                        </p:tav>
                                        <p:tav tm="100000">
                                          <p:val>
                                            <p:fltVal val="0.69042"/>
                                          </p:val>
                                        </p:tav>
                                      </p:tavLst>
                                    </p:anim>
                                  </p:childTnLst>
                                </p:cTn>
                              </p:par>
                              <p:par>
                                <p:cTn id="24" presetID="35" presetClass="path" presetSubtype="0" accel="50000" decel="50000" fill="hold" nodeType="withEffect">
                                  <p:stCondLst>
                                    <p:cond delay="0"/>
                                  </p:stCondLst>
                                  <p:childTnLst>
                                    <p:anim calcmode="lin" valueType="num">
                                      <p:cBhvr additive="base">
                                        <p:cTn id="25" dur="500" fill="hold">
                                          <p:stCondLst>
                                            <p:cond delay="0"/>
                                          </p:stCondLst>
                                        </p:cTn>
                                        <p:tgtEl>
                                          <p:spTgt spid="176"/>
                                        </p:tgtEl>
                                        <p:attrNameLst>
                                          <p:attrName>ppt_x</p:attrName>
                                        </p:attrNameLst>
                                      </p:cBhvr>
                                      <p:tavLst>
                                        <p:tav tm="0">
                                          <p:val>
                                            <p:strVal val="ppt_x"/>
                                          </p:val>
                                        </p:tav>
                                        <p:tav tm="100000">
                                          <p:val>
                                            <p:fltVal val="0.50295"/>
                                          </p:val>
                                        </p:tav>
                                      </p:tavLst>
                                    </p:anim>
                                    <p:anim calcmode="lin" valueType="num">
                                      <p:cBhvr additive="base">
                                        <p:cTn id="26" dur="500" fill="hold">
                                          <p:stCondLst>
                                            <p:cond delay="0"/>
                                          </p:stCondLst>
                                        </p:cTn>
                                        <p:tgtEl>
                                          <p:spTgt spid="176"/>
                                        </p:tgtEl>
                                        <p:attrNameLst>
                                          <p:attrName>ppt_y</p:attrName>
                                        </p:attrNameLst>
                                      </p:cBhvr>
                                      <p:tavLst>
                                        <p:tav tm="0">
                                          <p:val>
                                            <p:strVal val="ppt_y"/>
                                          </p:val>
                                        </p:tav>
                                        <p:tav tm="100000">
                                          <p:val>
                                            <p:fltVal val="0.4682"/>
                                          </p:val>
                                        </p:tav>
                                      </p:tavLst>
                                    </p:anim>
                                    <p:anim calcmode="lin" valueType="num">
                                      <p:cBhvr additive="base">
                                        <p:cTn id="27" dur="500" fill="hold">
                                          <p:stCondLst>
                                            <p:cond delay="0"/>
                                          </p:stCondLst>
                                        </p:cTn>
                                        <p:tgtEl>
                                          <p:spTgt spid="176"/>
                                        </p:tgtEl>
                                        <p:attrNameLst>
                                          <p:attrName>ppt_w</p:attrName>
                                        </p:attrNameLst>
                                      </p:cBhvr>
                                      <p:tavLst>
                                        <p:tav tm="0">
                                          <p:val>
                                            <p:strVal val="ppt_w"/>
                                          </p:val>
                                        </p:tav>
                                        <p:tav tm="100000">
                                          <p:val>
                                            <p:strVal val="#ppt_w"/>
                                          </p:val>
                                        </p:tav>
                                      </p:tavLst>
                                    </p:anim>
                                    <p:anim calcmode="lin" valueType="num">
                                      <p:cBhvr additive="base">
                                        <p:cTn id="28" dur="500" fill="hold">
                                          <p:stCondLst>
                                            <p:cond delay="0"/>
                                          </p:stCondLst>
                                        </p:cTn>
                                        <p:tgtEl>
                                          <p:spTgt spid="176"/>
                                        </p:tgtEl>
                                        <p:attrNameLst>
                                          <p:attrName>ppt_h</p:attrName>
                                        </p:attrNameLst>
                                      </p:cBhvr>
                                      <p:tavLst>
                                        <p:tav tm="0">
                                          <p:val>
                                            <p:strVal val="ppt_h"/>
                                          </p:val>
                                        </p:tav>
                                        <p:tav tm="100000">
                                          <p:val>
                                            <p:strVal val="#ppt_h"/>
                                          </p:val>
                                        </p:tav>
                                      </p:tavLst>
                                    </p:anim>
                                  </p:childTnLst>
                                </p:cTn>
                              </p:par>
                            </p:childTnLst>
                          </p:cTn>
                        </p:par>
                        <p:par>
                          <p:cTn id="29" fill="hold">
                            <p:stCondLst>
                              <p:cond delay="1500"/>
                            </p:stCondLst>
                            <p:childTnLst>
                              <p:par>
                                <p:cTn id="30" presetID="53" presetClass="entr" presetSubtype="16" fill="hold" nodeType="afterEffect">
                                  <p:stCondLst>
                                    <p:cond delay="0"/>
                                  </p:stCondLst>
                                  <p:childTnLst>
                                    <p:set>
                                      <p:cBhvr>
                                        <p:cTn id="31" dur="500" fill="hold">
                                          <p:stCondLst>
                                            <p:cond delay="0"/>
                                          </p:stCondLst>
                                        </p:cTn>
                                        <p:tgtEl>
                                          <p:spTgt spid="178"/>
                                        </p:tgtEl>
                                        <p:attrNameLst>
                                          <p:attrName>style.visibility</p:attrName>
                                        </p:attrNameLst>
                                      </p:cBhvr>
                                      <p:to>
                                        <p:strVal val="visible"/>
                                      </p:to>
                                    </p:set>
                                    <p:anim calcmode="lin" valueType="num">
                                      <p:cBhvr>
                                        <p:cTn id="32" dur="500" fill="hold"/>
                                        <p:tgtEl>
                                          <p:spTgt spid="178"/>
                                        </p:tgtEl>
                                        <p:attrNameLst>
                                          <p:attrName>ppt_w</p:attrName>
                                        </p:attrNameLst>
                                      </p:cBhvr>
                                      <p:tavLst>
                                        <p:tav tm="0">
                                          <p:val>
                                            <p:fltVal val="0"/>
                                          </p:val>
                                        </p:tav>
                                        <p:tav tm="100000">
                                          <p:val>
                                            <p:strVal val="#ppt_w*1.2"/>
                                          </p:val>
                                        </p:tav>
                                      </p:tavLst>
                                    </p:anim>
                                    <p:anim calcmode="lin" valueType="num">
                                      <p:cBhvr>
                                        <p:cTn id="33" dur="500" fill="hold"/>
                                        <p:tgtEl>
                                          <p:spTgt spid="178"/>
                                        </p:tgtEl>
                                        <p:attrNameLst>
                                          <p:attrName>ppt_h</p:attrName>
                                        </p:attrNameLst>
                                      </p:cBhvr>
                                      <p:tavLst>
                                        <p:tav tm="0">
                                          <p:val>
                                            <p:fltVal val="0"/>
                                          </p:val>
                                        </p:tav>
                                        <p:tav tm="100000">
                                          <p:val>
                                            <p:strVal val="#ppt_h*1.2"/>
                                          </p:val>
                                        </p:tav>
                                      </p:tavLst>
                                    </p:anim>
                                    <p:animEffect transition="in" filter="fade">
                                      <p:cBhvr>
                                        <p:cTn id="34" dur="500"/>
                                        <p:tgtEl>
                                          <p:spTgt spid="178"/>
                                        </p:tgtEl>
                                      </p:cBhvr>
                                    </p:animEffect>
                                    <p:anim to="" calcmode="lin" valueType="num">
                                      <p:cBhvr>
                                        <p:cTn id="35" dur="500" fill="hold">
                                          <p:stCondLst>
                                            <p:cond delay="0"/>
                                          </p:stCondLst>
                                        </p:cTn>
                                        <p:tgtEl>
                                          <p:spTgt spid="178"/>
                                        </p:tgtEl>
                                        <p:attrNameLst>
                                          <p:attrName>ppt_x</p:attrName>
                                        </p:attrNameLst>
                                      </p:cBhvr>
                                      <p:tavLst>
                                        <p:tav tm="0">
                                          <p:val>
                                            <p:fltVal val="0.64909"/>
                                          </p:val>
                                        </p:tav>
                                        <p:tav tm="100000">
                                          <p:val>
                                            <p:fltVal val="0.50295"/>
                                          </p:val>
                                        </p:tav>
                                      </p:tavLst>
                                    </p:anim>
                                    <p:anim to="" calcmode="lin" valueType="num">
                                      <p:cBhvr>
                                        <p:cTn id="36" dur="500" fill="hold">
                                          <p:stCondLst>
                                            <p:cond delay="0"/>
                                          </p:stCondLst>
                                        </p:cTn>
                                        <p:tgtEl>
                                          <p:spTgt spid="178"/>
                                        </p:tgtEl>
                                        <p:attrNameLst>
                                          <p:attrName>ppt_y</p:attrName>
                                        </p:attrNameLst>
                                      </p:cBhvr>
                                      <p:tavLst>
                                        <p:tav tm="0">
                                          <p:val>
                                            <p:fltVal val="0.5"/>
                                          </p:val>
                                        </p:tav>
                                        <p:tav tm="100000">
                                          <p:val>
                                            <p:fltVal val="0.80153"/>
                                          </p:val>
                                        </p:tav>
                                      </p:tavLst>
                                    </p:anim>
                                  </p:childTnLst>
                                </p:cTn>
                              </p:par>
                              <p:par>
                                <p:cTn id="37" presetID="35" presetClass="path" presetSubtype="0" accel="50000" decel="50000" fill="hold" nodeType="withEffect">
                                  <p:stCondLst>
                                    <p:cond delay="0"/>
                                  </p:stCondLst>
                                  <p:childTnLst>
                                    <p:anim calcmode="lin" valueType="num">
                                      <p:cBhvr additive="base">
                                        <p:cTn id="38" dur="500" fill="hold">
                                          <p:stCondLst>
                                            <p:cond delay="0"/>
                                          </p:stCondLst>
                                        </p:cTn>
                                        <p:tgtEl>
                                          <p:spTgt spid="176"/>
                                        </p:tgtEl>
                                        <p:attrNameLst>
                                          <p:attrName>ppt_x</p:attrName>
                                        </p:attrNameLst>
                                      </p:cBhvr>
                                      <p:tavLst>
                                        <p:tav tm="0">
                                          <p:val>
                                            <p:strVal val="ppt_x"/>
                                          </p:val>
                                        </p:tav>
                                        <p:tav tm="100000">
                                          <p:val>
                                            <p:fltVal val="0.50295"/>
                                          </p:val>
                                        </p:tav>
                                      </p:tavLst>
                                    </p:anim>
                                    <p:anim calcmode="lin" valueType="num">
                                      <p:cBhvr additive="base">
                                        <p:cTn id="39" dur="500" fill="hold">
                                          <p:stCondLst>
                                            <p:cond delay="0"/>
                                          </p:stCondLst>
                                        </p:cTn>
                                        <p:tgtEl>
                                          <p:spTgt spid="176"/>
                                        </p:tgtEl>
                                        <p:attrNameLst>
                                          <p:attrName>ppt_y</p:attrName>
                                        </p:attrNameLst>
                                      </p:cBhvr>
                                      <p:tavLst>
                                        <p:tav tm="0">
                                          <p:val>
                                            <p:strVal val="ppt_y"/>
                                          </p:val>
                                        </p:tav>
                                        <p:tav tm="100000">
                                          <p:val>
                                            <p:fltVal val="0.35709"/>
                                          </p:val>
                                        </p:tav>
                                      </p:tavLst>
                                    </p:anim>
                                    <p:anim calcmode="lin" valueType="num">
                                      <p:cBhvr additive="base">
                                        <p:cTn id="40" dur="500" fill="hold">
                                          <p:stCondLst>
                                            <p:cond delay="0"/>
                                          </p:stCondLst>
                                        </p:cTn>
                                        <p:tgtEl>
                                          <p:spTgt spid="176"/>
                                        </p:tgtEl>
                                        <p:attrNameLst>
                                          <p:attrName>ppt_w</p:attrName>
                                        </p:attrNameLst>
                                      </p:cBhvr>
                                      <p:tavLst>
                                        <p:tav tm="0">
                                          <p:val>
                                            <p:strVal val="ppt_w"/>
                                          </p:val>
                                        </p:tav>
                                        <p:tav tm="100000">
                                          <p:val>
                                            <p:strVal val="#ppt_w"/>
                                          </p:val>
                                        </p:tav>
                                      </p:tavLst>
                                    </p:anim>
                                    <p:anim calcmode="lin" valueType="num">
                                      <p:cBhvr additive="base">
                                        <p:cTn id="41" dur="500" fill="hold">
                                          <p:stCondLst>
                                            <p:cond delay="0"/>
                                          </p:stCondLst>
                                        </p:cTn>
                                        <p:tgtEl>
                                          <p:spTgt spid="176"/>
                                        </p:tgtEl>
                                        <p:attrNameLst>
                                          <p:attrName>ppt_h</p:attrName>
                                        </p:attrNameLst>
                                      </p:cBhvr>
                                      <p:tavLst>
                                        <p:tav tm="0">
                                          <p:val>
                                            <p:strVal val="ppt_h"/>
                                          </p:val>
                                        </p:tav>
                                        <p:tav tm="100000">
                                          <p:val>
                                            <p:strVal val="#ppt_h"/>
                                          </p:val>
                                        </p:tav>
                                      </p:tavLst>
                                    </p:anim>
                                  </p:childTnLst>
                                </p:cTn>
                              </p:par>
                              <p:par>
                                <p:cTn id="42" presetID="35" presetClass="path" presetSubtype="0" accel="50000" decel="50000" fill="hold" nodeType="withEffect">
                                  <p:stCondLst>
                                    <p:cond delay="0"/>
                                  </p:stCondLst>
                                  <p:childTnLst>
                                    <p:anim calcmode="lin" valueType="num">
                                      <p:cBhvr additive="base">
                                        <p:cTn id="43" dur="500" fill="hold">
                                          <p:stCondLst>
                                            <p:cond delay="0"/>
                                          </p:stCondLst>
                                        </p:cTn>
                                        <p:tgtEl>
                                          <p:spTgt spid="177"/>
                                        </p:tgtEl>
                                        <p:attrNameLst>
                                          <p:attrName>ppt_x</p:attrName>
                                        </p:attrNameLst>
                                      </p:cBhvr>
                                      <p:tavLst>
                                        <p:tav tm="0">
                                          <p:val>
                                            <p:strVal val="ppt_x"/>
                                          </p:val>
                                        </p:tav>
                                        <p:tav tm="100000">
                                          <p:val>
                                            <p:fltVal val="0.50295"/>
                                          </p:val>
                                        </p:tav>
                                      </p:tavLst>
                                    </p:anim>
                                    <p:anim calcmode="lin" valueType="num">
                                      <p:cBhvr additive="base">
                                        <p:cTn id="44" dur="500" fill="hold">
                                          <p:stCondLst>
                                            <p:cond delay="0"/>
                                          </p:stCondLst>
                                        </p:cTn>
                                        <p:tgtEl>
                                          <p:spTgt spid="177"/>
                                        </p:tgtEl>
                                        <p:attrNameLst>
                                          <p:attrName>ppt_y</p:attrName>
                                        </p:attrNameLst>
                                      </p:cBhvr>
                                      <p:tavLst>
                                        <p:tav tm="0">
                                          <p:val>
                                            <p:strVal val="ppt_y"/>
                                          </p:val>
                                        </p:tav>
                                        <p:tav tm="100000">
                                          <p:val>
                                            <p:fltVal val="0.57931"/>
                                          </p:val>
                                        </p:tav>
                                      </p:tavLst>
                                    </p:anim>
                                    <p:anim calcmode="lin" valueType="num">
                                      <p:cBhvr additive="base">
                                        <p:cTn id="45" dur="500" fill="hold">
                                          <p:stCondLst>
                                            <p:cond delay="0"/>
                                          </p:stCondLst>
                                        </p:cTn>
                                        <p:tgtEl>
                                          <p:spTgt spid="177"/>
                                        </p:tgtEl>
                                        <p:attrNameLst>
                                          <p:attrName>ppt_w</p:attrName>
                                        </p:attrNameLst>
                                      </p:cBhvr>
                                      <p:tavLst>
                                        <p:tav tm="0">
                                          <p:val>
                                            <p:strVal val="ppt_w"/>
                                          </p:val>
                                        </p:tav>
                                        <p:tav tm="100000">
                                          <p:val>
                                            <p:strVal val="#ppt_w"/>
                                          </p:val>
                                        </p:tav>
                                      </p:tavLst>
                                    </p:anim>
                                    <p:anim calcmode="lin" valueType="num">
                                      <p:cBhvr additive="base">
                                        <p:cTn id="46" dur="500" fill="hold">
                                          <p:stCondLst>
                                            <p:cond delay="0"/>
                                          </p:stCondLst>
                                        </p:cTn>
                                        <p:tgtEl>
                                          <p:spTgt spid="177"/>
                                        </p:tgtEl>
                                        <p:attrNameLst>
                                          <p:attrName>ppt_h</p:attrName>
                                        </p:attrNameLst>
                                      </p:cBhvr>
                                      <p:tavLst>
                                        <p:tav tm="0">
                                          <p:val>
                                            <p:strVal val="ppt_h"/>
                                          </p:val>
                                        </p:tav>
                                        <p:tav tm="100000">
                                          <p:val>
                                            <p:strVal val="#ppt_h"/>
                                          </p:val>
                                        </p:tav>
                                      </p:tavLst>
                                    </p:anim>
                                  </p:childTnLst>
                                </p:cTn>
                              </p:par>
                            </p:childTnLst>
                          </p:cTn>
                        </p:par>
                        <p:par>
                          <p:cTn id="47" fill="hold">
                            <p:stCondLst>
                              <p:cond delay="2000"/>
                            </p:stCondLst>
                            <p:childTnLst>
                              <p:par>
                                <p:cTn id="48" presetID="53" presetClass="entr" presetSubtype="16" fill="hold" nodeType="afterEffect">
                                  <p:stCondLst>
                                    <p:cond delay="0"/>
                                  </p:stCondLst>
                                  <p:childTnLst>
                                    <p:set>
                                      <p:cBhvr>
                                        <p:cTn id="49" dur="500" fill="hold">
                                          <p:stCondLst>
                                            <p:cond delay="0"/>
                                          </p:stCondLst>
                                        </p:cTn>
                                        <p:tgtEl>
                                          <p:spTgt spid="179"/>
                                        </p:tgtEl>
                                        <p:attrNameLst>
                                          <p:attrName>style.visibility</p:attrName>
                                        </p:attrNameLst>
                                      </p:cBhvr>
                                      <p:to>
                                        <p:strVal val="visible"/>
                                      </p:to>
                                    </p:set>
                                    <p:anim calcmode="lin" valueType="num">
                                      <p:cBhvr>
                                        <p:cTn id="50" dur="500" fill="hold"/>
                                        <p:tgtEl>
                                          <p:spTgt spid="179"/>
                                        </p:tgtEl>
                                        <p:attrNameLst>
                                          <p:attrName>ppt_w</p:attrName>
                                        </p:attrNameLst>
                                      </p:cBhvr>
                                      <p:tavLst>
                                        <p:tav tm="0">
                                          <p:val>
                                            <p:fltVal val="0"/>
                                          </p:val>
                                        </p:tav>
                                        <p:tav tm="100000">
                                          <p:val>
                                            <p:strVal val="#ppt_w*1.2"/>
                                          </p:val>
                                        </p:tav>
                                      </p:tavLst>
                                    </p:anim>
                                    <p:anim calcmode="lin" valueType="num">
                                      <p:cBhvr>
                                        <p:cTn id="51" dur="500" fill="hold"/>
                                        <p:tgtEl>
                                          <p:spTgt spid="179"/>
                                        </p:tgtEl>
                                        <p:attrNameLst>
                                          <p:attrName>ppt_h</p:attrName>
                                        </p:attrNameLst>
                                      </p:cBhvr>
                                      <p:tavLst>
                                        <p:tav tm="0">
                                          <p:val>
                                            <p:fltVal val="0"/>
                                          </p:val>
                                        </p:tav>
                                        <p:tav tm="100000">
                                          <p:val>
                                            <p:strVal val="#ppt_h*1.2"/>
                                          </p:val>
                                        </p:tav>
                                      </p:tavLst>
                                    </p:anim>
                                    <p:animEffect transition="in" filter="fade">
                                      <p:cBhvr>
                                        <p:cTn id="52" dur="500"/>
                                        <p:tgtEl>
                                          <p:spTgt spid="179"/>
                                        </p:tgtEl>
                                      </p:cBhvr>
                                    </p:animEffect>
                                    <p:anim to="" calcmode="lin" valueType="num">
                                      <p:cBhvr>
                                        <p:cTn id="53" dur="500" fill="hold">
                                          <p:stCondLst>
                                            <p:cond delay="0"/>
                                          </p:stCondLst>
                                        </p:cTn>
                                        <p:tgtEl>
                                          <p:spTgt spid="179"/>
                                        </p:tgtEl>
                                        <p:attrNameLst>
                                          <p:attrName>ppt_x</p:attrName>
                                        </p:attrNameLst>
                                      </p:cBhvr>
                                      <p:tavLst>
                                        <p:tav tm="0">
                                          <p:val>
                                            <p:fltVal val="0.64909"/>
                                          </p:val>
                                        </p:tav>
                                        <p:tav tm="100000">
                                          <p:val>
                                            <p:fltVal val="0.7269"/>
                                          </p:val>
                                        </p:tav>
                                      </p:tavLst>
                                    </p:anim>
                                    <p:anim to="" calcmode="lin" valueType="num">
                                      <p:cBhvr>
                                        <p:cTn id="54" dur="500" fill="hold">
                                          <p:stCondLst>
                                            <p:cond delay="0"/>
                                          </p:stCondLst>
                                        </p:cTn>
                                        <p:tgtEl>
                                          <p:spTgt spid="179"/>
                                        </p:tgtEl>
                                        <p:attrNameLst>
                                          <p:attrName>ppt_y</p:attrName>
                                        </p:attrNameLst>
                                      </p:cBhvr>
                                      <p:tavLst>
                                        <p:tav tm="0">
                                          <p:val>
                                            <p:fltVal val="0.5"/>
                                          </p:val>
                                        </p:tav>
                                        <p:tav tm="100000">
                                          <p:val>
                                            <p:fltVal val="0.35709"/>
                                          </p:val>
                                        </p:tav>
                                      </p:tavLst>
                                    </p:anim>
                                  </p:childTnLst>
                                </p:cTn>
                              </p:par>
                              <p:par>
                                <p:cTn id="55" presetID="35" presetClass="path" presetSubtype="0" accel="50000" decel="50000" fill="hold" nodeType="withEffect">
                                  <p:stCondLst>
                                    <p:cond delay="0"/>
                                  </p:stCondLst>
                                  <p:childTnLst>
                                    <p:anim calcmode="lin" valueType="num">
                                      <p:cBhvr additive="base">
                                        <p:cTn id="56" dur="500" fill="hold">
                                          <p:stCondLst>
                                            <p:cond delay="0"/>
                                          </p:stCondLst>
                                        </p:cTn>
                                        <p:tgtEl>
                                          <p:spTgt spid="176"/>
                                        </p:tgtEl>
                                        <p:attrNameLst>
                                          <p:attrName>ppt_x</p:attrName>
                                        </p:attrNameLst>
                                      </p:cBhvr>
                                      <p:tavLst>
                                        <p:tav tm="0">
                                          <p:val>
                                            <p:strVal val="ppt_x"/>
                                          </p:val>
                                        </p:tav>
                                        <p:tav tm="100000">
                                          <p:val>
                                            <p:fltVal val="0.27899"/>
                                          </p:val>
                                        </p:tav>
                                      </p:tavLst>
                                    </p:anim>
                                    <p:anim calcmode="lin" valueType="num">
                                      <p:cBhvr additive="base">
                                        <p:cTn id="57" dur="500" fill="hold">
                                          <p:stCondLst>
                                            <p:cond delay="0"/>
                                          </p:stCondLst>
                                        </p:cTn>
                                        <p:tgtEl>
                                          <p:spTgt spid="176"/>
                                        </p:tgtEl>
                                        <p:attrNameLst>
                                          <p:attrName>ppt_y</p:attrName>
                                        </p:attrNameLst>
                                      </p:cBhvr>
                                      <p:tavLst>
                                        <p:tav tm="0">
                                          <p:val>
                                            <p:strVal val="ppt_y"/>
                                          </p:val>
                                        </p:tav>
                                        <p:tav tm="100000">
                                          <p:val>
                                            <p:fltVal val="0.35709"/>
                                          </p:val>
                                        </p:tav>
                                      </p:tavLst>
                                    </p:anim>
                                    <p:anim calcmode="lin" valueType="num">
                                      <p:cBhvr additive="base">
                                        <p:cTn id="58" dur="500" fill="hold">
                                          <p:stCondLst>
                                            <p:cond delay="0"/>
                                          </p:stCondLst>
                                        </p:cTn>
                                        <p:tgtEl>
                                          <p:spTgt spid="176"/>
                                        </p:tgtEl>
                                        <p:attrNameLst>
                                          <p:attrName>ppt_w</p:attrName>
                                        </p:attrNameLst>
                                      </p:cBhvr>
                                      <p:tavLst>
                                        <p:tav tm="0">
                                          <p:val>
                                            <p:strVal val="ppt_w"/>
                                          </p:val>
                                        </p:tav>
                                        <p:tav tm="100000">
                                          <p:val>
                                            <p:strVal val="#ppt_w"/>
                                          </p:val>
                                        </p:tav>
                                      </p:tavLst>
                                    </p:anim>
                                    <p:anim calcmode="lin" valueType="num">
                                      <p:cBhvr additive="base">
                                        <p:cTn id="59" dur="500" fill="hold">
                                          <p:stCondLst>
                                            <p:cond delay="0"/>
                                          </p:stCondLst>
                                        </p:cTn>
                                        <p:tgtEl>
                                          <p:spTgt spid="176"/>
                                        </p:tgtEl>
                                        <p:attrNameLst>
                                          <p:attrName>ppt_h</p:attrName>
                                        </p:attrNameLst>
                                      </p:cBhvr>
                                      <p:tavLst>
                                        <p:tav tm="0">
                                          <p:val>
                                            <p:strVal val="ppt_h"/>
                                          </p:val>
                                        </p:tav>
                                        <p:tav tm="100000">
                                          <p:val>
                                            <p:strVal val="#ppt_h"/>
                                          </p:val>
                                        </p:tav>
                                      </p:tavLst>
                                    </p:anim>
                                  </p:childTnLst>
                                </p:cTn>
                              </p:par>
                              <p:par>
                                <p:cTn id="60" presetID="35" presetClass="path" presetSubtype="0" accel="50000" decel="50000" fill="hold" nodeType="withEffect">
                                  <p:stCondLst>
                                    <p:cond delay="0"/>
                                  </p:stCondLst>
                                  <p:childTnLst>
                                    <p:anim calcmode="lin" valueType="num">
                                      <p:cBhvr additive="base">
                                        <p:cTn id="61" dur="500" fill="hold">
                                          <p:stCondLst>
                                            <p:cond delay="0"/>
                                          </p:stCondLst>
                                        </p:cTn>
                                        <p:tgtEl>
                                          <p:spTgt spid="177"/>
                                        </p:tgtEl>
                                        <p:attrNameLst>
                                          <p:attrName>ppt_x</p:attrName>
                                        </p:attrNameLst>
                                      </p:cBhvr>
                                      <p:tavLst>
                                        <p:tav tm="0">
                                          <p:val>
                                            <p:strVal val="ppt_x"/>
                                          </p:val>
                                        </p:tav>
                                        <p:tav tm="100000">
                                          <p:val>
                                            <p:fltVal val="0.27899"/>
                                          </p:val>
                                        </p:tav>
                                      </p:tavLst>
                                    </p:anim>
                                    <p:anim calcmode="lin" valueType="num">
                                      <p:cBhvr additive="base">
                                        <p:cTn id="62" dur="500" fill="hold">
                                          <p:stCondLst>
                                            <p:cond delay="0"/>
                                          </p:stCondLst>
                                        </p:cTn>
                                        <p:tgtEl>
                                          <p:spTgt spid="177"/>
                                        </p:tgtEl>
                                        <p:attrNameLst>
                                          <p:attrName>ppt_y</p:attrName>
                                        </p:attrNameLst>
                                      </p:cBhvr>
                                      <p:tavLst>
                                        <p:tav tm="0">
                                          <p:val>
                                            <p:strVal val="ppt_y"/>
                                          </p:val>
                                        </p:tav>
                                        <p:tav tm="100000">
                                          <p:val>
                                            <p:fltVal val="0.57931"/>
                                          </p:val>
                                        </p:tav>
                                      </p:tavLst>
                                    </p:anim>
                                    <p:anim calcmode="lin" valueType="num">
                                      <p:cBhvr additive="base">
                                        <p:cTn id="63" dur="500" fill="hold">
                                          <p:stCondLst>
                                            <p:cond delay="0"/>
                                          </p:stCondLst>
                                        </p:cTn>
                                        <p:tgtEl>
                                          <p:spTgt spid="177"/>
                                        </p:tgtEl>
                                        <p:attrNameLst>
                                          <p:attrName>ppt_w</p:attrName>
                                        </p:attrNameLst>
                                      </p:cBhvr>
                                      <p:tavLst>
                                        <p:tav tm="0">
                                          <p:val>
                                            <p:strVal val="ppt_w"/>
                                          </p:val>
                                        </p:tav>
                                        <p:tav tm="100000">
                                          <p:val>
                                            <p:strVal val="#ppt_w"/>
                                          </p:val>
                                        </p:tav>
                                      </p:tavLst>
                                    </p:anim>
                                    <p:anim calcmode="lin" valueType="num">
                                      <p:cBhvr additive="base">
                                        <p:cTn id="64" dur="500" fill="hold">
                                          <p:stCondLst>
                                            <p:cond delay="0"/>
                                          </p:stCondLst>
                                        </p:cTn>
                                        <p:tgtEl>
                                          <p:spTgt spid="177"/>
                                        </p:tgtEl>
                                        <p:attrNameLst>
                                          <p:attrName>ppt_h</p:attrName>
                                        </p:attrNameLst>
                                      </p:cBhvr>
                                      <p:tavLst>
                                        <p:tav tm="0">
                                          <p:val>
                                            <p:strVal val="ppt_h"/>
                                          </p:val>
                                        </p:tav>
                                        <p:tav tm="100000">
                                          <p:val>
                                            <p:strVal val="#ppt_h"/>
                                          </p:val>
                                        </p:tav>
                                      </p:tavLst>
                                    </p:anim>
                                  </p:childTnLst>
                                </p:cTn>
                              </p:par>
                              <p:par>
                                <p:cTn id="65" presetID="35" presetClass="path" presetSubtype="0" accel="50000" decel="50000" fill="hold" nodeType="withEffect">
                                  <p:stCondLst>
                                    <p:cond delay="0"/>
                                  </p:stCondLst>
                                  <p:childTnLst>
                                    <p:anim calcmode="lin" valueType="num">
                                      <p:cBhvr additive="base">
                                        <p:cTn id="66" dur="500" fill="hold">
                                          <p:stCondLst>
                                            <p:cond delay="0"/>
                                          </p:stCondLst>
                                        </p:cTn>
                                        <p:tgtEl>
                                          <p:spTgt spid="178"/>
                                        </p:tgtEl>
                                        <p:attrNameLst>
                                          <p:attrName>ppt_x</p:attrName>
                                        </p:attrNameLst>
                                      </p:cBhvr>
                                      <p:tavLst>
                                        <p:tav tm="0">
                                          <p:val>
                                            <p:strVal val="ppt_x"/>
                                          </p:val>
                                        </p:tav>
                                        <p:tav tm="100000">
                                          <p:val>
                                            <p:fltVal val="0.27899"/>
                                          </p:val>
                                        </p:tav>
                                      </p:tavLst>
                                    </p:anim>
                                    <p:anim calcmode="lin" valueType="num">
                                      <p:cBhvr additive="base">
                                        <p:cTn id="67" dur="500" fill="hold">
                                          <p:stCondLst>
                                            <p:cond delay="0"/>
                                          </p:stCondLst>
                                        </p:cTn>
                                        <p:tgtEl>
                                          <p:spTgt spid="178"/>
                                        </p:tgtEl>
                                        <p:attrNameLst>
                                          <p:attrName>ppt_y</p:attrName>
                                        </p:attrNameLst>
                                      </p:cBhvr>
                                      <p:tavLst>
                                        <p:tav tm="0">
                                          <p:val>
                                            <p:strVal val="ppt_y"/>
                                          </p:val>
                                        </p:tav>
                                        <p:tav tm="100000">
                                          <p:val>
                                            <p:fltVal val="0.80153"/>
                                          </p:val>
                                        </p:tav>
                                      </p:tavLst>
                                    </p:anim>
                                    <p:anim calcmode="lin" valueType="num">
                                      <p:cBhvr additive="base">
                                        <p:cTn id="68" dur="500" fill="hold">
                                          <p:stCondLst>
                                            <p:cond delay="0"/>
                                          </p:stCondLst>
                                        </p:cTn>
                                        <p:tgtEl>
                                          <p:spTgt spid="178"/>
                                        </p:tgtEl>
                                        <p:attrNameLst>
                                          <p:attrName>ppt_w</p:attrName>
                                        </p:attrNameLst>
                                      </p:cBhvr>
                                      <p:tavLst>
                                        <p:tav tm="0">
                                          <p:val>
                                            <p:strVal val="ppt_w"/>
                                          </p:val>
                                        </p:tav>
                                        <p:tav tm="100000">
                                          <p:val>
                                            <p:strVal val="#ppt_w"/>
                                          </p:val>
                                        </p:tav>
                                      </p:tavLst>
                                    </p:anim>
                                    <p:anim calcmode="lin" valueType="num">
                                      <p:cBhvr additive="base">
                                        <p:cTn id="69" dur="500" fill="hold">
                                          <p:stCondLst>
                                            <p:cond delay="0"/>
                                          </p:stCondLst>
                                        </p:cTn>
                                        <p:tgtEl>
                                          <p:spTgt spid="178"/>
                                        </p:tgtEl>
                                        <p:attrNameLst>
                                          <p:attrName>ppt_h</p:attrName>
                                        </p:attrNameLst>
                                      </p:cBhvr>
                                      <p:tavLst>
                                        <p:tav tm="0">
                                          <p:val>
                                            <p:strVal val="ppt_h"/>
                                          </p:val>
                                        </p:tav>
                                        <p:tav tm="100000">
                                          <p:val>
                                            <p:strVal val="#ppt_h"/>
                                          </p:val>
                                        </p:tav>
                                      </p:tavLst>
                                    </p:anim>
                                  </p:childTnLst>
                                </p:cTn>
                              </p:par>
                            </p:childTnLst>
                          </p:cTn>
                        </p:par>
                        <p:par>
                          <p:cTn id="70" fill="hold">
                            <p:stCondLst>
                              <p:cond delay="2500"/>
                            </p:stCondLst>
                            <p:childTnLst>
                              <p:par>
                                <p:cTn id="71" presetID="53" presetClass="entr" presetSubtype="16" fill="hold" nodeType="afterEffect">
                                  <p:stCondLst>
                                    <p:cond delay="0"/>
                                  </p:stCondLst>
                                  <p:childTnLst>
                                    <p:set>
                                      <p:cBhvr>
                                        <p:cTn id="72" dur="500" fill="hold">
                                          <p:stCondLst>
                                            <p:cond delay="0"/>
                                          </p:stCondLst>
                                        </p:cTn>
                                        <p:tgtEl>
                                          <p:spTgt spid="180"/>
                                        </p:tgtEl>
                                        <p:attrNameLst>
                                          <p:attrName>style.visibility</p:attrName>
                                        </p:attrNameLst>
                                      </p:cBhvr>
                                      <p:to>
                                        <p:strVal val="visible"/>
                                      </p:to>
                                    </p:set>
                                    <p:anim calcmode="lin" valueType="num">
                                      <p:cBhvr>
                                        <p:cTn id="73" dur="500" fill="hold"/>
                                        <p:tgtEl>
                                          <p:spTgt spid="180"/>
                                        </p:tgtEl>
                                        <p:attrNameLst>
                                          <p:attrName>ppt_w</p:attrName>
                                        </p:attrNameLst>
                                      </p:cBhvr>
                                      <p:tavLst>
                                        <p:tav tm="0">
                                          <p:val>
                                            <p:fltVal val="0"/>
                                          </p:val>
                                        </p:tav>
                                        <p:tav tm="100000">
                                          <p:val>
                                            <p:strVal val="#ppt_w*1.2"/>
                                          </p:val>
                                        </p:tav>
                                      </p:tavLst>
                                    </p:anim>
                                    <p:anim calcmode="lin" valueType="num">
                                      <p:cBhvr>
                                        <p:cTn id="74" dur="500" fill="hold"/>
                                        <p:tgtEl>
                                          <p:spTgt spid="180"/>
                                        </p:tgtEl>
                                        <p:attrNameLst>
                                          <p:attrName>ppt_h</p:attrName>
                                        </p:attrNameLst>
                                      </p:cBhvr>
                                      <p:tavLst>
                                        <p:tav tm="0">
                                          <p:val>
                                            <p:fltVal val="0"/>
                                          </p:val>
                                        </p:tav>
                                        <p:tav tm="100000">
                                          <p:val>
                                            <p:strVal val="#ppt_h*1.2"/>
                                          </p:val>
                                        </p:tav>
                                      </p:tavLst>
                                    </p:anim>
                                    <p:animEffect transition="in" filter="fade">
                                      <p:cBhvr>
                                        <p:cTn id="75" dur="500"/>
                                        <p:tgtEl>
                                          <p:spTgt spid="180"/>
                                        </p:tgtEl>
                                      </p:cBhvr>
                                    </p:animEffect>
                                    <p:anim to="" calcmode="lin" valueType="num">
                                      <p:cBhvr>
                                        <p:cTn id="76" dur="500" fill="hold">
                                          <p:stCondLst>
                                            <p:cond delay="0"/>
                                          </p:stCondLst>
                                        </p:cTn>
                                        <p:tgtEl>
                                          <p:spTgt spid="180"/>
                                        </p:tgtEl>
                                        <p:attrNameLst>
                                          <p:attrName>ppt_x</p:attrName>
                                        </p:attrNameLst>
                                      </p:cBhvr>
                                      <p:tavLst>
                                        <p:tav tm="0">
                                          <p:val>
                                            <p:fltVal val="0.64909"/>
                                          </p:val>
                                        </p:tav>
                                        <p:tav tm="100000">
                                          <p:val>
                                            <p:fltVal val="0.7269"/>
                                          </p:val>
                                        </p:tav>
                                      </p:tavLst>
                                    </p:anim>
                                    <p:anim to="" calcmode="lin" valueType="num">
                                      <p:cBhvr>
                                        <p:cTn id="77" dur="500" fill="hold">
                                          <p:stCondLst>
                                            <p:cond delay="0"/>
                                          </p:stCondLst>
                                        </p:cTn>
                                        <p:tgtEl>
                                          <p:spTgt spid="180"/>
                                        </p:tgtEl>
                                        <p:attrNameLst>
                                          <p:attrName>ppt_y</p:attrName>
                                        </p:attrNameLst>
                                      </p:cBhvr>
                                      <p:tavLst>
                                        <p:tav tm="0">
                                          <p:val>
                                            <p:fltVal val="0.5"/>
                                          </p:val>
                                        </p:tav>
                                        <p:tav tm="100000">
                                          <p:val>
                                            <p:fltVal val="0.57931"/>
                                          </p:val>
                                        </p:tav>
                                      </p:tavLst>
                                    </p:anim>
                                  </p:childTnLst>
                                </p:cTn>
                              </p:par>
                              <p:par>
                                <p:cTn id="78" presetID="35" presetClass="path" presetSubtype="0" accel="50000" decel="50000" fill="hold" nodeType="withEffect">
                                  <p:stCondLst>
                                    <p:cond delay="0"/>
                                  </p:stCondLst>
                                  <p:childTnLst>
                                    <p:anim calcmode="lin" valueType="num">
                                      <p:cBhvr additive="base">
                                        <p:cTn id="79" dur="500" fill="hold">
                                          <p:stCondLst>
                                            <p:cond delay="0"/>
                                          </p:stCondLst>
                                        </p:cTn>
                                        <p:tgtEl>
                                          <p:spTgt spid="176"/>
                                        </p:tgtEl>
                                        <p:attrNameLst>
                                          <p:attrName>ppt_x</p:attrName>
                                        </p:attrNameLst>
                                      </p:cBhvr>
                                      <p:tavLst>
                                        <p:tav tm="0">
                                          <p:val>
                                            <p:strVal val="ppt_x"/>
                                          </p:val>
                                        </p:tav>
                                        <p:tav tm="100000">
                                          <p:val>
                                            <p:fltVal val="0.27899"/>
                                          </p:val>
                                        </p:tav>
                                      </p:tavLst>
                                    </p:anim>
                                    <p:anim calcmode="lin" valueType="num">
                                      <p:cBhvr additive="base">
                                        <p:cTn id="80" dur="500" fill="hold">
                                          <p:stCondLst>
                                            <p:cond delay="0"/>
                                          </p:stCondLst>
                                        </p:cTn>
                                        <p:tgtEl>
                                          <p:spTgt spid="176"/>
                                        </p:tgtEl>
                                        <p:attrNameLst>
                                          <p:attrName>ppt_y</p:attrName>
                                        </p:attrNameLst>
                                      </p:cBhvr>
                                      <p:tavLst>
                                        <p:tav tm="0">
                                          <p:val>
                                            <p:strVal val="ppt_y"/>
                                          </p:val>
                                        </p:tav>
                                        <p:tav tm="100000">
                                          <p:val>
                                            <p:fltVal val="0.35709"/>
                                          </p:val>
                                        </p:tav>
                                      </p:tavLst>
                                    </p:anim>
                                    <p:anim calcmode="lin" valueType="num">
                                      <p:cBhvr additive="base">
                                        <p:cTn id="81" dur="500" fill="hold">
                                          <p:stCondLst>
                                            <p:cond delay="0"/>
                                          </p:stCondLst>
                                        </p:cTn>
                                        <p:tgtEl>
                                          <p:spTgt spid="176"/>
                                        </p:tgtEl>
                                        <p:attrNameLst>
                                          <p:attrName>ppt_w</p:attrName>
                                        </p:attrNameLst>
                                      </p:cBhvr>
                                      <p:tavLst>
                                        <p:tav tm="0">
                                          <p:val>
                                            <p:strVal val="ppt_w"/>
                                          </p:val>
                                        </p:tav>
                                        <p:tav tm="100000">
                                          <p:val>
                                            <p:strVal val="#ppt_w"/>
                                          </p:val>
                                        </p:tav>
                                      </p:tavLst>
                                    </p:anim>
                                    <p:anim calcmode="lin" valueType="num">
                                      <p:cBhvr additive="base">
                                        <p:cTn id="82" dur="500" fill="hold">
                                          <p:stCondLst>
                                            <p:cond delay="0"/>
                                          </p:stCondLst>
                                        </p:cTn>
                                        <p:tgtEl>
                                          <p:spTgt spid="176"/>
                                        </p:tgtEl>
                                        <p:attrNameLst>
                                          <p:attrName>ppt_h</p:attrName>
                                        </p:attrNameLst>
                                      </p:cBhvr>
                                      <p:tavLst>
                                        <p:tav tm="0">
                                          <p:val>
                                            <p:strVal val="ppt_h"/>
                                          </p:val>
                                        </p:tav>
                                        <p:tav tm="100000">
                                          <p:val>
                                            <p:strVal val="#ppt_h"/>
                                          </p:val>
                                        </p:tav>
                                      </p:tavLst>
                                    </p:anim>
                                  </p:childTnLst>
                                </p:cTn>
                              </p:par>
                              <p:par>
                                <p:cTn id="83" presetID="35" presetClass="path" presetSubtype="0" accel="50000" decel="50000" fill="hold" nodeType="withEffect">
                                  <p:stCondLst>
                                    <p:cond delay="0"/>
                                  </p:stCondLst>
                                  <p:childTnLst>
                                    <p:anim calcmode="lin" valueType="num">
                                      <p:cBhvr additive="base">
                                        <p:cTn id="84" dur="500" fill="hold">
                                          <p:stCondLst>
                                            <p:cond delay="0"/>
                                          </p:stCondLst>
                                        </p:cTn>
                                        <p:tgtEl>
                                          <p:spTgt spid="177"/>
                                        </p:tgtEl>
                                        <p:attrNameLst>
                                          <p:attrName>ppt_x</p:attrName>
                                        </p:attrNameLst>
                                      </p:cBhvr>
                                      <p:tavLst>
                                        <p:tav tm="0">
                                          <p:val>
                                            <p:strVal val="ppt_x"/>
                                          </p:val>
                                        </p:tav>
                                        <p:tav tm="100000">
                                          <p:val>
                                            <p:fltVal val="0.27899"/>
                                          </p:val>
                                        </p:tav>
                                      </p:tavLst>
                                    </p:anim>
                                    <p:anim calcmode="lin" valueType="num">
                                      <p:cBhvr additive="base">
                                        <p:cTn id="85" dur="500" fill="hold">
                                          <p:stCondLst>
                                            <p:cond delay="0"/>
                                          </p:stCondLst>
                                        </p:cTn>
                                        <p:tgtEl>
                                          <p:spTgt spid="177"/>
                                        </p:tgtEl>
                                        <p:attrNameLst>
                                          <p:attrName>ppt_y</p:attrName>
                                        </p:attrNameLst>
                                      </p:cBhvr>
                                      <p:tavLst>
                                        <p:tav tm="0">
                                          <p:val>
                                            <p:strVal val="ppt_y"/>
                                          </p:val>
                                        </p:tav>
                                        <p:tav tm="100000">
                                          <p:val>
                                            <p:fltVal val="0.57931"/>
                                          </p:val>
                                        </p:tav>
                                      </p:tavLst>
                                    </p:anim>
                                    <p:anim calcmode="lin" valueType="num">
                                      <p:cBhvr additive="base">
                                        <p:cTn id="86" dur="500" fill="hold">
                                          <p:stCondLst>
                                            <p:cond delay="0"/>
                                          </p:stCondLst>
                                        </p:cTn>
                                        <p:tgtEl>
                                          <p:spTgt spid="177"/>
                                        </p:tgtEl>
                                        <p:attrNameLst>
                                          <p:attrName>ppt_w</p:attrName>
                                        </p:attrNameLst>
                                      </p:cBhvr>
                                      <p:tavLst>
                                        <p:tav tm="0">
                                          <p:val>
                                            <p:strVal val="ppt_w"/>
                                          </p:val>
                                        </p:tav>
                                        <p:tav tm="100000">
                                          <p:val>
                                            <p:strVal val="#ppt_w"/>
                                          </p:val>
                                        </p:tav>
                                      </p:tavLst>
                                    </p:anim>
                                    <p:anim calcmode="lin" valueType="num">
                                      <p:cBhvr additive="base">
                                        <p:cTn id="87" dur="500" fill="hold">
                                          <p:stCondLst>
                                            <p:cond delay="0"/>
                                          </p:stCondLst>
                                        </p:cTn>
                                        <p:tgtEl>
                                          <p:spTgt spid="177"/>
                                        </p:tgtEl>
                                        <p:attrNameLst>
                                          <p:attrName>ppt_h</p:attrName>
                                        </p:attrNameLst>
                                      </p:cBhvr>
                                      <p:tavLst>
                                        <p:tav tm="0">
                                          <p:val>
                                            <p:strVal val="ppt_h"/>
                                          </p:val>
                                        </p:tav>
                                        <p:tav tm="100000">
                                          <p:val>
                                            <p:strVal val="#ppt_h"/>
                                          </p:val>
                                        </p:tav>
                                      </p:tavLst>
                                    </p:anim>
                                  </p:childTnLst>
                                </p:cTn>
                              </p:par>
                              <p:par>
                                <p:cTn id="88" presetID="35" presetClass="path" presetSubtype="0" accel="50000" decel="50000" fill="hold" nodeType="withEffect">
                                  <p:stCondLst>
                                    <p:cond delay="0"/>
                                  </p:stCondLst>
                                  <p:childTnLst>
                                    <p:anim calcmode="lin" valueType="num">
                                      <p:cBhvr additive="base">
                                        <p:cTn id="89" dur="500" fill="hold">
                                          <p:stCondLst>
                                            <p:cond delay="0"/>
                                          </p:stCondLst>
                                        </p:cTn>
                                        <p:tgtEl>
                                          <p:spTgt spid="178"/>
                                        </p:tgtEl>
                                        <p:attrNameLst>
                                          <p:attrName>ppt_x</p:attrName>
                                        </p:attrNameLst>
                                      </p:cBhvr>
                                      <p:tavLst>
                                        <p:tav tm="0">
                                          <p:val>
                                            <p:strVal val="ppt_x"/>
                                          </p:val>
                                        </p:tav>
                                        <p:tav tm="100000">
                                          <p:val>
                                            <p:fltVal val="0.27899"/>
                                          </p:val>
                                        </p:tav>
                                      </p:tavLst>
                                    </p:anim>
                                    <p:anim calcmode="lin" valueType="num">
                                      <p:cBhvr additive="base">
                                        <p:cTn id="90" dur="500" fill="hold">
                                          <p:stCondLst>
                                            <p:cond delay="0"/>
                                          </p:stCondLst>
                                        </p:cTn>
                                        <p:tgtEl>
                                          <p:spTgt spid="178"/>
                                        </p:tgtEl>
                                        <p:attrNameLst>
                                          <p:attrName>ppt_y</p:attrName>
                                        </p:attrNameLst>
                                      </p:cBhvr>
                                      <p:tavLst>
                                        <p:tav tm="0">
                                          <p:val>
                                            <p:strVal val="ppt_y"/>
                                          </p:val>
                                        </p:tav>
                                        <p:tav tm="100000">
                                          <p:val>
                                            <p:fltVal val="0.80153"/>
                                          </p:val>
                                        </p:tav>
                                      </p:tavLst>
                                    </p:anim>
                                    <p:anim calcmode="lin" valueType="num">
                                      <p:cBhvr additive="base">
                                        <p:cTn id="91" dur="500" fill="hold">
                                          <p:stCondLst>
                                            <p:cond delay="0"/>
                                          </p:stCondLst>
                                        </p:cTn>
                                        <p:tgtEl>
                                          <p:spTgt spid="178"/>
                                        </p:tgtEl>
                                        <p:attrNameLst>
                                          <p:attrName>ppt_w</p:attrName>
                                        </p:attrNameLst>
                                      </p:cBhvr>
                                      <p:tavLst>
                                        <p:tav tm="0">
                                          <p:val>
                                            <p:strVal val="ppt_w"/>
                                          </p:val>
                                        </p:tav>
                                        <p:tav tm="100000">
                                          <p:val>
                                            <p:strVal val="#ppt_w"/>
                                          </p:val>
                                        </p:tav>
                                      </p:tavLst>
                                    </p:anim>
                                    <p:anim calcmode="lin" valueType="num">
                                      <p:cBhvr additive="base">
                                        <p:cTn id="92" dur="500" fill="hold">
                                          <p:stCondLst>
                                            <p:cond delay="0"/>
                                          </p:stCondLst>
                                        </p:cTn>
                                        <p:tgtEl>
                                          <p:spTgt spid="178"/>
                                        </p:tgtEl>
                                        <p:attrNameLst>
                                          <p:attrName>ppt_h</p:attrName>
                                        </p:attrNameLst>
                                      </p:cBhvr>
                                      <p:tavLst>
                                        <p:tav tm="0">
                                          <p:val>
                                            <p:strVal val="ppt_h"/>
                                          </p:val>
                                        </p:tav>
                                        <p:tav tm="100000">
                                          <p:val>
                                            <p:strVal val="#ppt_h"/>
                                          </p:val>
                                        </p:tav>
                                      </p:tavLst>
                                    </p:anim>
                                  </p:childTnLst>
                                </p:cTn>
                              </p:par>
                              <p:par>
                                <p:cTn id="93" presetID="35" presetClass="path" presetSubtype="0" accel="50000" decel="50000" fill="hold" nodeType="withEffect">
                                  <p:stCondLst>
                                    <p:cond delay="0"/>
                                  </p:stCondLst>
                                  <p:childTnLst>
                                    <p:anim calcmode="lin" valueType="num">
                                      <p:cBhvr additive="base">
                                        <p:cTn id="94" dur="500" fill="hold">
                                          <p:stCondLst>
                                            <p:cond delay="0"/>
                                          </p:stCondLst>
                                        </p:cTn>
                                        <p:tgtEl>
                                          <p:spTgt spid="179"/>
                                        </p:tgtEl>
                                        <p:attrNameLst>
                                          <p:attrName>ppt_x</p:attrName>
                                        </p:attrNameLst>
                                      </p:cBhvr>
                                      <p:tavLst>
                                        <p:tav tm="0">
                                          <p:val>
                                            <p:strVal val="ppt_x"/>
                                          </p:val>
                                        </p:tav>
                                        <p:tav tm="100000">
                                          <p:val>
                                            <p:fltVal val="0.7269"/>
                                          </p:val>
                                        </p:tav>
                                      </p:tavLst>
                                    </p:anim>
                                    <p:anim calcmode="lin" valueType="num">
                                      <p:cBhvr additive="base">
                                        <p:cTn id="95" dur="500" fill="hold">
                                          <p:stCondLst>
                                            <p:cond delay="0"/>
                                          </p:stCondLst>
                                        </p:cTn>
                                        <p:tgtEl>
                                          <p:spTgt spid="179"/>
                                        </p:tgtEl>
                                        <p:attrNameLst>
                                          <p:attrName>ppt_y</p:attrName>
                                        </p:attrNameLst>
                                      </p:cBhvr>
                                      <p:tavLst>
                                        <p:tav tm="0">
                                          <p:val>
                                            <p:strVal val="ppt_y"/>
                                          </p:val>
                                        </p:tav>
                                        <p:tav tm="100000">
                                          <p:val>
                                            <p:fltVal val="0.35709"/>
                                          </p:val>
                                        </p:tav>
                                      </p:tavLst>
                                    </p:anim>
                                    <p:anim calcmode="lin" valueType="num">
                                      <p:cBhvr additive="base">
                                        <p:cTn id="96" dur="500" fill="hold">
                                          <p:stCondLst>
                                            <p:cond delay="0"/>
                                          </p:stCondLst>
                                        </p:cTn>
                                        <p:tgtEl>
                                          <p:spTgt spid="179"/>
                                        </p:tgtEl>
                                        <p:attrNameLst>
                                          <p:attrName>ppt_w</p:attrName>
                                        </p:attrNameLst>
                                      </p:cBhvr>
                                      <p:tavLst>
                                        <p:tav tm="0">
                                          <p:val>
                                            <p:strVal val="ppt_w"/>
                                          </p:val>
                                        </p:tav>
                                        <p:tav tm="100000">
                                          <p:val>
                                            <p:strVal val="#ppt_w"/>
                                          </p:val>
                                        </p:tav>
                                      </p:tavLst>
                                    </p:anim>
                                    <p:anim calcmode="lin" valueType="num">
                                      <p:cBhvr additive="base">
                                        <p:cTn id="97" dur="500" fill="hold">
                                          <p:stCondLst>
                                            <p:cond delay="0"/>
                                          </p:stCondLst>
                                        </p:cTn>
                                        <p:tgtEl>
                                          <p:spTgt spid="179"/>
                                        </p:tgtEl>
                                        <p:attrNameLst>
                                          <p:attrName>ppt_h</p:attrName>
                                        </p:attrNameLst>
                                      </p:cBhvr>
                                      <p:tavLst>
                                        <p:tav tm="0">
                                          <p:val>
                                            <p:strVal val="ppt_h"/>
                                          </p:val>
                                        </p:tav>
                                        <p:tav tm="100000">
                                          <p:val>
                                            <p:strVal val="#ppt_h"/>
                                          </p:val>
                                        </p:tav>
                                      </p:tavLst>
                                    </p:anim>
                                  </p:childTnLst>
                                </p:cTn>
                              </p:par>
                            </p:childTnLst>
                          </p:cTn>
                        </p:par>
                        <p:par>
                          <p:cTn id="98" fill="hold">
                            <p:stCondLst>
                              <p:cond delay="3000"/>
                            </p:stCondLst>
                            <p:childTnLst>
                              <p:par>
                                <p:cTn id="99" presetID="53" presetClass="entr" presetSubtype="16" fill="hold" nodeType="afterEffect">
                                  <p:stCondLst>
                                    <p:cond delay="0"/>
                                  </p:stCondLst>
                                  <p:childTnLst>
                                    <p:set>
                                      <p:cBhvr>
                                        <p:cTn id="100" dur="500" fill="hold">
                                          <p:stCondLst>
                                            <p:cond delay="0"/>
                                          </p:stCondLst>
                                        </p:cTn>
                                        <p:tgtEl>
                                          <p:spTgt spid="181"/>
                                        </p:tgtEl>
                                        <p:attrNameLst>
                                          <p:attrName>style.visibility</p:attrName>
                                        </p:attrNameLst>
                                      </p:cBhvr>
                                      <p:to>
                                        <p:strVal val="visible"/>
                                      </p:to>
                                    </p:set>
                                    <p:anim calcmode="lin" valueType="num">
                                      <p:cBhvr>
                                        <p:cTn id="101" dur="500" fill="hold"/>
                                        <p:tgtEl>
                                          <p:spTgt spid="181"/>
                                        </p:tgtEl>
                                        <p:attrNameLst>
                                          <p:attrName>ppt_w</p:attrName>
                                        </p:attrNameLst>
                                      </p:cBhvr>
                                      <p:tavLst>
                                        <p:tav tm="0">
                                          <p:val>
                                            <p:fltVal val="0"/>
                                          </p:val>
                                        </p:tav>
                                        <p:tav tm="100000">
                                          <p:val>
                                            <p:strVal val="#ppt_w*1.2"/>
                                          </p:val>
                                        </p:tav>
                                      </p:tavLst>
                                    </p:anim>
                                    <p:anim calcmode="lin" valueType="num">
                                      <p:cBhvr>
                                        <p:cTn id="102" dur="500" fill="hold"/>
                                        <p:tgtEl>
                                          <p:spTgt spid="181"/>
                                        </p:tgtEl>
                                        <p:attrNameLst>
                                          <p:attrName>ppt_h</p:attrName>
                                        </p:attrNameLst>
                                      </p:cBhvr>
                                      <p:tavLst>
                                        <p:tav tm="0">
                                          <p:val>
                                            <p:fltVal val="0"/>
                                          </p:val>
                                        </p:tav>
                                        <p:tav tm="100000">
                                          <p:val>
                                            <p:strVal val="#ppt_h*1.2"/>
                                          </p:val>
                                        </p:tav>
                                      </p:tavLst>
                                    </p:anim>
                                    <p:animEffect transition="in" filter="fade">
                                      <p:cBhvr>
                                        <p:cTn id="103" dur="500"/>
                                        <p:tgtEl>
                                          <p:spTgt spid="181"/>
                                        </p:tgtEl>
                                      </p:cBhvr>
                                    </p:animEffect>
                                    <p:anim to="" calcmode="lin" valueType="num">
                                      <p:cBhvr>
                                        <p:cTn id="104" dur="500" fill="hold">
                                          <p:stCondLst>
                                            <p:cond delay="0"/>
                                          </p:stCondLst>
                                        </p:cTn>
                                        <p:tgtEl>
                                          <p:spTgt spid="181"/>
                                        </p:tgtEl>
                                        <p:attrNameLst>
                                          <p:attrName>ppt_x</p:attrName>
                                        </p:attrNameLst>
                                      </p:cBhvr>
                                      <p:tavLst>
                                        <p:tav tm="0">
                                          <p:val>
                                            <p:fltVal val="0.64909"/>
                                          </p:val>
                                        </p:tav>
                                        <p:tav tm="100000">
                                          <p:val>
                                            <p:fltVal val="0.7269"/>
                                          </p:val>
                                        </p:tav>
                                      </p:tavLst>
                                    </p:anim>
                                    <p:anim to="" calcmode="lin" valueType="num">
                                      <p:cBhvr>
                                        <p:cTn id="105" dur="500" fill="hold">
                                          <p:stCondLst>
                                            <p:cond delay="0"/>
                                          </p:stCondLst>
                                        </p:cTn>
                                        <p:tgtEl>
                                          <p:spTgt spid="181"/>
                                        </p:tgtEl>
                                        <p:attrNameLst>
                                          <p:attrName>ppt_y</p:attrName>
                                        </p:attrNameLst>
                                      </p:cBhvr>
                                      <p:tavLst>
                                        <p:tav tm="0">
                                          <p:val>
                                            <p:fltVal val="0.5"/>
                                          </p:val>
                                        </p:tav>
                                        <p:tav tm="100000">
                                          <p:val>
                                            <p:fltVal val="0.80153"/>
                                          </p:val>
                                        </p:tav>
                                      </p:tavLst>
                                    </p:anim>
                                  </p:childTnLst>
                                </p:cTn>
                              </p:par>
                              <p:par>
                                <p:cTn id="106" presetID="35" presetClass="path" presetSubtype="0" accel="50000" decel="50000" fill="hold" nodeType="withEffect">
                                  <p:stCondLst>
                                    <p:cond delay="0"/>
                                  </p:stCondLst>
                                  <p:childTnLst>
                                    <p:anim calcmode="lin" valueType="num">
                                      <p:cBhvr additive="base">
                                        <p:cTn id="107" dur="500" fill="hold">
                                          <p:stCondLst>
                                            <p:cond delay="0"/>
                                          </p:stCondLst>
                                        </p:cTn>
                                        <p:tgtEl>
                                          <p:spTgt spid="176"/>
                                        </p:tgtEl>
                                        <p:attrNameLst>
                                          <p:attrName>ppt_x</p:attrName>
                                        </p:attrNameLst>
                                      </p:cBhvr>
                                      <p:tavLst>
                                        <p:tav tm="0">
                                          <p:val>
                                            <p:strVal val="ppt_x"/>
                                          </p:val>
                                        </p:tav>
                                        <p:tav tm="100000">
                                          <p:val>
                                            <p:fltVal val="0.27899"/>
                                          </p:val>
                                        </p:tav>
                                      </p:tavLst>
                                    </p:anim>
                                    <p:anim calcmode="lin" valueType="num">
                                      <p:cBhvr additive="base">
                                        <p:cTn id="108" dur="500" fill="hold">
                                          <p:stCondLst>
                                            <p:cond delay="0"/>
                                          </p:stCondLst>
                                        </p:cTn>
                                        <p:tgtEl>
                                          <p:spTgt spid="176"/>
                                        </p:tgtEl>
                                        <p:attrNameLst>
                                          <p:attrName>ppt_y</p:attrName>
                                        </p:attrNameLst>
                                      </p:cBhvr>
                                      <p:tavLst>
                                        <p:tav tm="0">
                                          <p:val>
                                            <p:strVal val="ppt_y"/>
                                          </p:val>
                                        </p:tav>
                                        <p:tav tm="100000">
                                          <p:val>
                                            <p:fltVal val="0.35709"/>
                                          </p:val>
                                        </p:tav>
                                      </p:tavLst>
                                    </p:anim>
                                    <p:anim calcmode="lin" valueType="num">
                                      <p:cBhvr additive="base">
                                        <p:cTn id="109" dur="500" fill="hold">
                                          <p:stCondLst>
                                            <p:cond delay="0"/>
                                          </p:stCondLst>
                                        </p:cTn>
                                        <p:tgtEl>
                                          <p:spTgt spid="176"/>
                                        </p:tgtEl>
                                        <p:attrNameLst>
                                          <p:attrName>ppt_w</p:attrName>
                                        </p:attrNameLst>
                                      </p:cBhvr>
                                      <p:tavLst>
                                        <p:tav tm="0">
                                          <p:val>
                                            <p:strVal val="ppt_w"/>
                                          </p:val>
                                        </p:tav>
                                        <p:tav tm="100000">
                                          <p:val>
                                            <p:strVal val="#ppt_w"/>
                                          </p:val>
                                        </p:tav>
                                      </p:tavLst>
                                    </p:anim>
                                    <p:anim calcmode="lin" valueType="num">
                                      <p:cBhvr additive="base">
                                        <p:cTn id="110" dur="500" fill="hold">
                                          <p:stCondLst>
                                            <p:cond delay="0"/>
                                          </p:stCondLst>
                                        </p:cTn>
                                        <p:tgtEl>
                                          <p:spTgt spid="176"/>
                                        </p:tgtEl>
                                        <p:attrNameLst>
                                          <p:attrName>ppt_h</p:attrName>
                                        </p:attrNameLst>
                                      </p:cBhvr>
                                      <p:tavLst>
                                        <p:tav tm="0">
                                          <p:val>
                                            <p:strVal val="ppt_h"/>
                                          </p:val>
                                        </p:tav>
                                        <p:tav tm="100000">
                                          <p:val>
                                            <p:strVal val="#ppt_h"/>
                                          </p:val>
                                        </p:tav>
                                      </p:tavLst>
                                    </p:anim>
                                  </p:childTnLst>
                                </p:cTn>
                              </p:par>
                              <p:par>
                                <p:cTn id="111" presetID="35" presetClass="path" presetSubtype="0" accel="50000" decel="50000" fill="hold" nodeType="withEffect">
                                  <p:stCondLst>
                                    <p:cond delay="0"/>
                                  </p:stCondLst>
                                  <p:childTnLst>
                                    <p:anim calcmode="lin" valueType="num">
                                      <p:cBhvr additive="base">
                                        <p:cTn id="112" dur="500" fill="hold">
                                          <p:stCondLst>
                                            <p:cond delay="0"/>
                                          </p:stCondLst>
                                        </p:cTn>
                                        <p:tgtEl>
                                          <p:spTgt spid="177"/>
                                        </p:tgtEl>
                                        <p:attrNameLst>
                                          <p:attrName>ppt_x</p:attrName>
                                        </p:attrNameLst>
                                      </p:cBhvr>
                                      <p:tavLst>
                                        <p:tav tm="0">
                                          <p:val>
                                            <p:strVal val="ppt_x"/>
                                          </p:val>
                                        </p:tav>
                                        <p:tav tm="100000">
                                          <p:val>
                                            <p:fltVal val="0.27899"/>
                                          </p:val>
                                        </p:tav>
                                      </p:tavLst>
                                    </p:anim>
                                    <p:anim calcmode="lin" valueType="num">
                                      <p:cBhvr additive="base">
                                        <p:cTn id="113" dur="500" fill="hold">
                                          <p:stCondLst>
                                            <p:cond delay="0"/>
                                          </p:stCondLst>
                                        </p:cTn>
                                        <p:tgtEl>
                                          <p:spTgt spid="177"/>
                                        </p:tgtEl>
                                        <p:attrNameLst>
                                          <p:attrName>ppt_y</p:attrName>
                                        </p:attrNameLst>
                                      </p:cBhvr>
                                      <p:tavLst>
                                        <p:tav tm="0">
                                          <p:val>
                                            <p:strVal val="ppt_y"/>
                                          </p:val>
                                        </p:tav>
                                        <p:tav tm="100000">
                                          <p:val>
                                            <p:fltVal val="0.57931"/>
                                          </p:val>
                                        </p:tav>
                                      </p:tavLst>
                                    </p:anim>
                                    <p:anim calcmode="lin" valueType="num">
                                      <p:cBhvr additive="base">
                                        <p:cTn id="114" dur="500" fill="hold">
                                          <p:stCondLst>
                                            <p:cond delay="0"/>
                                          </p:stCondLst>
                                        </p:cTn>
                                        <p:tgtEl>
                                          <p:spTgt spid="177"/>
                                        </p:tgtEl>
                                        <p:attrNameLst>
                                          <p:attrName>ppt_w</p:attrName>
                                        </p:attrNameLst>
                                      </p:cBhvr>
                                      <p:tavLst>
                                        <p:tav tm="0">
                                          <p:val>
                                            <p:strVal val="ppt_w"/>
                                          </p:val>
                                        </p:tav>
                                        <p:tav tm="100000">
                                          <p:val>
                                            <p:strVal val="#ppt_w"/>
                                          </p:val>
                                        </p:tav>
                                      </p:tavLst>
                                    </p:anim>
                                    <p:anim calcmode="lin" valueType="num">
                                      <p:cBhvr additive="base">
                                        <p:cTn id="115" dur="500" fill="hold">
                                          <p:stCondLst>
                                            <p:cond delay="0"/>
                                          </p:stCondLst>
                                        </p:cTn>
                                        <p:tgtEl>
                                          <p:spTgt spid="177"/>
                                        </p:tgtEl>
                                        <p:attrNameLst>
                                          <p:attrName>ppt_h</p:attrName>
                                        </p:attrNameLst>
                                      </p:cBhvr>
                                      <p:tavLst>
                                        <p:tav tm="0">
                                          <p:val>
                                            <p:strVal val="ppt_h"/>
                                          </p:val>
                                        </p:tav>
                                        <p:tav tm="100000">
                                          <p:val>
                                            <p:strVal val="#ppt_h"/>
                                          </p:val>
                                        </p:tav>
                                      </p:tavLst>
                                    </p:anim>
                                  </p:childTnLst>
                                </p:cTn>
                              </p:par>
                              <p:par>
                                <p:cTn id="116" presetID="35" presetClass="path" presetSubtype="0" accel="50000" decel="50000" fill="hold" nodeType="withEffect">
                                  <p:stCondLst>
                                    <p:cond delay="0"/>
                                  </p:stCondLst>
                                  <p:childTnLst>
                                    <p:anim calcmode="lin" valueType="num">
                                      <p:cBhvr additive="base">
                                        <p:cTn id="117" dur="500" fill="hold">
                                          <p:stCondLst>
                                            <p:cond delay="0"/>
                                          </p:stCondLst>
                                        </p:cTn>
                                        <p:tgtEl>
                                          <p:spTgt spid="178"/>
                                        </p:tgtEl>
                                        <p:attrNameLst>
                                          <p:attrName>ppt_x</p:attrName>
                                        </p:attrNameLst>
                                      </p:cBhvr>
                                      <p:tavLst>
                                        <p:tav tm="0">
                                          <p:val>
                                            <p:strVal val="ppt_x"/>
                                          </p:val>
                                        </p:tav>
                                        <p:tav tm="100000">
                                          <p:val>
                                            <p:fltVal val="0.27899"/>
                                          </p:val>
                                        </p:tav>
                                      </p:tavLst>
                                    </p:anim>
                                    <p:anim calcmode="lin" valueType="num">
                                      <p:cBhvr additive="base">
                                        <p:cTn id="118" dur="500" fill="hold">
                                          <p:stCondLst>
                                            <p:cond delay="0"/>
                                          </p:stCondLst>
                                        </p:cTn>
                                        <p:tgtEl>
                                          <p:spTgt spid="178"/>
                                        </p:tgtEl>
                                        <p:attrNameLst>
                                          <p:attrName>ppt_y</p:attrName>
                                        </p:attrNameLst>
                                      </p:cBhvr>
                                      <p:tavLst>
                                        <p:tav tm="0">
                                          <p:val>
                                            <p:strVal val="ppt_y"/>
                                          </p:val>
                                        </p:tav>
                                        <p:tav tm="100000">
                                          <p:val>
                                            <p:fltVal val="0.80153"/>
                                          </p:val>
                                        </p:tav>
                                      </p:tavLst>
                                    </p:anim>
                                    <p:anim calcmode="lin" valueType="num">
                                      <p:cBhvr additive="base">
                                        <p:cTn id="119" dur="500" fill="hold">
                                          <p:stCondLst>
                                            <p:cond delay="0"/>
                                          </p:stCondLst>
                                        </p:cTn>
                                        <p:tgtEl>
                                          <p:spTgt spid="178"/>
                                        </p:tgtEl>
                                        <p:attrNameLst>
                                          <p:attrName>ppt_w</p:attrName>
                                        </p:attrNameLst>
                                      </p:cBhvr>
                                      <p:tavLst>
                                        <p:tav tm="0">
                                          <p:val>
                                            <p:strVal val="ppt_w"/>
                                          </p:val>
                                        </p:tav>
                                        <p:tav tm="100000">
                                          <p:val>
                                            <p:strVal val="#ppt_w"/>
                                          </p:val>
                                        </p:tav>
                                      </p:tavLst>
                                    </p:anim>
                                    <p:anim calcmode="lin" valueType="num">
                                      <p:cBhvr additive="base">
                                        <p:cTn id="120" dur="500" fill="hold">
                                          <p:stCondLst>
                                            <p:cond delay="0"/>
                                          </p:stCondLst>
                                        </p:cTn>
                                        <p:tgtEl>
                                          <p:spTgt spid="178"/>
                                        </p:tgtEl>
                                        <p:attrNameLst>
                                          <p:attrName>ppt_h</p:attrName>
                                        </p:attrNameLst>
                                      </p:cBhvr>
                                      <p:tavLst>
                                        <p:tav tm="0">
                                          <p:val>
                                            <p:strVal val="ppt_h"/>
                                          </p:val>
                                        </p:tav>
                                        <p:tav tm="100000">
                                          <p:val>
                                            <p:strVal val="#ppt_h"/>
                                          </p:val>
                                        </p:tav>
                                      </p:tavLst>
                                    </p:anim>
                                  </p:childTnLst>
                                </p:cTn>
                              </p:par>
                              <p:par>
                                <p:cTn id="121" presetID="35" presetClass="path" presetSubtype="0" accel="50000" decel="50000" fill="hold" nodeType="withEffect">
                                  <p:stCondLst>
                                    <p:cond delay="0"/>
                                  </p:stCondLst>
                                  <p:childTnLst>
                                    <p:anim calcmode="lin" valueType="num">
                                      <p:cBhvr additive="base">
                                        <p:cTn id="122" dur="500" fill="hold">
                                          <p:stCondLst>
                                            <p:cond delay="0"/>
                                          </p:stCondLst>
                                        </p:cTn>
                                        <p:tgtEl>
                                          <p:spTgt spid="179"/>
                                        </p:tgtEl>
                                        <p:attrNameLst>
                                          <p:attrName>ppt_x</p:attrName>
                                        </p:attrNameLst>
                                      </p:cBhvr>
                                      <p:tavLst>
                                        <p:tav tm="0">
                                          <p:val>
                                            <p:strVal val="ppt_x"/>
                                          </p:val>
                                        </p:tav>
                                        <p:tav tm="100000">
                                          <p:val>
                                            <p:fltVal val="0.7269"/>
                                          </p:val>
                                        </p:tav>
                                      </p:tavLst>
                                    </p:anim>
                                    <p:anim calcmode="lin" valueType="num">
                                      <p:cBhvr additive="base">
                                        <p:cTn id="123" dur="500" fill="hold">
                                          <p:stCondLst>
                                            <p:cond delay="0"/>
                                          </p:stCondLst>
                                        </p:cTn>
                                        <p:tgtEl>
                                          <p:spTgt spid="179"/>
                                        </p:tgtEl>
                                        <p:attrNameLst>
                                          <p:attrName>ppt_y</p:attrName>
                                        </p:attrNameLst>
                                      </p:cBhvr>
                                      <p:tavLst>
                                        <p:tav tm="0">
                                          <p:val>
                                            <p:strVal val="ppt_y"/>
                                          </p:val>
                                        </p:tav>
                                        <p:tav tm="100000">
                                          <p:val>
                                            <p:fltVal val="0.35709"/>
                                          </p:val>
                                        </p:tav>
                                      </p:tavLst>
                                    </p:anim>
                                    <p:anim calcmode="lin" valueType="num">
                                      <p:cBhvr additive="base">
                                        <p:cTn id="124" dur="500" fill="hold">
                                          <p:stCondLst>
                                            <p:cond delay="0"/>
                                          </p:stCondLst>
                                        </p:cTn>
                                        <p:tgtEl>
                                          <p:spTgt spid="179"/>
                                        </p:tgtEl>
                                        <p:attrNameLst>
                                          <p:attrName>ppt_w</p:attrName>
                                        </p:attrNameLst>
                                      </p:cBhvr>
                                      <p:tavLst>
                                        <p:tav tm="0">
                                          <p:val>
                                            <p:strVal val="ppt_w"/>
                                          </p:val>
                                        </p:tav>
                                        <p:tav tm="100000">
                                          <p:val>
                                            <p:strVal val="#ppt_w"/>
                                          </p:val>
                                        </p:tav>
                                      </p:tavLst>
                                    </p:anim>
                                    <p:anim calcmode="lin" valueType="num">
                                      <p:cBhvr additive="base">
                                        <p:cTn id="125" dur="500" fill="hold">
                                          <p:stCondLst>
                                            <p:cond delay="0"/>
                                          </p:stCondLst>
                                        </p:cTn>
                                        <p:tgtEl>
                                          <p:spTgt spid="179"/>
                                        </p:tgtEl>
                                        <p:attrNameLst>
                                          <p:attrName>ppt_h</p:attrName>
                                        </p:attrNameLst>
                                      </p:cBhvr>
                                      <p:tavLst>
                                        <p:tav tm="0">
                                          <p:val>
                                            <p:strVal val="ppt_h"/>
                                          </p:val>
                                        </p:tav>
                                        <p:tav tm="100000">
                                          <p:val>
                                            <p:strVal val="#ppt_h"/>
                                          </p:val>
                                        </p:tav>
                                      </p:tavLst>
                                    </p:anim>
                                  </p:childTnLst>
                                </p:cTn>
                              </p:par>
                              <p:par>
                                <p:cTn id="126" presetID="35" presetClass="path" presetSubtype="0" accel="50000" decel="50000" fill="hold" nodeType="withEffect">
                                  <p:stCondLst>
                                    <p:cond delay="0"/>
                                  </p:stCondLst>
                                  <p:childTnLst>
                                    <p:anim calcmode="lin" valueType="num">
                                      <p:cBhvr additive="base">
                                        <p:cTn id="127" dur="500" fill="hold">
                                          <p:stCondLst>
                                            <p:cond delay="0"/>
                                          </p:stCondLst>
                                        </p:cTn>
                                        <p:tgtEl>
                                          <p:spTgt spid="180"/>
                                        </p:tgtEl>
                                        <p:attrNameLst>
                                          <p:attrName>ppt_x</p:attrName>
                                        </p:attrNameLst>
                                      </p:cBhvr>
                                      <p:tavLst>
                                        <p:tav tm="0">
                                          <p:val>
                                            <p:strVal val="ppt_x"/>
                                          </p:val>
                                        </p:tav>
                                        <p:tav tm="100000">
                                          <p:val>
                                            <p:fltVal val="0.7269"/>
                                          </p:val>
                                        </p:tav>
                                      </p:tavLst>
                                    </p:anim>
                                    <p:anim calcmode="lin" valueType="num">
                                      <p:cBhvr additive="base">
                                        <p:cTn id="128" dur="500" fill="hold">
                                          <p:stCondLst>
                                            <p:cond delay="0"/>
                                          </p:stCondLst>
                                        </p:cTn>
                                        <p:tgtEl>
                                          <p:spTgt spid="180"/>
                                        </p:tgtEl>
                                        <p:attrNameLst>
                                          <p:attrName>ppt_y</p:attrName>
                                        </p:attrNameLst>
                                      </p:cBhvr>
                                      <p:tavLst>
                                        <p:tav tm="0">
                                          <p:val>
                                            <p:strVal val="ppt_y"/>
                                          </p:val>
                                        </p:tav>
                                        <p:tav tm="100000">
                                          <p:val>
                                            <p:fltVal val="0.57931"/>
                                          </p:val>
                                        </p:tav>
                                      </p:tavLst>
                                    </p:anim>
                                    <p:anim calcmode="lin" valueType="num">
                                      <p:cBhvr additive="base">
                                        <p:cTn id="129" dur="500" fill="hold">
                                          <p:stCondLst>
                                            <p:cond delay="0"/>
                                          </p:stCondLst>
                                        </p:cTn>
                                        <p:tgtEl>
                                          <p:spTgt spid="180"/>
                                        </p:tgtEl>
                                        <p:attrNameLst>
                                          <p:attrName>ppt_w</p:attrName>
                                        </p:attrNameLst>
                                      </p:cBhvr>
                                      <p:tavLst>
                                        <p:tav tm="0">
                                          <p:val>
                                            <p:strVal val="ppt_w"/>
                                          </p:val>
                                        </p:tav>
                                        <p:tav tm="100000">
                                          <p:val>
                                            <p:strVal val="#ppt_w"/>
                                          </p:val>
                                        </p:tav>
                                      </p:tavLst>
                                    </p:anim>
                                    <p:anim calcmode="lin" valueType="num">
                                      <p:cBhvr additive="base">
                                        <p:cTn id="130" dur="500" fill="hold">
                                          <p:stCondLst>
                                            <p:cond delay="0"/>
                                          </p:stCondLst>
                                        </p:cTn>
                                        <p:tgtEl>
                                          <p:spTgt spid="180"/>
                                        </p:tgtEl>
                                        <p:attrNameLst>
                                          <p:attrName>ppt_h</p:attrName>
                                        </p:attrNameLst>
                                      </p:cBhvr>
                                      <p:tavLst>
                                        <p:tav tm="0">
                                          <p:val>
                                            <p:strVal val="ppt_h"/>
                                          </p:val>
                                        </p:tav>
                                        <p:tav tm="100000">
                                          <p:val>
                                            <p:strVal val="#ppt_h"/>
                                          </p:val>
                                        </p:tav>
                                      </p:tavLst>
                                    </p:anim>
                                  </p:childTnLst>
                                </p:cTn>
                              </p:par>
                            </p:childTnLst>
                          </p:cTn>
                        </p:par>
                        <p:par>
                          <p:cTn id="131" fill="hold">
                            <p:stCondLst>
                              <p:cond delay="3500"/>
                            </p:stCondLst>
                            <p:childTnLst>
                              <p:par>
                                <p:cTn id="132" presetID="35" presetClass="path" presetSubtype="0" accel="50000" decel="50000" fill="hold" nodeType="afterEffect">
                                  <p:stCondLst>
                                    <p:cond delay="0"/>
                                  </p:stCondLst>
                                  <p:childTnLst>
                                    <p:anim calcmode="lin" valueType="num">
                                      <p:cBhvr additive="base">
                                        <p:cTn id="133" dur="250" fill="hold">
                                          <p:stCondLst>
                                            <p:cond delay="0"/>
                                          </p:stCondLst>
                                        </p:cTn>
                                        <p:tgtEl>
                                          <p:spTgt spid="181"/>
                                        </p:tgtEl>
                                        <p:attrNameLst>
                                          <p:attrName>ppt_x</p:attrName>
                                        </p:attrNameLst>
                                      </p:cBhvr>
                                      <p:tavLst>
                                        <p:tav tm="0">
                                          <p:val>
                                            <p:strVal val="ppt_x"/>
                                          </p:val>
                                        </p:tav>
                                        <p:tav tm="100000">
                                          <p:val>
                                            <p:fltVal val="0.7269"/>
                                          </p:val>
                                        </p:tav>
                                      </p:tavLst>
                                    </p:anim>
                                    <p:anim calcmode="lin" valueType="num">
                                      <p:cBhvr additive="base">
                                        <p:cTn id="134" dur="250" fill="hold">
                                          <p:stCondLst>
                                            <p:cond delay="0"/>
                                          </p:stCondLst>
                                        </p:cTn>
                                        <p:tgtEl>
                                          <p:spTgt spid="181"/>
                                        </p:tgtEl>
                                        <p:attrNameLst>
                                          <p:attrName>ppt_y</p:attrName>
                                        </p:attrNameLst>
                                      </p:cBhvr>
                                      <p:tavLst>
                                        <p:tav tm="0">
                                          <p:val>
                                            <p:strVal val="ppt_y"/>
                                          </p:val>
                                        </p:tav>
                                        <p:tav tm="100000">
                                          <p:val>
                                            <p:fltVal val="0.80153"/>
                                          </p:val>
                                        </p:tav>
                                      </p:tavLst>
                                    </p:anim>
                                    <p:anim calcmode="lin" valueType="num">
                                      <p:cBhvr additive="base">
                                        <p:cTn id="135" dur="250" fill="hold">
                                          <p:stCondLst>
                                            <p:cond delay="0"/>
                                          </p:stCondLst>
                                        </p:cTn>
                                        <p:tgtEl>
                                          <p:spTgt spid="181"/>
                                        </p:tgtEl>
                                        <p:attrNameLst>
                                          <p:attrName>ppt_w</p:attrName>
                                        </p:attrNameLst>
                                      </p:cBhvr>
                                      <p:tavLst>
                                        <p:tav tm="0">
                                          <p:val>
                                            <p:strVal val="ppt_w"/>
                                          </p:val>
                                        </p:tav>
                                        <p:tav tm="100000">
                                          <p:val>
                                            <p:strVal val="#ppt_w"/>
                                          </p:val>
                                        </p:tav>
                                      </p:tavLst>
                                    </p:anim>
                                    <p:anim calcmode="lin" valueType="num">
                                      <p:cBhvr additive="base">
                                        <p:cTn id="136" dur="250" fill="hold">
                                          <p:stCondLst>
                                            <p:cond delay="0"/>
                                          </p:stCondLst>
                                        </p:cTn>
                                        <p:tgtEl>
                                          <p:spTgt spid="18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136" r="-1136"/>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2E404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76530" y="1081405"/>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dirty="0">
                <a:solidFill>
                  <a:srgbClr val="D4AF3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a:t>
            </a:r>
            <a:endParaRPr lang="en-US" sz="12000" dirty="0"/>
          </a:p>
        </p:txBody>
      </p:sp>
      <p:sp>
        <p:nvSpPr>
          <p:cNvPr id="4" name="AutoShape 4"/>
          <p:cNvSpPr/>
          <p:nvPr/>
        </p:nvSpPr>
        <p:spPr>
          <a:xfrm>
            <a:off x="3823335" y="3993515"/>
            <a:ext cx="4544695"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5400" b="0" i="0" u="none" strike="noStrike" spc="400" dirty="0">
                <a:solidFill>
                  <a:srgbClr val="FFFFFF"/>
                </a:solidFill>
                <a:latin typeface="+mj-ea"/>
                <a:ea typeface="+mj-ea"/>
                <a:cs typeface="Noto Serif SC" panose="02020200000000000000" charset="-122"/>
                <a:sym typeface="Noto Serif SC" panose="02020200000000000000" charset="-122"/>
              </a:rPr>
              <a:t>项目概述</a:t>
            </a:r>
          </a:p>
        </p:txBody>
      </p:sp>
      <p:sp>
        <p:nvSpPr>
          <p:cNvPr id="5" name="AutoShape 5"/>
          <p:cNvSpPr/>
          <p:nvPr/>
        </p:nvSpPr>
        <p:spPr>
          <a:xfrm>
            <a:off x="5125720" y="4940300"/>
            <a:ext cx="2193925" cy="36830"/>
          </a:xfrm>
          <a:custGeom>
            <a:avLst/>
            <a:gdLst>
              <a:gd name="connsiteX0" fmla="*/ 0 w 3455"/>
              <a:gd name="connsiteY0" fmla="*/ 0 h 58"/>
              <a:gd name="connsiteX1" fmla="*/ 3455 w 3455"/>
              <a:gd name="connsiteY1" fmla="*/ 2 h 58"/>
              <a:gd name="connsiteX2" fmla="*/ 3455 w 3455"/>
              <a:gd name="connsiteY2" fmla="*/ 58 h 58"/>
              <a:gd name="connsiteX3" fmla="*/ 0 w 3455"/>
              <a:gd name="connsiteY3" fmla="*/ 40 h 58"/>
              <a:gd name="connsiteX4" fmla="*/ 0 w 3455"/>
              <a:gd name="connsiteY4" fmla="*/ 0 h 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5" h="58">
                <a:moveTo>
                  <a:pt x="0" y="0"/>
                </a:moveTo>
                <a:lnTo>
                  <a:pt x="3455" y="2"/>
                </a:lnTo>
                <a:lnTo>
                  <a:pt x="3455" y="58"/>
                </a:lnTo>
                <a:lnTo>
                  <a:pt x="0" y="40"/>
                </a:lnTo>
                <a:lnTo>
                  <a:pt x="0" y="0"/>
                </a:lnTo>
                <a:close/>
              </a:path>
            </a:pathLst>
          </a:custGeom>
          <a:solidFill>
            <a:srgbClr val="D4AF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7" name="AutoShape 6"/>
          <p:cNvSpPr/>
          <p:nvPr/>
        </p:nvSpPr>
        <p:spPr>
          <a:xfrm>
            <a:off x="12700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8">
            <a:lum/>
          </a:blip>
          <a:srcRect/>
          <a:stretch>
            <a:fillRect l="-1136" r="-1136"/>
          </a:stretch>
        </a:blipFill>
        <a:effectLst/>
      </p:bgPr>
    </p:bg>
    <p:spTree>
      <p:nvGrpSpPr>
        <p:cNvPr id="1" name=""/>
        <p:cNvGrpSpPr/>
        <p:nvPr/>
      </p:nvGrpSpPr>
      <p:grpSpPr>
        <a:xfrm>
          <a:off x="0" y="0"/>
          <a:ext cx="0" cy="0"/>
          <a:chOff x="0" y="0"/>
          <a:chExt cx="0" cy="0"/>
        </a:xfrm>
      </p:grpSpPr>
      <p:sp>
        <p:nvSpPr>
          <p:cNvPr id="2" name="AutoShape 2"/>
          <p:cNvSpPr/>
          <p:nvPr/>
        </p:nvSpPr>
        <p:spPr>
          <a:xfrm>
            <a:off x="-95885" y="0"/>
            <a:ext cx="12287885" cy="6858000"/>
          </a:xfrm>
          <a:prstGeom prst="roundRect">
            <a:avLst>
              <a:gd name="adj" fmla="val 0"/>
            </a:avLst>
          </a:prstGeom>
          <a:solidFill>
            <a:srgbClr val="FFFFFF">
              <a:alpha val="2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508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项目背景与选题意义</a:t>
            </a:r>
            <a:endParaRPr lang="en-US" sz="1100"/>
          </a:p>
        </p:txBody>
      </p:sp>
      <p:sp>
        <p:nvSpPr>
          <p:cNvPr id="4" name="AutoShape 4"/>
          <p:cNvSpPr/>
          <p:nvPr/>
        </p:nvSpPr>
        <p:spPr>
          <a:xfrm>
            <a:off x="762000" y="1524000"/>
            <a:ext cx="4351655" cy="4699000"/>
          </a:xfrm>
          <a:prstGeom prst="roundRect">
            <a:avLst>
              <a:gd name="adj" fmla="val 4705"/>
            </a:avLst>
          </a:prstGeom>
          <a:solidFill>
            <a:srgbClr val="FFFFFF">
              <a:alpha val="95000"/>
            </a:srgbClr>
          </a:solidFill>
          <a:ln w="25400" cap="flat" cmpd="sng">
            <a:noFill/>
            <a:prstDash val="solid"/>
            <a:round/>
          </a:ln>
          <a:effectLst>
            <a:outerShdw blurRad="203200" dist="63500" dir="2700000" algn="tl" rotWithShape="0">
              <a:srgbClr val="2E4047">
                <a:alpha val="1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19"/>
          <a:srcRect l="20937" r="20937"/>
          <a:stretch>
            <a:fillRect/>
          </a:stretch>
        </p:blipFill>
        <p:spPr>
          <a:xfrm>
            <a:off x="952500" y="1676400"/>
            <a:ext cx="3968115" cy="3810000"/>
          </a:xfrm>
          <a:prstGeom prst="roundRect">
            <a:avLst>
              <a:gd name="adj" fmla="val 4000"/>
            </a:avLst>
          </a:prstGeom>
          <a:noFill/>
          <a:ln w="25400" cap="flat" cmpd="sng">
            <a:noFill/>
            <a:prstDash val="solid"/>
            <a:round/>
          </a:ln>
        </p:spPr>
      </p:pic>
      <p:sp>
        <p:nvSpPr>
          <p:cNvPr id="6" name="AutoShape 6"/>
          <p:cNvSpPr/>
          <p:nvPr/>
        </p:nvSpPr>
        <p:spPr>
          <a:xfrm>
            <a:off x="952500" y="5651500"/>
            <a:ext cx="3968115"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555555"/>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洛阳古建筑风貌 · 历史的物质载体</a:t>
            </a:r>
            <a:endParaRPr lang="en-US" sz="1100"/>
          </a:p>
        </p:txBody>
      </p:sp>
      <p:sp>
        <p:nvSpPr>
          <p:cNvPr id="7" name="AutoShape 7"/>
          <p:cNvSpPr/>
          <p:nvPr>
            <p:custDataLst>
              <p:tags r:id="rId1"/>
            </p:custDataLst>
          </p:nvPr>
        </p:nvSpPr>
        <p:spPr>
          <a:xfrm>
            <a:off x="5334000" y="1524000"/>
            <a:ext cx="6096000" cy="1397000"/>
          </a:xfrm>
          <a:prstGeom prst="roundRect">
            <a:avLst>
              <a:gd name="adj" fmla="val 10909"/>
            </a:avLst>
          </a:prstGeom>
          <a:solidFill>
            <a:srgbClr val="FFFFFF">
              <a:alpha val="90000"/>
            </a:srgbClr>
          </a:solidFill>
          <a:ln w="25400" cap="flat" cmpd="sng">
            <a:noFill/>
            <a:prstDash val="solid"/>
            <a:round/>
          </a:ln>
          <a:effectLst>
            <a:outerShdw blurRad="127000" dist="38100" dir="2700000" algn="tl" rotWithShape="0">
              <a:srgbClr val="2E4047">
                <a:alpha val="10000"/>
              </a:srgbClr>
            </a:outerShdw>
          </a:effectLst>
        </p:spPr>
        <p:txBody>
          <a:bodyPr vert="horz" wrap="square" lIns="63500" tIns="63500" rIns="63500" bIns="63500" rtlCol="0" anchor="ctr"/>
          <a:lstStyle/>
          <a:p>
            <a:pPr algn="ctr">
              <a:defRPr/>
            </a:pPr>
            <a:endParaRPr/>
          </a:p>
        </p:txBody>
      </p:sp>
      <p:sp>
        <p:nvSpPr>
          <p:cNvPr id="8" name="AutoShape 8"/>
          <p:cNvSpPr/>
          <p:nvPr>
            <p:custDataLst>
              <p:tags r:id="rId2"/>
            </p:custDataLst>
          </p:nvPr>
        </p:nvSpPr>
        <p:spPr>
          <a:xfrm>
            <a:off x="5524500" y="1714500"/>
            <a:ext cx="711200" cy="711200"/>
          </a:xfrm>
          <a:prstGeom prst="roundRect">
            <a:avLst>
              <a:gd name="adj" fmla="val 17857"/>
            </a:avLst>
          </a:prstGeom>
          <a:solidFill>
            <a:srgbClr val="2E4047">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custDataLst>
              <p:tags r:id="rId3"/>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676900" y="1866900"/>
            <a:ext cx="406400" cy="406400"/>
          </a:xfrm>
          <a:prstGeom prst="rect">
            <a:avLst/>
          </a:prstGeom>
        </p:spPr>
      </p:pic>
      <p:sp>
        <p:nvSpPr>
          <p:cNvPr id="10" name="AutoShape 10"/>
          <p:cNvSpPr/>
          <p:nvPr>
            <p:custDataLst>
              <p:tags r:id="rId4"/>
            </p:custDataLst>
          </p:nvPr>
        </p:nvSpPr>
        <p:spPr>
          <a:xfrm>
            <a:off x="6477000" y="1676400"/>
            <a:ext cx="4699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中原文明的厚重底蕴</a:t>
            </a:r>
            <a:endParaRPr lang="en-US" sz="1100"/>
          </a:p>
        </p:txBody>
      </p:sp>
      <p:sp>
        <p:nvSpPr>
          <p:cNvPr id="11" name="AutoShape 11"/>
          <p:cNvSpPr/>
          <p:nvPr>
            <p:custDataLst>
              <p:tags r:id="rId5"/>
            </p:custDataLst>
          </p:nvPr>
        </p:nvSpPr>
        <p:spPr>
          <a:xfrm>
            <a:off x="6477000" y="20955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dirty="0">
                <a:solidFill>
                  <a:srgbClr val="4B556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河南作为华夏文明摇篮，留存了从夏商到明清的丰富建筑遗址。</a:t>
            </a:r>
          </a:p>
          <a:p>
            <a:pPr indent="0" algn="l">
              <a:lnSpc>
                <a:spcPct val="108000"/>
              </a:lnSpc>
              <a:defRPr/>
            </a:pPr>
            <a:r>
              <a:rPr lang="en-US" sz="1200" b="0" i="0" u="none" strike="noStrike" dirty="0">
                <a:solidFill>
                  <a:srgbClr val="4B556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这些古建筑不仅是历史的见证,更是承载着中华文化基因的物质载体。</a:t>
            </a:r>
            <a:endParaRPr lang="en-US" sz="1100" dirty="0"/>
          </a:p>
        </p:txBody>
      </p:sp>
      <p:sp>
        <p:nvSpPr>
          <p:cNvPr id="12" name="AutoShape 12"/>
          <p:cNvSpPr/>
          <p:nvPr>
            <p:custDataLst>
              <p:tags r:id="rId6"/>
            </p:custDataLst>
          </p:nvPr>
        </p:nvSpPr>
        <p:spPr>
          <a:xfrm>
            <a:off x="5334000" y="3175000"/>
            <a:ext cx="6096000" cy="1397000"/>
          </a:xfrm>
          <a:prstGeom prst="roundRect">
            <a:avLst>
              <a:gd name="adj" fmla="val 10909"/>
            </a:avLst>
          </a:prstGeom>
          <a:solidFill>
            <a:srgbClr val="FFFFFF">
              <a:alpha val="90000"/>
            </a:srgbClr>
          </a:solidFill>
          <a:ln w="25400" cap="flat" cmpd="sng">
            <a:noFill/>
            <a:prstDash val="solid"/>
            <a:round/>
          </a:ln>
          <a:effectLst>
            <a:outerShdw blurRad="127000" dist="38100" dir="2700000" algn="tl" rotWithShape="0">
              <a:srgbClr val="2E4047">
                <a:alpha val="10000"/>
              </a:srgbClr>
            </a:outerShdw>
          </a:effectLst>
        </p:spPr>
        <p:txBody>
          <a:bodyPr vert="horz" wrap="square" lIns="63500" tIns="63500" rIns="63500" bIns="63500" rtlCol="0" anchor="ctr"/>
          <a:lstStyle/>
          <a:p>
            <a:pPr algn="ctr">
              <a:defRPr/>
            </a:pPr>
            <a:endParaRPr/>
          </a:p>
        </p:txBody>
      </p:sp>
      <p:sp>
        <p:nvSpPr>
          <p:cNvPr id="13" name="AutoShape 13"/>
          <p:cNvSpPr/>
          <p:nvPr>
            <p:custDataLst>
              <p:tags r:id="rId7"/>
            </p:custDataLst>
          </p:nvPr>
        </p:nvSpPr>
        <p:spPr>
          <a:xfrm>
            <a:off x="5524500" y="3365500"/>
            <a:ext cx="711200" cy="711200"/>
          </a:xfrm>
          <a:prstGeom prst="roundRect">
            <a:avLst>
              <a:gd name="adj" fmla="val 17857"/>
            </a:avLst>
          </a:prstGeom>
          <a:solidFill>
            <a:srgbClr val="2E4047">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custDataLst>
              <p:tags r:id="rId8"/>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676900" y="3517900"/>
            <a:ext cx="406400" cy="406400"/>
          </a:xfrm>
          <a:prstGeom prst="rect">
            <a:avLst/>
          </a:prstGeom>
        </p:spPr>
      </p:pic>
      <p:sp>
        <p:nvSpPr>
          <p:cNvPr id="15" name="AutoShape 15"/>
          <p:cNvSpPr/>
          <p:nvPr>
            <p:custDataLst>
              <p:tags r:id="rId9"/>
            </p:custDataLst>
          </p:nvPr>
        </p:nvSpPr>
        <p:spPr>
          <a:xfrm>
            <a:off x="6477000" y="3327400"/>
            <a:ext cx="4699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数字化传播的时代需求</a:t>
            </a:r>
            <a:endParaRPr lang="en-US" sz="1100"/>
          </a:p>
        </p:txBody>
      </p:sp>
      <p:sp>
        <p:nvSpPr>
          <p:cNvPr id="16" name="AutoShape 16"/>
          <p:cNvSpPr/>
          <p:nvPr>
            <p:custDataLst>
              <p:tags r:id="rId10"/>
            </p:custDataLst>
          </p:nvPr>
        </p:nvSpPr>
        <p:spPr>
          <a:xfrm>
            <a:off x="6477000" y="37465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dirty="0">
                <a:solidFill>
                  <a:srgbClr val="4B556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面对静态文物与年轻受众的认知断层，数字化与可视化技术是连接过去与未来的最佳桥梁，旨在让厚重的历史文化以更生动的形式“活”在当下。</a:t>
            </a:r>
            <a:endParaRPr lang="en-US" sz="1100" dirty="0"/>
          </a:p>
        </p:txBody>
      </p:sp>
      <p:sp>
        <p:nvSpPr>
          <p:cNvPr id="17" name="AutoShape 17"/>
          <p:cNvSpPr/>
          <p:nvPr>
            <p:custDataLst>
              <p:tags r:id="rId11"/>
            </p:custDataLst>
          </p:nvPr>
        </p:nvSpPr>
        <p:spPr>
          <a:xfrm>
            <a:off x="5334000" y="4826000"/>
            <a:ext cx="6096000" cy="1397000"/>
          </a:xfrm>
          <a:prstGeom prst="roundRect">
            <a:avLst>
              <a:gd name="adj" fmla="val 10909"/>
            </a:avLst>
          </a:prstGeom>
          <a:solidFill>
            <a:srgbClr val="FFFFFF">
              <a:alpha val="90000"/>
            </a:srgbClr>
          </a:solidFill>
          <a:ln w="25400" cap="flat" cmpd="sng">
            <a:noFill/>
            <a:prstDash val="solid"/>
            <a:round/>
          </a:ln>
          <a:effectLst>
            <a:outerShdw blurRad="127000" dist="38100" dir="2700000" algn="tl" rotWithShape="0">
              <a:srgbClr val="2E4047">
                <a:alpha val="10000"/>
              </a:srgbClr>
            </a:outerShdw>
          </a:effectLst>
        </p:spPr>
        <p:txBody>
          <a:bodyPr vert="horz" wrap="square" lIns="63500" tIns="63500" rIns="63500" bIns="63500" rtlCol="0" anchor="ctr"/>
          <a:lstStyle/>
          <a:p>
            <a:pPr algn="ctr">
              <a:defRPr/>
            </a:pPr>
            <a:endParaRPr/>
          </a:p>
        </p:txBody>
      </p:sp>
      <p:sp>
        <p:nvSpPr>
          <p:cNvPr id="18" name="AutoShape 18"/>
          <p:cNvSpPr/>
          <p:nvPr>
            <p:custDataLst>
              <p:tags r:id="rId12"/>
            </p:custDataLst>
          </p:nvPr>
        </p:nvSpPr>
        <p:spPr>
          <a:xfrm>
            <a:off x="5524500" y="5016500"/>
            <a:ext cx="711200" cy="711200"/>
          </a:xfrm>
          <a:prstGeom prst="roundRect">
            <a:avLst>
              <a:gd name="adj" fmla="val 17857"/>
            </a:avLst>
          </a:prstGeom>
          <a:solidFill>
            <a:srgbClr val="2E4047">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custDataLst>
              <p:tags r:id="rId13"/>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5676900" y="5168900"/>
            <a:ext cx="406400" cy="406400"/>
          </a:xfrm>
          <a:prstGeom prst="rect">
            <a:avLst/>
          </a:prstGeom>
        </p:spPr>
      </p:pic>
      <p:sp>
        <p:nvSpPr>
          <p:cNvPr id="20" name="AutoShape 20"/>
          <p:cNvSpPr/>
          <p:nvPr>
            <p:custDataLst>
              <p:tags r:id="rId14"/>
            </p:custDataLst>
          </p:nvPr>
        </p:nvSpPr>
        <p:spPr>
          <a:xfrm>
            <a:off x="6477000" y="4978400"/>
            <a:ext cx="4699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文化传承与美育教育</a:t>
            </a:r>
            <a:endParaRPr lang="en-US" sz="1100"/>
          </a:p>
        </p:txBody>
      </p:sp>
      <p:sp>
        <p:nvSpPr>
          <p:cNvPr id="21" name="AutoShape 21"/>
          <p:cNvSpPr/>
          <p:nvPr>
            <p:custDataLst>
              <p:tags r:id="rId15"/>
            </p:custDataLst>
          </p:nvPr>
        </p:nvSpPr>
        <p:spPr>
          <a:xfrm>
            <a:off x="6477000" y="53975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4B556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项目致力于系统梳理建筑脉络与文化内涵，通过数字化平台实现遗产保护，同时开展面向公众的美育教育，激发青年一代对传统文化的认同与自豪。</a:t>
            </a:r>
            <a:endParaRPr lang="en-US" sz="1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par>
                                <p:cTn id="14" presetID="2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1+#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1+#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1+#ppt_w/2"/>
                                          </p:val>
                                        </p:tav>
                                        <p:tav tm="100000">
                                          <p:val>
                                            <p:strVal val="#ppt_x"/>
                                          </p:val>
                                        </p:tav>
                                      </p:tavLst>
                                    </p:anim>
                                    <p:anim calcmode="lin" valueType="num">
                                      <p:cBhvr additive="base">
                                        <p:cTn id="30" dur="500" fill="hold"/>
                                        <p:tgtEl>
                                          <p:spTgt spid="10"/>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1+#ppt_w/2"/>
                                          </p:val>
                                        </p:tav>
                                        <p:tav tm="100000">
                                          <p:val>
                                            <p:strVal val="#ppt_x"/>
                                          </p:val>
                                        </p:tav>
                                      </p:tavLst>
                                    </p:anim>
                                    <p:anim calcmode="lin" valueType="num">
                                      <p:cBhvr additive="base">
                                        <p:cTn id="34" dur="500" fill="hold"/>
                                        <p:tgtEl>
                                          <p:spTgt spid="11"/>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1+#ppt_w/2"/>
                                          </p:val>
                                        </p:tav>
                                        <p:tav tm="100000">
                                          <p:val>
                                            <p:strVal val="#ppt_x"/>
                                          </p:val>
                                        </p:tav>
                                      </p:tavLst>
                                    </p:anim>
                                    <p:anim calcmode="lin" valueType="num">
                                      <p:cBhvr additive="base">
                                        <p:cTn id="3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1+#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par>
                                <p:cTn id="45" presetID="2" presetClass="entr" presetSubtype="2"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1+#ppt_w/2"/>
                                          </p:val>
                                        </p:tav>
                                        <p:tav tm="100000">
                                          <p:val>
                                            <p:strVal val="#ppt_x"/>
                                          </p:val>
                                        </p:tav>
                                      </p:tavLst>
                                    </p:anim>
                                    <p:anim calcmode="lin" valueType="num">
                                      <p:cBhvr additive="base">
                                        <p:cTn id="48" dur="500" fill="hold"/>
                                        <p:tgtEl>
                                          <p:spTgt spid="14"/>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1+#ppt_w/2"/>
                                          </p:val>
                                        </p:tav>
                                        <p:tav tm="100000">
                                          <p:val>
                                            <p:strVal val="#ppt_x"/>
                                          </p:val>
                                        </p:tav>
                                      </p:tavLst>
                                    </p:anim>
                                    <p:anim calcmode="lin" valueType="num">
                                      <p:cBhvr additive="base">
                                        <p:cTn id="52" dur="500" fill="hold"/>
                                        <p:tgtEl>
                                          <p:spTgt spid="13"/>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1+#ppt_w/2"/>
                                          </p:val>
                                        </p:tav>
                                        <p:tav tm="100000">
                                          <p:val>
                                            <p:strVal val="#ppt_x"/>
                                          </p:val>
                                        </p:tav>
                                      </p:tavLst>
                                    </p:anim>
                                    <p:anim calcmode="lin" valueType="num">
                                      <p:cBhvr additive="base">
                                        <p:cTn id="56" dur="500" fill="hold"/>
                                        <p:tgtEl>
                                          <p:spTgt spid="15"/>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1+#ppt_w/2"/>
                                          </p:val>
                                        </p:tav>
                                        <p:tav tm="100000">
                                          <p:val>
                                            <p:strVal val="#ppt_x"/>
                                          </p:val>
                                        </p:tav>
                                      </p:tavLst>
                                    </p:anim>
                                    <p:anim calcmode="lin" valueType="num">
                                      <p:cBhvr additive="base">
                                        <p:cTn id="60"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2" fill="hold" nodeType="clickEffect">
                                  <p:stCondLst>
                                    <p:cond delay="0"/>
                                  </p:stCondLst>
                                  <p:childTnLst>
                                    <p:set>
                                      <p:cBhvr>
                                        <p:cTn id="64" dur="1" fill="hold">
                                          <p:stCondLst>
                                            <p:cond delay="0"/>
                                          </p:stCondLst>
                                        </p:cTn>
                                        <p:tgtEl>
                                          <p:spTgt spid="19"/>
                                        </p:tgtEl>
                                        <p:attrNameLst>
                                          <p:attrName>style.visibility</p:attrName>
                                        </p:attrNameLst>
                                      </p:cBhvr>
                                      <p:to>
                                        <p:strVal val="visible"/>
                                      </p:to>
                                    </p:set>
                                    <p:anim calcmode="lin" valueType="num">
                                      <p:cBhvr additive="base">
                                        <p:cTn id="65" dur="500" fill="hold"/>
                                        <p:tgtEl>
                                          <p:spTgt spid="19"/>
                                        </p:tgtEl>
                                        <p:attrNameLst>
                                          <p:attrName>ppt_x</p:attrName>
                                        </p:attrNameLst>
                                      </p:cBhvr>
                                      <p:tavLst>
                                        <p:tav tm="0">
                                          <p:val>
                                            <p:strVal val="1+#ppt_w/2"/>
                                          </p:val>
                                        </p:tav>
                                        <p:tav tm="100000">
                                          <p:val>
                                            <p:strVal val="#ppt_x"/>
                                          </p:val>
                                        </p:tav>
                                      </p:tavLst>
                                    </p:anim>
                                    <p:anim calcmode="lin" valueType="num">
                                      <p:cBhvr additive="base">
                                        <p:cTn id="66" dur="500" fill="hold"/>
                                        <p:tgtEl>
                                          <p:spTgt spid="19"/>
                                        </p:tgtEl>
                                        <p:attrNameLst>
                                          <p:attrName>ppt_y</p:attrName>
                                        </p:attrNameLst>
                                      </p:cBhvr>
                                      <p:tavLst>
                                        <p:tav tm="0">
                                          <p:val>
                                            <p:strVal val="#ppt_y"/>
                                          </p:val>
                                        </p:tav>
                                        <p:tav tm="100000">
                                          <p:val>
                                            <p:strVal val="#ppt_y"/>
                                          </p:val>
                                        </p:tav>
                                      </p:tavLst>
                                    </p:anim>
                                  </p:childTnLst>
                                </p:cTn>
                              </p:par>
                              <p:par>
                                <p:cTn id="67" presetID="2" presetClass="entr" presetSubtype="2"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1+#ppt_w/2"/>
                                          </p:val>
                                        </p:tav>
                                        <p:tav tm="100000">
                                          <p:val>
                                            <p:strVal val="#ppt_x"/>
                                          </p:val>
                                        </p:tav>
                                      </p:tavLst>
                                    </p:anim>
                                    <p:anim calcmode="lin" valueType="num">
                                      <p:cBhvr additive="base">
                                        <p:cTn id="70" dur="500" fill="hold"/>
                                        <p:tgtEl>
                                          <p:spTgt spid="18"/>
                                        </p:tgtEl>
                                        <p:attrNameLst>
                                          <p:attrName>ppt_y</p:attrName>
                                        </p:attrNameLst>
                                      </p:cBhvr>
                                      <p:tavLst>
                                        <p:tav tm="0">
                                          <p:val>
                                            <p:strVal val="#ppt_y"/>
                                          </p:val>
                                        </p:tav>
                                        <p:tav tm="100000">
                                          <p:val>
                                            <p:strVal val="#ppt_y"/>
                                          </p:val>
                                        </p:tav>
                                      </p:tavLst>
                                    </p:anim>
                                  </p:childTnLst>
                                </p:cTn>
                              </p:par>
                              <p:par>
                                <p:cTn id="71" presetID="2" presetClass="entr" presetSubtype="2" fill="hold" grpId="0" nodeType="with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1+#ppt_w/2"/>
                                          </p:val>
                                        </p:tav>
                                        <p:tav tm="100000">
                                          <p:val>
                                            <p:strVal val="#ppt_x"/>
                                          </p:val>
                                        </p:tav>
                                      </p:tavLst>
                                    </p:anim>
                                    <p:anim calcmode="lin" valueType="num">
                                      <p:cBhvr additive="base">
                                        <p:cTn id="74" dur="500" fill="hold"/>
                                        <p:tgtEl>
                                          <p:spTgt spid="17"/>
                                        </p:tgtEl>
                                        <p:attrNameLst>
                                          <p:attrName>ppt_y</p:attrName>
                                        </p:attrNameLst>
                                      </p:cBhvr>
                                      <p:tavLst>
                                        <p:tav tm="0">
                                          <p:val>
                                            <p:strVal val="#ppt_y"/>
                                          </p:val>
                                        </p:tav>
                                        <p:tav tm="100000">
                                          <p:val>
                                            <p:strVal val="#ppt_y"/>
                                          </p:val>
                                        </p:tav>
                                      </p:tavLst>
                                    </p:anim>
                                  </p:childTnLst>
                                </p:cTn>
                              </p:par>
                              <p:par>
                                <p:cTn id="75" presetID="2" presetClass="entr" presetSubtype="2"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1+#ppt_w/2"/>
                                          </p:val>
                                        </p:tav>
                                        <p:tav tm="100000">
                                          <p:val>
                                            <p:strVal val="#ppt_x"/>
                                          </p:val>
                                        </p:tav>
                                      </p:tavLst>
                                    </p:anim>
                                    <p:anim calcmode="lin" valueType="num">
                                      <p:cBhvr additive="base">
                                        <p:cTn id="78" dur="500" fill="hold"/>
                                        <p:tgtEl>
                                          <p:spTgt spid="20"/>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500" fill="hold"/>
                                        <p:tgtEl>
                                          <p:spTgt spid="21"/>
                                        </p:tgtEl>
                                        <p:attrNameLst>
                                          <p:attrName>ppt_x</p:attrName>
                                        </p:attrNameLst>
                                      </p:cBhvr>
                                      <p:tavLst>
                                        <p:tav tm="0">
                                          <p:val>
                                            <p:strVal val="1+#ppt_w/2"/>
                                          </p:val>
                                        </p:tav>
                                        <p:tav tm="100000">
                                          <p:val>
                                            <p:strVal val="#ppt_x"/>
                                          </p:val>
                                        </p:tav>
                                      </p:tavLst>
                                    </p:anim>
                                    <p:anim calcmode="lin" valueType="num">
                                      <p:cBhvr additive="base">
                                        <p:cTn id="82"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animBg="1"/>
      <p:bldP spid="4" grpId="1" animBg="1"/>
      <p:bldP spid="6" grpId="0"/>
      <p:bldP spid="6" grpId="1"/>
      <p:bldP spid="7" grpId="0" animBg="1"/>
      <p:bldP spid="7" grpId="1" animBg="1"/>
      <p:bldP spid="8" grpId="0" animBg="1"/>
      <p:bldP spid="10" grpId="0"/>
      <p:bldP spid="10" grpId="1"/>
      <p:bldP spid="11" grpId="0"/>
      <p:bldP spid="11" grpId="1"/>
      <p:bldP spid="12" grpId="0" animBg="1"/>
      <p:bldP spid="13" grpId="0" animBg="1"/>
      <p:bldP spid="15" grpId="0"/>
      <p:bldP spid="16" grpId="0"/>
      <p:bldP spid="17" grpId="0" animBg="1"/>
      <p:bldP spid="18" grpId="0" animBg="1"/>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136" r="-1136"/>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607695"/>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作品概述</a:t>
            </a:r>
            <a:endParaRPr lang="en-US" sz="1100" dirty="0"/>
          </a:p>
        </p:txBody>
      </p:sp>
      <p:pic>
        <p:nvPicPr>
          <p:cNvPr id="4" name="Picture 4"/>
          <p:cNvPicPr>
            <a:picLocks noChangeAspect="1"/>
          </p:cNvPicPr>
          <p:nvPr/>
        </p:nvPicPr>
        <p:blipFill>
          <a:blip r:embed="rId4"/>
          <a:srcRect l="25394" r="25394"/>
          <a:stretch>
            <a:fillRect/>
          </a:stretch>
        </p:blipFill>
        <p:spPr>
          <a:xfrm>
            <a:off x="425823" y="1524000"/>
            <a:ext cx="4318000" cy="4826000"/>
          </a:xfrm>
          <a:prstGeom prst="roundRect">
            <a:avLst>
              <a:gd name="adj" fmla="val 4705"/>
            </a:avLst>
          </a:prstGeom>
          <a:noFill/>
          <a:ln w="25400" cap="flat" cmpd="sng">
            <a:noFill/>
            <a:prstDash val="solid"/>
            <a:round/>
          </a:ln>
          <a:effectLst>
            <a:outerShdw blurRad="203200" dist="76200" dir="5400000" algn="tl" rotWithShape="0">
              <a:srgbClr val="2E4047">
                <a:alpha val="20000"/>
              </a:srgbClr>
            </a:outerShdw>
          </a:effectLst>
        </p:spPr>
      </p:pic>
      <p:sp>
        <p:nvSpPr>
          <p:cNvPr id="5" name="AutoShape 5"/>
          <p:cNvSpPr/>
          <p:nvPr/>
        </p:nvSpPr>
        <p:spPr>
          <a:xfrm>
            <a:off x="5334000" y="1486989"/>
            <a:ext cx="6096000" cy="1397000"/>
          </a:xfrm>
          <a:prstGeom prst="roundRect">
            <a:avLst>
              <a:gd name="adj" fmla="val 10909"/>
            </a:avLst>
          </a:prstGeom>
          <a:solidFill>
            <a:srgbClr val="FFFFFF">
              <a:alpha val="90000"/>
            </a:srgbClr>
          </a:solidFill>
          <a:ln w="25400" cap="flat" cmpd="sng">
            <a:noFill/>
            <a:prstDash val="solid"/>
            <a:round/>
          </a:ln>
          <a:effectLst>
            <a:outerShdw blurRad="127000" dist="50800" dir="54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88000" y="1778000"/>
            <a:ext cx="457200" cy="457200"/>
          </a:xfrm>
          <a:prstGeom prst="rect">
            <a:avLst/>
          </a:prstGeom>
        </p:spPr>
      </p:pic>
      <p:sp>
        <p:nvSpPr>
          <p:cNvPr id="7" name="AutoShape 7"/>
          <p:cNvSpPr/>
          <p:nvPr/>
        </p:nvSpPr>
        <p:spPr>
          <a:xfrm>
            <a:off x="6223000" y="1714500"/>
            <a:ext cx="508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作品定位：一部可交互的数字叙事长卷</a:t>
            </a:r>
            <a:endParaRPr lang="en-US" sz="1100" dirty="0"/>
          </a:p>
        </p:txBody>
      </p:sp>
      <p:sp>
        <p:nvSpPr>
          <p:cNvPr id="8" name="AutoShape 8"/>
          <p:cNvSpPr/>
          <p:nvPr/>
        </p:nvSpPr>
        <p:spPr>
          <a:xfrm>
            <a:off x="6223000" y="2033451"/>
            <a:ext cx="4953000" cy="689066"/>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dirty="0">
                <a:solidFill>
                  <a:srgbClr val="555F6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“营造中原”并非简单的查询工具，而是以河南古建为主题的数字叙事载体，引导用户从多维视角探索建筑背后的历史故事与文化密码。</a:t>
            </a:r>
            <a:endParaRPr lang="en-US" sz="1100" dirty="0"/>
          </a:p>
        </p:txBody>
      </p:sp>
      <p:sp>
        <p:nvSpPr>
          <p:cNvPr id="9" name="AutoShape 9"/>
          <p:cNvSpPr/>
          <p:nvPr/>
        </p:nvSpPr>
        <p:spPr>
          <a:xfrm>
            <a:off x="5334000" y="3175000"/>
            <a:ext cx="6096000" cy="1651000"/>
          </a:xfrm>
          <a:prstGeom prst="roundRect">
            <a:avLst>
              <a:gd name="adj" fmla="val 9230"/>
            </a:avLst>
          </a:prstGeom>
          <a:solidFill>
            <a:srgbClr val="FFFFFF">
              <a:alpha val="90000"/>
            </a:srgbClr>
          </a:solidFill>
          <a:ln w="25400" cap="flat" cmpd="sng">
            <a:noFill/>
            <a:prstDash val="solid"/>
            <a:round/>
          </a:ln>
          <a:effectLst>
            <a:outerShdw blurRad="127000" dist="50800" dir="5400000" algn="tl" rotWithShape="0">
              <a:srgbClr val="2E4047">
                <a:alpha val="10000"/>
              </a:srgbClr>
            </a:outerShdw>
          </a:effectLst>
        </p:spPr>
        <p:txBody>
          <a:bodyPr vert="horz" wrap="square" lIns="63500" tIns="63500" rIns="63500" bIns="63500" rtlCol="0" anchor="ctr"/>
          <a:lstStyle/>
          <a:p>
            <a:pPr algn="ctr">
              <a:defRPr/>
            </a:pPr>
            <a:endParaRPr dirty="0"/>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88000" y="3314700"/>
            <a:ext cx="457200" cy="457200"/>
          </a:xfrm>
          <a:prstGeom prst="rect">
            <a:avLst/>
          </a:prstGeom>
        </p:spPr>
      </p:pic>
      <p:sp>
        <p:nvSpPr>
          <p:cNvPr id="11" name="AutoShape 11"/>
          <p:cNvSpPr/>
          <p:nvPr/>
        </p:nvSpPr>
        <p:spPr>
          <a:xfrm>
            <a:off x="6096000" y="3640001"/>
            <a:ext cx="5080000" cy="863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核心思路：一轴两翼，多点联动</a:t>
            </a:r>
            <a:endParaRPr lang="en-US" sz="1600" b="1" dirty="0">
              <a:solidFill>
                <a:srgbClr val="2E4047"/>
              </a:solidFill>
              <a:latin typeface="Noto Serif SC" panose="02020200000000000000" charset="-122"/>
              <a:ea typeface="Noto Serif SC" panose="02020200000000000000" charset="-122"/>
              <a:sym typeface="Noto Serif SC" panose="02020200000000000000" charset="-122"/>
            </a:endParaRPr>
          </a:p>
          <a:p>
            <a:pPr lvl="0" eaLnBrk="0" fontAlgn="base" hangingPunct="0">
              <a:spcBef>
                <a:spcPct val="0"/>
              </a:spcBef>
              <a:spcAft>
                <a:spcPct val="0"/>
              </a:spcAft>
              <a:buClrTx/>
              <a:buFontTx/>
              <a:buChar char="•"/>
            </a:pPr>
            <a:endParaRPr lang="en-US" altLang="zh-CN" sz="1100" b="1" dirty="0">
              <a:solidFill>
                <a:schemeClr val="tx1"/>
              </a:solidFill>
              <a:latin typeface="Arial" panose="020B0604020202020204" pitchFamily="34" charset="0"/>
            </a:endParaRPr>
          </a:p>
          <a:p>
            <a:pPr marL="171450" lvl="0" indent="-171450" eaLnBrk="0" fontAlgn="base" hangingPunct="0">
              <a:spcBef>
                <a:spcPct val="0"/>
              </a:spcBef>
              <a:spcAft>
                <a:spcPct val="0"/>
              </a:spcAft>
              <a:buClrTx/>
              <a:buFont typeface="Arial" panose="020B0604020202020204" pitchFamily="34" charset="0"/>
              <a:buChar char="•"/>
            </a:pPr>
            <a:r>
              <a:rPr lang="zh-CN" altLang="zh-CN" sz="1100" b="1" dirty="0">
                <a:solidFill>
                  <a:schemeClr val="tx1"/>
                </a:solidFill>
                <a:latin typeface="Arial" panose="020B0604020202020204" pitchFamily="34" charset="0"/>
              </a:rPr>
              <a:t>一轴</a:t>
            </a:r>
            <a:r>
              <a:rPr lang="zh-CN" altLang="zh-CN" sz="1100" dirty="0">
                <a:solidFill>
                  <a:schemeClr val="tx1"/>
                </a:solidFill>
                <a:latin typeface="Arial" panose="020B0604020202020204" pitchFamily="34" charset="0"/>
              </a:rPr>
              <a:t>：</a:t>
            </a:r>
            <a:r>
              <a:rPr lang="zh-CN" altLang="zh-CN" sz="1100" dirty="0">
                <a:solidFill>
                  <a:srgbClr val="555F66"/>
                </a:solidFill>
                <a:latin typeface="Noto Serif SC" panose="02020200000000000000" charset="-122"/>
                <a:ea typeface="Noto Serif SC" panose="02020200000000000000" charset="-122"/>
                <a:cs typeface="Noto Serif SC" panose="02020200000000000000" charset="-122"/>
              </a:rPr>
              <a:t>以朝代演化为时间主轴，串联河南古代建筑文明的发展脉络。 </a:t>
            </a:r>
          </a:p>
          <a:p>
            <a:pPr marL="171450" lvl="0" indent="-171450" eaLnBrk="0" fontAlgn="base" hangingPunct="0">
              <a:spcBef>
                <a:spcPct val="0"/>
              </a:spcBef>
              <a:spcAft>
                <a:spcPct val="0"/>
              </a:spcAft>
              <a:buClrTx/>
              <a:buFont typeface="Arial" panose="020B0604020202020204" pitchFamily="34" charset="0"/>
              <a:buChar char="•"/>
            </a:pPr>
            <a:r>
              <a:rPr lang="zh-CN" altLang="zh-CN" sz="1100" b="1" dirty="0">
                <a:solidFill>
                  <a:schemeClr val="tx1"/>
                </a:solidFill>
                <a:latin typeface="Arial" panose="020B0604020202020204" pitchFamily="34" charset="0"/>
              </a:rPr>
              <a:t>两翼</a:t>
            </a:r>
            <a:r>
              <a:rPr lang="zh-CN" altLang="zh-CN" sz="1100" dirty="0">
                <a:solidFill>
                  <a:schemeClr val="tx1"/>
                </a:solidFill>
                <a:latin typeface="Arial" panose="020B0604020202020204" pitchFamily="34" charset="0"/>
              </a:rPr>
              <a:t>：</a:t>
            </a:r>
            <a:r>
              <a:rPr lang="zh-CN" altLang="zh-CN" sz="1100" dirty="0">
                <a:solidFill>
                  <a:srgbClr val="555F66"/>
                </a:solidFill>
                <a:latin typeface="Noto Serif SC" panose="02020200000000000000" charset="-122"/>
                <a:ea typeface="Noto Serif SC" panose="02020200000000000000" charset="-122"/>
                <a:cs typeface="Noto Serif SC" panose="02020200000000000000" charset="-122"/>
              </a:rPr>
              <a:t>依托“山河分布”的空间维度与“建筑类型”的分类维度，构建作品的主体认知框架。 </a:t>
            </a:r>
          </a:p>
          <a:p>
            <a:pPr marL="171450" lvl="0" indent="-171450" eaLnBrk="0" fontAlgn="base" hangingPunct="0">
              <a:spcBef>
                <a:spcPct val="0"/>
              </a:spcBef>
              <a:spcAft>
                <a:spcPct val="0"/>
              </a:spcAft>
              <a:buClrTx/>
              <a:buFont typeface="Arial" panose="020B0604020202020204" pitchFamily="34" charset="0"/>
              <a:buChar char="•"/>
            </a:pPr>
            <a:r>
              <a:rPr lang="zh-CN" altLang="zh-CN" sz="1100" b="1" dirty="0">
                <a:solidFill>
                  <a:schemeClr val="tx1"/>
                </a:solidFill>
                <a:latin typeface="Arial" panose="020B0604020202020204" pitchFamily="34" charset="0"/>
              </a:rPr>
              <a:t>联动</a:t>
            </a:r>
            <a:r>
              <a:rPr lang="zh-CN" altLang="zh-CN" sz="1100" dirty="0">
                <a:solidFill>
                  <a:schemeClr val="tx1"/>
                </a:solidFill>
                <a:latin typeface="Arial" panose="020B0604020202020204" pitchFamily="34" charset="0"/>
              </a:rPr>
              <a:t>：</a:t>
            </a:r>
            <a:r>
              <a:rPr lang="zh-CN" altLang="zh-CN" sz="1100" dirty="0">
                <a:solidFill>
                  <a:srgbClr val="555F66"/>
                </a:solidFill>
                <a:latin typeface="Noto Serif SC" panose="02020200000000000000" charset="-122"/>
                <a:ea typeface="Noto Serif SC" panose="02020200000000000000" charset="-122"/>
                <a:cs typeface="Noto Serif SC" panose="02020200000000000000" charset="-122"/>
              </a:rPr>
              <a:t>融合详情展示、统计分析与专题叙事模块，实现时间、空间、个体与整体之间的多维关联与递进表达。 </a:t>
            </a:r>
          </a:p>
          <a:p>
            <a:pPr indent="0" algn="l">
              <a:lnSpc>
                <a:spcPct val="125000"/>
              </a:lnSpc>
              <a:defRPr/>
            </a:pPr>
            <a:endParaRPr lang="en-US" sz="1100" dirty="0"/>
          </a:p>
        </p:txBody>
      </p:sp>
      <p:sp>
        <p:nvSpPr>
          <p:cNvPr id="12" name="AutoShape 12"/>
          <p:cNvSpPr/>
          <p:nvPr/>
        </p:nvSpPr>
        <p:spPr>
          <a:xfrm>
            <a:off x="6223000" y="3810000"/>
            <a:ext cx="4953000" cy="952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endParaRPr lang="en-US" sz="1100" b="0" i="0" u="none" strike="noStrike" dirty="0">
              <a:solidFill>
                <a:srgbClr val="555F66"/>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3" name="AutoShape 13"/>
          <p:cNvSpPr/>
          <p:nvPr/>
        </p:nvSpPr>
        <p:spPr>
          <a:xfrm>
            <a:off x="5334000" y="5080000"/>
            <a:ext cx="6096000" cy="1143000"/>
          </a:xfrm>
          <a:prstGeom prst="roundRect">
            <a:avLst>
              <a:gd name="adj" fmla="val 13333"/>
            </a:avLst>
          </a:prstGeom>
          <a:solidFill>
            <a:srgbClr val="FFFFFF">
              <a:alpha val="90000"/>
            </a:srgbClr>
          </a:solidFill>
          <a:ln w="25400" cap="flat" cmpd="sng">
            <a:noFill/>
            <a:prstDash val="solid"/>
            <a:round/>
          </a:ln>
          <a:effectLst>
            <a:outerShdw blurRad="127000" dist="50800" dir="54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88000" y="5237480"/>
            <a:ext cx="457200" cy="457200"/>
          </a:xfrm>
          <a:prstGeom prst="rect">
            <a:avLst/>
          </a:prstGeom>
        </p:spPr>
      </p:pic>
      <p:sp>
        <p:nvSpPr>
          <p:cNvPr id="15" name="AutoShape 15"/>
          <p:cNvSpPr/>
          <p:nvPr/>
        </p:nvSpPr>
        <p:spPr>
          <a:xfrm>
            <a:off x="6146802" y="5205911"/>
            <a:ext cx="508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目标用户：学术与文化的探索共同体</a:t>
            </a:r>
            <a:endParaRPr lang="en-US" sz="1100" dirty="0"/>
          </a:p>
        </p:txBody>
      </p:sp>
      <p:sp>
        <p:nvSpPr>
          <p:cNvPr id="16" name="AutoShape 16"/>
          <p:cNvSpPr/>
          <p:nvPr/>
        </p:nvSpPr>
        <p:spPr>
          <a:xfrm>
            <a:off x="6146802" y="5599611"/>
            <a:ext cx="4953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1100" dirty="0">
                <a:solidFill>
                  <a:srgbClr val="555F66"/>
                </a:solidFill>
                <a:latin typeface="Noto Serif SC" panose="02020200000000000000" charset="-122"/>
                <a:ea typeface="Noto Serif SC" panose="02020200000000000000" charset="-122"/>
                <a:cs typeface="Noto Serif SC" panose="02020200000000000000" charset="-122"/>
              </a:rPr>
              <a:t>作品主要面向传统文化爱好者、历史研究者、青年学生及比赛评审群体，致力于构建一个兼具知识传播、文化体验与交互探索功能的数字平台，使用户能够更加直观地认识河南古代建筑的历史价值、地域特色与文明意义。</a:t>
            </a:r>
            <a:endParaRPr lang="en-US" sz="1100" dirty="0">
              <a:solidFill>
                <a:srgbClr val="555F66"/>
              </a:solidFill>
              <a:latin typeface="Noto Serif SC" panose="02020200000000000000" charset="-122"/>
              <a:ea typeface="Noto Serif SC" panose="02020200000000000000" charset="-122"/>
              <a:cs typeface="Noto Serif SC" panose="020202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par>
                                <p:cTn id="21" presetID="53" presetClass="entr" presetSubtype="16"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Effect transition="in" filter="fade">
                                      <p:cBhvr>
                                        <p:cTn id="25" dur="500"/>
                                        <p:tgtEl>
                                          <p:spTgt spid="6"/>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500" fill="hold"/>
                                        <p:tgtEl>
                                          <p:spTgt spid="7"/>
                                        </p:tgtEl>
                                        <p:attrNameLst>
                                          <p:attrName>ppt_w</p:attrName>
                                        </p:attrNameLst>
                                      </p:cBhvr>
                                      <p:tavLst>
                                        <p:tav tm="0">
                                          <p:val>
                                            <p:fltVal val="0"/>
                                          </p:val>
                                        </p:tav>
                                        <p:tav tm="100000">
                                          <p:val>
                                            <p:strVal val="#ppt_w"/>
                                          </p:val>
                                        </p:tav>
                                      </p:tavLst>
                                    </p:anim>
                                    <p:anim calcmode="lin" valueType="num">
                                      <p:cBhvr>
                                        <p:cTn id="29" dur="500" fill="hold"/>
                                        <p:tgtEl>
                                          <p:spTgt spid="7"/>
                                        </p:tgtEl>
                                        <p:attrNameLst>
                                          <p:attrName>ppt_h</p:attrName>
                                        </p:attrNameLst>
                                      </p:cBhvr>
                                      <p:tavLst>
                                        <p:tav tm="0">
                                          <p:val>
                                            <p:fltVal val="0"/>
                                          </p:val>
                                        </p:tav>
                                        <p:tav tm="100000">
                                          <p:val>
                                            <p:strVal val="#ppt_h"/>
                                          </p:val>
                                        </p:tav>
                                      </p:tavLst>
                                    </p:anim>
                                    <p:animEffect transition="in" filter="fade">
                                      <p:cBhvr>
                                        <p:cTn id="30" dur="500"/>
                                        <p:tgtEl>
                                          <p:spTgt spid="7"/>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p:cTn id="33" dur="500" fill="hold"/>
                                        <p:tgtEl>
                                          <p:spTgt spid="8"/>
                                        </p:tgtEl>
                                        <p:attrNameLst>
                                          <p:attrName>ppt_w</p:attrName>
                                        </p:attrNameLst>
                                      </p:cBhvr>
                                      <p:tavLst>
                                        <p:tav tm="0">
                                          <p:val>
                                            <p:fltVal val="0"/>
                                          </p:val>
                                        </p:tav>
                                        <p:tav tm="100000">
                                          <p:val>
                                            <p:strVal val="#ppt_w"/>
                                          </p:val>
                                        </p:tav>
                                      </p:tavLst>
                                    </p:anim>
                                    <p:anim calcmode="lin" valueType="num">
                                      <p:cBhvr>
                                        <p:cTn id="34" dur="500" fill="hold"/>
                                        <p:tgtEl>
                                          <p:spTgt spid="8"/>
                                        </p:tgtEl>
                                        <p:attrNameLst>
                                          <p:attrName>ppt_h</p:attrName>
                                        </p:attrNameLst>
                                      </p:cBhvr>
                                      <p:tavLst>
                                        <p:tav tm="0">
                                          <p:val>
                                            <p:fltVal val="0"/>
                                          </p:val>
                                        </p:tav>
                                        <p:tav tm="100000">
                                          <p:val>
                                            <p:strVal val="#ppt_h"/>
                                          </p:val>
                                        </p:tav>
                                      </p:tavLst>
                                    </p:anim>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p:cTn id="40" dur="500" fill="hold"/>
                                        <p:tgtEl>
                                          <p:spTgt spid="9"/>
                                        </p:tgtEl>
                                        <p:attrNameLst>
                                          <p:attrName>ppt_w</p:attrName>
                                        </p:attrNameLst>
                                      </p:cBhvr>
                                      <p:tavLst>
                                        <p:tav tm="0">
                                          <p:val>
                                            <p:fltVal val="0"/>
                                          </p:val>
                                        </p:tav>
                                        <p:tav tm="100000">
                                          <p:val>
                                            <p:strVal val="#ppt_w"/>
                                          </p:val>
                                        </p:tav>
                                      </p:tavLst>
                                    </p:anim>
                                    <p:anim calcmode="lin" valueType="num">
                                      <p:cBhvr>
                                        <p:cTn id="41" dur="500" fill="hold"/>
                                        <p:tgtEl>
                                          <p:spTgt spid="9"/>
                                        </p:tgtEl>
                                        <p:attrNameLst>
                                          <p:attrName>ppt_h</p:attrName>
                                        </p:attrNameLst>
                                      </p:cBhvr>
                                      <p:tavLst>
                                        <p:tav tm="0">
                                          <p:val>
                                            <p:fltVal val="0"/>
                                          </p:val>
                                        </p:tav>
                                        <p:tav tm="100000">
                                          <p:val>
                                            <p:strVal val="#ppt_h"/>
                                          </p:val>
                                        </p:tav>
                                      </p:tavLst>
                                    </p:anim>
                                    <p:animEffect transition="in" filter="fade">
                                      <p:cBhvr>
                                        <p:cTn id="42" dur="500"/>
                                        <p:tgtEl>
                                          <p:spTgt spid="9"/>
                                        </p:tgtEl>
                                      </p:cBhvr>
                                    </p:animEffect>
                                  </p:childTnLst>
                                </p:cTn>
                              </p:par>
                              <p:par>
                                <p:cTn id="43" presetID="53" presetClass="entr" presetSubtype="16"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p:cTn id="45" dur="500" fill="hold"/>
                                        <p:tgtEl>
                                          <p:spTgt spid="10"/>
                                        </p:tgtEl>
                                        <p:attrNameLst>
                                          <p:attrName>ppt_w</p:attrName>
                                        </p:attrNameLst>
                                      </p:cBhvr>
                                      <p:tavLst>
                                        <p:tav tm="0">
                                          <p:val>
                                            <p:fltVal val="0"/>
                                          </p:val>
                                        </p:tav>
                                        <p:tav tm="100000">
                                          <p:val>
                                            <p:strVal val="#ppt_w"/>
                                          </p:val>
                                        </p:tav>
                                      </p:tavLst>
                                    </p:anim>
                                    <p:anim calcmode="lin" valueType="num">
                                      <p:cBhvr>
                                        <p:cTn id="46" dur="500" fill="hold"/>
                                        <p:tgtEl>
                                          <p:spTgt spid="10"/>
                                        </p:tgtEl>
                                        <p:attrNameLst>
                                          <p:attrName>ppt_h</p:attrName>
                                        </p:attrNameLst>
                                      </p:cBhvr>
                                      <p:tavLst>
                                        <p:tav tm="0">
                                          <p:val>
                                            <p:fltVal val="0"/>
                                          </p:val>
                                        </p:tav>
                                        <p:tav tm="100000">
                                          <p:val>
                                            <p:strVal val="#ppt_h"/>
                                          </p:val>
                                        </p:tav>
                                      </p:tavLst>
                                    </p:anim>
                                    <p:animEffect transition="in" filter="fade">
                                      <p:cBhvr>
                                        <p:cTn id="47" dur="500"/>
                                        <p:tgtEl>
                                          <p:spTgt spid="10"/>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00" fill="hold"/>
                                        <p:tgtEl>
                                          <p:spTgt spid="11"/>
                                        </p:tgtEl>
                                        <p:attrNameLst>
                                          <p:attrName>ppt_w</p:attrName>
                                        </p:attrNameLst>
                                      </p:cBhvr>
                                      <p:tavLst>
                                        <p:tav tm="0">
                                          <p:val>
                                            <p:fltVal val="0"/>
                                          </p:val>
                                        </p:tav>
                                        <p:tav tm="100000">
                                          <p:val>
                                            <p:strVal val="#ppt_w"/>
                                          </p:val>
                                        </p:tav>
                                      </p:tavLst>
                                    </p:anim>
                                    <p:anim calcmode="lin" valueType="num">
                                      <p:cBhvr>
                                        <p:cTn id="51" dur="500" fill="hold"/>
                                        <p:tgtEl>
                                          <p:spTgt spid="11"/>
                                        </p:tgtEl>
                                        <p:attrNameLst>
                                          <p:attrName>ppt_h</p:attrName>
                                        </p:attrNameLst>
                                      </p:cBhvr>
                                      <p:tavLst>
                                        <p:tav tm="0">
                                          <p:val>
                                            <p:fltVal val="0"/>
                                          </p:val>
                                        </p:tav>
                                        <p:tav tm="100000">
                                          <p:val>
                                            <p:strVal val="#ppt_h"/>
                                          </p:val>
                                        </p:tav>
                                      </p:tavLst>
                                    </p:anim>
                                    <p:animEffect transition="in" filter="fade">
                                      <p:cBhvr>
                                        <p:cTn id="52" dur="500"/>
                                        <p:tgtEl>
                                          <p:spTgt spid="11"/>
                                        </p:tgtEl>
                                      </p:cBhvr>
                                    </p:animEffect>
                                  </p:childTnLst>
                                </p:cTn>
                              </p:par>
                              <p:par>
                                <p:cTn id="53" presetID="53" presetClass="entr" presetSubtype="16" fill="hold" grpId="0" nodeType="withEffect" nodePh="1">
                                  <p:stCondLst>
                                    <p:cond delay="0"/>
                                  </p:stCondLst>
                                  <p:endCondLst>
                                    <p:cond evt="begin" delay="0">
                                      <p:tn val="53"/>
                                    </p:cond>
                                  </p:endCondLst>
                                  <p:childTnLst>
                                    <p:set>
                                      <p:cBhvr>
                                        <p:cTn id="54" dur="1" fill="hold">
                                          <p:stCondLst>
                                            <p:cond delay="0"/>
                                          </p:stCondLst>
                                        </p:cTn>
                                        <p:tgtEl>
                                          <p:spTgt spid="12"/>
                                        </p:tgtEl>
                                        <p:attrNameLst>
                                          <p:attrName>style.visibility</p:attrName>
                                        </p:attrNameLst>
                                      </p:cBhvr>
                                      <p:to>
                                        <p:strVal val="visible"/>
                                      </p:to>
                                    </p:set>
                                    <p:anim calcmode="lin" valueType="num">
                                      <p:cBhvr>
                                        <p:cTn id="55" dur="500" fill="hold"/>
                                        <p:tgtEl>
                                          <p:spTgt spid="12"/>
                                        </p:tgtEl>
                                        <p:attrNameLst>
                                          <p:attrName>ppt_w</p:attrName>
                                        </p:attrNameLst>
                                      </p:cBhvr>
                                      <p:tavLst>
                                        <p:tav tm="0">
                                          <p:val>
                                            <p:fltVal val="0"/>
                                          </p:val>
                                        </p:tav>
                                        <p:tav tm="100000">
                                          <p:val>
                                            <p:strVal val="#ppt_w"/>
                                          </p:val>
                                        </p:tav>
                                      </p:tavLst>
                                    </p:anim>
                                    <p:anim calcmode="lin" valueType="num">
                                      <p:cBhvr>
                                        <p:cTn id="56" dur="500" fill="hold"/>
                                        <p:tgtEl>
                                          <p:spTgt spid="12"/>
                                        </p:tgtEl>
                                        <p:attrNameLst>
                                          <p:attrName>ppt_h</p:attrName>
                                        </p:attrNameLst>
                                      </p:cBhvr>
                                      <p:tavLst>
                                        <p:tav tm="0">
                                          <p:val>
                                            <p:fltVal val="0"/>
                                          </p:val>
                                        </p:tav>
                                        <p:tav tm="100000">
                                          <p:val>
                                            <p:strVal val="#ppt_h"/>
                                          </p:val>
                                        </p:tav>
                                      </p:tavLst>
                                    </p:anim>
                                    <p:animEffect transition="in" filter="fade">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p:cTn id="62" dur="500" fill="hold"/>
                                        <p:tgtEl>
                                          <p:spTgt spid="15"/>
                                        </p:tgtEl>
                                        <p:attrNameLst>
                                          <p:attrName>ppt_w</p:attrName>
                                        </p:attrNameLst>
                                      </p:cBhvr>
                                      <p:tavLst>
                                        <p:tav tm="0">
                                          <p:val>
                                            <p:fltVal val="0"/>
                                          </p:val>
                                        </p:tav>
                                        <p:tav tm="100000">
                                          <p:val>
                                            <p:strVal val="#ppt_w"/>
                                          </p:val>
                                        </p:tav>
                                      </p:tavLst>
                                    </p:anim>
                                    <p:anim calcmode="lin" valueType="num">
                                      <p:cBhvr>
                                        <p:cTn id="63" dur="500" fill="hold"/>
                                        <p:tgtEl>
                                          <p:spTgt spid="15"/>
                                        </p:tgtEl>
                                        <p:attrNameLst>
                                          <p:attrName>ppt_h</p:attrName>
                                        </p:attrNameLst>
                                      </p:cBhvr>
                                      <p:tavLst>
                                        <p:tav tm="0">
                                          <p:val>
                                            <p:fltVal val="0"/>
                                          </p:val>
                                        </p:tav>
                                        <p:tav tm="100000">
                                          <p:val>
                                            <p:strVal val="#ppt_h"/>
                                          </p:val>
                                        </p:tav>
                                      </p:tavLst>
                                    </p:anim>
                                    <p:animEffect transition="in" filter="fade">
                                      <p:cBhvr>
                                        <p:cTn id="64" dur="500"/>
                                        <p:tgtEl>
                                          <p:spTgt spid="15"/>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p:cTn id="67" dur="500" fill="hold"/>
                                        <p:tgtEl>
                                          <p:spTgt spid="13"/>
                                        </p:tgtEl>
                                        <p:attrNameLst>
                                          <p:attrName>ppt_w</p:attrName>
                                        </p:attrNameLst>
                                      </p:cBhvr>
                                      <p:tavLst>
                                        <p:tav tm="0">
                                          <p:val>
                                            <p:fltVal val="0"/>
                                          </p:val>
                                        </p:tav>
                                        <p:tav tm="100000">
                                          <p:val>
                                            <p:strVal val="#ppt_w"/>
                                          </p:val>
                                        </p:tav>
                                      </p:tavLst>
                                    </p:anim>
                                    <p:anim calcmode="lin" valueType="num">
                                      <p:cBhvr>
                                        <p:cTn id="68" dur="500" fill="hold"/>
                                        <p:tgtEl>
                                          <p:spTgt spid="13"/>
                                        </p:tgtEl>
                                        <p:attrNameLst>
                                          <p:attrName>ppt_h</p:attrName>
                                        </p:attrNameLst>
                                      </p:cBhvr>
                                      <p:tavLst>
                                        <p:tav tm="0">
                                          <p:val>
                                            <p:fltVal val="0"/>
                                          </p:val>
                                        </p:tav>
                                        <p:tav tm="100000">
                                          <p:val>
                                            <p:strVal val="#ppt_h"/>
                                          </p:val>
                                        </p:tav>
                                      </p:tavLst>
                                    </p:anim>
                                    <p:animEffect transition="in" filter="fade">
                                      <p:cBhvr>
                                        <p:cTn id="69" dur="500"/>
                                        <p:tgtEl>
                                          <p:spTgt spid="13"/>
                                        </p:tgtEl>
                                      </p:cBhvr>
                                    </p:animEffect>
                                  </p:childTnLst>
                                </p:cTn>
                              </p:par>
                              <p:par>
                                <p:cTn id="70" presetID="53" presetClass="entr" presetSubtype="16" fill="hold" nodeType="withEffect">
                                  <p:stCondLst>
                                    <p:cond delay="0"/>
                                  </p:stCondLst>
                                  <p:childTnLst>
                                    <p:set>
                                      <p:cBhvr>
                                        <p:cTn id="71" dur="1" fill="hold">
                                          <p:stCondLst>
                                            <p:cond delay="0"/>
                                          </p:stCondLst>
                                        </p:cTn>
                                        <p:tgtEl>
                                          <p:spTgt spid="14"/>
                                        </p:tgtEl>
                                        <p:attrNameLst>
                                          <p:attrName>style.visibility</p:attrName>
                                        </p:attrNameLst>
                                      </p:cBhvr>
                                      <p:to>
                                        <p:strVal val="visible"/>
                                      </p:to>
                                    </p:set>
                                    <p:anim calcmode="lin" valueType="num">
                                      <p:cBhvr>
                                        <p:cTn id="72" dur="500" fill="hold"/>
                                        <p:tgtEl>
                                          <p:spTgt spid="14"/>
                                        </p:tgtEl>
                                        <p:attrNameLst>
                                          <p:attrName>ppt_w</p:attrName>
                                        </p:attrNameLst>
                                      </p:cBhvr>
                                      <p:tavLst>
                                        <p:tav tm="0">
                                          <p:val>
                                            <p:fltVal val="0"/>
                                          </p:val>
                                        </p:tav>
                                        <p:tav tm="100000">
                                          <p:val>
                                            <p:strVal val="#ppt_w"/>
                                          </p:val>
                                        </p:tav>
                                      </p:tavLst>
                                    </p:anim>
                                    <p:anim calcmode="lin" valueType="num">
                                      <p:cBhvr>
                                        <p:cTn id="73" dur="500" fill="hold"/>
                                        <p:tgtEl>
                                          <p:spTgt spid="14"/>
                                        </p:tgtEl>
                                        <p:attrNameLst>
                                          <p:attrName>ppt_h</p:attrName>
                                        </p:attrNameLst>
                                      </p:cBhvr>
                                      <p:tavLst>
                                        <p:tav tm="0">
                                          <p:val>
                                            <p:fltVal val="0"/>
                                          </p:val>
                                        </p:tav>
                                        <p:tav tm="100000">
                                          <p:val>
                                            <p:strVal val="#ppt_h"/>
                                          </p:val>
                                        </p:tav>
                                      </p:tavLst>
                                    </p:anim>
                                    <p:animEffect transition="in" filter="fade">
                                      <p:cBhvr>
                                        <p:cTn id="74" dur="500"/>
                                        <p:tgtEl>
                                          <p:spTgt spid="14"/>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p:cTn id="77" dur="500" fill="hold"/>
                                        <p:tgtEl>
                                          <p:spTgt spid="16"/>
                                        </p:tgtEl>
                                        <p:attrNameLst>
                                          <p:attrName>ppt_w</p:attrName>
                                        </p:attrNameLst>
                                      </p:cBhvr>
                                      <p:tavLst>
                                        <p:tav tm="0">
                                          <p:val>
                                            <p:fltVal val="0"/>
                                          </p:val>
                                        </p:tav>
                                        <p:tav tm="100000">
                                          <p:val>
                                            <p:strVal val="#ppt_w"/>
                                          </p:val>
                                        </p:tav>
                                      </p:tavLst>
                                    </p:anim>
                                    <p:anim calcmode="lin" valueType="num">
                                      <p:cBhvr>
                                        <p:cTn id="78" dur="500" fill="hold"/>
                                        <p:tgtEl>
                                          <p:spTgt spid="16"/>
                                        </p:tgtEl>
                                        <p:attrNameLst>
                                          <p:attrName>ppt_h</p:attrName>
                                        </p:attrNameLst>
                                      </p:cBhvr>
                                      <p:tavLst>
                                        <p:tav tm="0">
                                          <p:val>
                                            <p:fltVal val="0"/>
                                          </p:val>
                                        </p:tav>
                                        <p:tav tm="100000">
                                          <p:val>
                                            <p:strVal val="#ppt_h"/>
                                          </p:val>
                                        </p:tav>
                                      </p:tavLst>
                                    </p:anim>
                                    <p:animEffect transition="in" filter="fade">
                                      <p:cBhvr>
                                        <p:cTn id="7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animBg="1"/>
      <p:bldP spid="7" grpId="0"/>
      <p:bldP spid="8" grpId="0"/>
      <p:bldP spid="9" grpId="0" animBg="1"/>
      <p:bldP spid="11" grpId="0"/>
      <p:bldP spid="12" grpId="0"/>
      <p:bldP spid="13" grpId="0" animBg="1"/>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136" r="-1136"/>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2E404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76530" y="1081405"/>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dirty="0">
                <a:solidFill>
                  <a:srgbClr val="D4AF3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a:t>
            </a:r>
            <a:endParaRPr lang="en-US" sz="12000" dirty="0"/>
          </a:p>
        </p:txBody>
      </p:sp>
      <p:sp>
        <p:nvSpPr>
          <p:cNvPr id="4" name="AutoShape 4"/>
          <p:cNvSpPr/>
          <p:nvPr/>
        </p:nvSpPr>
        <p:spPr>
          <a:xfrm>
            <a:off x="3823335" y="3993515"/>
            <a:ext cx="4544695"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5400" b="0" i="0" u="none" strike="noStrike" spc="400" dirty="0">
                <a:solidFill>
                  <a:srgbClr val="FFFFFF"/>
                </a:solidFill>
                <a:latin typeface="+mj-ea"/>
                <a:ea typeface="+mj-ea"/>
                <a:cs typeface="Noto Serif SC" panose="02020200000000000000" charset="-122"/>
                <a:sym typeface="Noto Serif SC" panose="02020200000000000000" charset="-122"/>
              </a:rPr>
              <a:t>数据维度</a:t>
            </a:r>
          </a:p>
        </p:txBody>
      </p:sp>
      <p:sp>
        <p:nvSpPr>
          <p:cNvPr id="5" name="AutoShape 5"/>
          <p:cNvSpPr/>
          <p:nvPr/>
        </p:nvSpPr>
        <p:spPr>
          <a:xfrm>
            <a:off x="5125720" y="4940300"/>
            <a:ext cx="2193925" cy="36830"/>
          </a:xfrm>
          <a:custGeom>
            <a:avLst/>
            <a:gdLst>
              <a:gd name="connsiteX0" fmla="*/ 0 w 3455"/>
              <a:gd name="connsiteY0" fmla="*/ 0 h 58"/>
              <a:gd name="connsiteX1" fmla="*/ 3455 w 3455"/>
              <a:gd name="connsiteY1" fmla="*/ 2 h 58"/>
              <a:gd name="connsiteX2" fmla="*/ 3455 w 3455"/>
              <a:gd name="connsiteY2" fmla="*/ 58 h 58"/>
              <a:gd name="connsiteX3" fmla="*/ 0 w 3455"/>
              <a:gd name="connsiteY3" fmla="*/ 40 h 58"/>
              <a:gd name="connsiteX4" fmla="*/ 0 w 3455"/>
              <a:gd name="connsiteY4" fmla="*/ 0 h 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5" h="58">
                <a:moveTo>
                  <a:pt x="0" y="0"/>
                </a:moveTo>
                <a:lnTo>
                  <a:pt x="3455" y="2"/>
                </a:lnTo>
                <a:lnTo>
                  <a:pt x="3455" y="58"/>
                </a:lnTo>
                <a:lnTo>
                  <a:pt x="0" y="40"/>
                </a:lnTo>
                <a:lnTo>
                  <a:pt x="0" y="0"/>
                </a:lnTo>
                <a:close/>
              </a:path>
            </a:pathLst>
          </a:custGeom>
          <a:solidFill>
            <a:srgbClr val="D4AF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7" name="AutoShape 6"/>
          <p:cNvSpPr/>
          <p:nvPr/>
        </p:nvSpPr>
        <p:spPr>
          <a:xfrm>
            <a:off x="12700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3">
            <a:lum/>
          </a:blip>
          <a:srcRect/>
          <a:stretch>
            <a:fillRect l="-1136" r="-1136"/>
          </a:stretch>
        </a:blipFill>
        <a:effectLst/>
      </p:bgPr>
    </p:bg>
    <p:spTree>
      <p:nvGrpSpPr>
        <p:cNvPr id="1" name=""/>
        <p:cNvGrpSpPr/>
        <p:nvPr/>
      </p:nvGrpSpPr>
      <p:grpSpPr>
        <a:xfrm>
          <a:off x="0" y="0"/>
          <a:ext cx="0" cy="0"/>
          <a:chOff x="0" y="0"/>
          <a:chExt cx="0" cy="0"/>
        </a:xfrm>
      </p:grpSpPr>
      <p:sp>
        <p:nvSpPr>
          <p:cNvPr id="22"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tx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数据汇总</a:t>
            </a:r>
          </a:p>
        </p:txBody>
      </p:sp>
      <p:sp>
        <p:nvSpPr>
          <p:cNvPr id="23" name="AutoShape 4"/>
          <p:cNvSpPr/>
          <p:nvPr/>
        </p:nvSpPr>
        <p:spPr>
          <a:xfrm>
            <a:off x="762000" y="1397000"/>
            <a:ext cx="10668000" cy="8255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444444"/>
                </a:solidFill>
                <a:latin typeface="Noto Serif SC" panose="02020200000000000000" charset="-122"/>
                <a:ea typeface="Noto Serif SC" panose="02020200000000000000" charset="-122"/>
                <a:cs typeface="Noto Serif SC" panose="02020200000000000000" charset="-122"/>
                <a:sym typeface="Noto Sans SC" panose="020B0200000000000000" charset="-122"/>
              </a:rPr>
              <a:t>“</a:t>
            </a:r>
            <a:r>
              <a:rPr lang="en-US" sz="1600" b="0" i="0" u="none" strike="noStrike">
                <a:solidFill>
                  <a:srgbClr val="444444"/>
                </a:solidFill>
                <a:latin typeface="Noto Serif SC" panose="02020200000000000000" charset="-122"/>
                <a:ea typeface="Noto Serif SC" panose="02020200000000000000" charset="-122"/>
                <a:cs typeface="Noto Serif SC" panose="02020200000000000000" charset="-122"/>
                <a:sym typeface="Noto Sans SC" panose="020B0200000000000000" charset="-122"/>
              </a:rPr>
              <a:t>营造中原”项目不仅是一个古建筑数据库，更是一个集历史、艺术、科技于一体的综合性研究平台，致力于重现中原建筑文明的千年辉煌。</a:t>
            </a:r>
            <a:endParaRPr lang="en-US" sz="1600">
              <a:latin typeface="Noto Serif SC" panose="02020200000000000000" charset="-122"/>
              <a:ea typeface="Noto Serif SC" panose="02020200000000000000" charset="-122"/>
              <a:cs typeface="Noto Serif SC" panose="02020200000000000000" charset="-122"/>
            </a:endParaRPr>
          </a:p>
        </p:txBody>
      </p:sp>
      <p:grpSp>
        <p:nvGrpSpPr>
          <p:cNvPr id="48" name="组合 47"/>
          <p:cNvGrpSpPr/>
          <p:nvPr>
            <p:custDataLst>
              <p:tags r:id="rId1"/>
            </p:custDataLst>
          </p:nvPr>
        </p:nvGrpSpPr>
        <p:grpSpPr>
          <a:xfrm>
            <a:off x="1309370" y="2317115"/>
            <a:ext cx="2077720" cy="1939290"/>
            <a:chOff x="1211" y="3806"/>
            <a:chExt cx="3272" cy="3054"/>
          </a:xfrm>
        </p:grpSpPr>
        <p:sp>
          <p:nvSpPr>
            <p:cNvPr id="24" name="AutoShape 5"/>
            <p:cNvSpPr/>
            <p:nvPr>
              <p:custDataLst>
                <p:tags r:id="rId17"/>
              </p:custDataLst>
            </p:nvPr>
          </p:nvSpPr>
          <p:spPr>
            <a:xfrm>
              <a:off x="1211" y="3806"/>
              <a:ext cx="3272" cy="3054"/>
            </a:xfrm>
            <a:prstGeom prst="roundRect">
              <a:avLst>
                <a:gd name="adj" fmla="val 5714"/>
              </a:avLst>
            </a:prstGeom>
            <a:solidFill>
              <a:srgbClr val="FAF8F5">
                <a:alpha val="95000"/>
              </a:srgbClr>
            </a:solidFill>
            <a:ln w="12700" cap="flat" cmpd="sng">
              <a:solidFill>
                <a:srgbClr val="8C482A">
                  <a:alpha val="6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5" name="Picture 6"/>
            <p:cNvPicPr>
              <a:picLocks noChangeAspect="1"/>
            </p:cNvPicPr>
            <p:nvPr>
              <p:custDataLst>
                <p:tags r:id="rId18"/>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538" y="4134"/>
              <a:ext cx="524" cy="524"/>
            </a:xfrm>
            <a:prstGeom prst="rect">
              <a:avLst/>
            </a:prstGeom>
          </p:spPr>
        </p:pic>
        <p:sp>
          <p:nvSpPr>
            <p:cNvPr id="26" name="AutoShape 7"/>
            <p:cNvSpPr/>
            <p:nvPr>
              <p:custDataLst>
                <p:tags r:id="rId19"/>
              </p:custDataLst>
            </p:nvPr>
          </p:nvSpPr>
          <p:spPr>
            <a:xfrm>
              <a:off x="2302" y="4068"/>
              <a:ext cx="1963" cy="654"/>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覆盖范围</a:t>
              </a:r>
              <a:endParaRPr lang="en-US" sz="1100"/>
            </a:p>
          </p:txBody>
        </p:sp>
        <p:sp>
          <p:nvSpPr>
            <p:cNvPr id="27" name="AutoShape 8"/>
            <p:cNvSpPr/>
            <p:nvPr>
              <p:custDataLst>
                <p:tags r:id="rId20"/>
              </p:custDataLst>
            </p:nvPr>
          </p:nvSpPr>
          <p:spPr>
            <a:xfrm>
              <a:off x="1429" y="5115"/>
              <a:ext cx="2836" cy="1309"/>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300" b="0" i="0" u="none" strike="noStrike">
                  <a:solidFill>
                    <a:schemeClr val="tx1">
                      <a:lumMod val="75000"/>
                      <a:lumOff val="25000"/>
                    </a:schemeClr>
                  </a:solidFill>
                  <a:latin typeface="Noto Serif SC" panose="02020200000000000000" charset="-122"/>
                  <a:ea typeface="Noto Serif SC" panose="02020200000000000000" charset="-122"/>
                  <a:cs typeface="Noto Serif SC" panose="02020200000000000000" charset="-122"/>
                  <a:sym typeface="Noto Sans SC" panose="020B0200000000000000" charset="-122"/>
                </a:rPr>
                <a:t>河南省</a:t>
              </a:r>
              <a:br>
                <a:rPr lang="en-US" sz="1300" b="0" i="0" u="none" strike="noStrike">
                  <a:solidFill>
                    <a:schemeClr val="tx1">
                      <a:lumMod val="75000"/>
                      <a:lumOff val="25000"/>
                    </a:schemeClr>
                  </a:solidFill>
                  <a:latin typeface="Noto Serif SC" panose="02020200000000000000" charset="-122"/>
                  <a:ea typeface="Noto Serif SC" panose="02020200000000000000" charset="-122"/>
                  <a:cs typeface="Noto Serif SC" panose="02020200000000000000" charset="-122"/>
                  <a:sym typeface="Noto Sans SC" panose="020B0200000000000000" charset="-122"/>
                </a:rPr>
              </a:br>
              <a:r>
                <a:rPr lang="en-US" sz="1300" b="0" i="0" u="none" strike="noStrike">
                  <a:solidFill>
                    <a:schemeClr val="tx1">
                      <a:lumMod val="75000"/>
                      <a:lumOff val="25000"/>
                    </a:schemeClr>
                  </a:solidFill>
                  <a:latin typeface="Noto Serif SC" panose="02020200000000000000" charset="-122"/>
                  <a:ea typeface="Noto Serif SC" panose="02020200000000000000" charset="-122"/>
                  <a:cs typeface="Noto Serif SC" panose="02020200000000000000" charset="-122"/>
                  <a:sym typeface="Noto Sans SC" panose="020B0200000000000000" charset="-122"/>
                </a:rPr>
                <a:t>16个地级市全域覆盖</a:t>
              </a:r>
            </a:p>
          </p:txBody>
        </p:sp>
      </p:grpSp>
      <p:grpSp>
        <p:nvGrpSpPr>
          <p:cNvPr id="47" name="组合 46"/>
          <p:cNvGrpSpPr/>
          <p:nvPr>
            <p:custDataLst>
              <p:tags r:id="rId2"/>
            </p:custDataLst>
          </p:nvPr>
        </p:nvGrpSpPr>
        <p:grpSpPr>
          <a:xfrm>
            <a:off x="4926330" y="2317115"/>
            <a:ext cx="2077720" cy="1939290"/>
            <a:chOff x="7822" y="3723"/>
            <a:chExt cx="3272" cy="3054"/>
          </a:xfrm>
        </p:grpSpPr>
        <p:sp>
          <p:nvSpPr>
            <p:cNvPr id="28" name="AutoShape 9"/>
            <p:cNvSpPr/>
            <p:nvPr>
              <p:custDataLst>
                <p:tags r:id="rId13"/>
              </p:custDataLst>
            </p:nvPr>
          </p:nvSpPr>
          <p:spPr>
            <a:xfrm>
              <a:off x="7822" y="3723"/>
              <a:ext cx="3272" cy="3054"/>
            </a:xfrm>
            <a:prstGeom prst="roundRect">
              <a:avLst>
                <a:gd name="adj" fmla="val 5714"/>
              </a:avLst>
            </a:prstGeom>
            <a:solidFill>
              <a:srgbClr val="FAF8F5">
                <a:alpha val="95000"/>
              </a:srgbClr>
            </a:solidFill>
            <a:ln w="12700" cap="flat" cmpd="sng">
              <a:solidFill>
                <a:srgbClr val="8C482A">
                  <a:alpha val="6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30" name="AutoShape 11"/>
            <p:cNvSpPr/>
            <p:nvPr>
              <p:custDataLst>
                <p:tags r:id="rId14"/>
              </p:custDataLst>
            </p:nvPr>
          </p:nvSpPr>
          <p:spPr>
            <a:xfrm>
              <a:off x="8861" y="3977"/>
              <a:ext cx="1963" cy="598"/>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采集遗址</a:t>
              </a:r>
              <a:endParaRPr lang="en-US" sz="1100"/>
            </a:p>
          </p:txBody>
        </p:sp>
        <p:pic>
          <p:nvPicPr>
            <p:cNvPr id="29" name="Picture 10"/>
            <p:cNvPicPr>
              <a:picLocks noChangeAspect="1"/>
            </p:cNvPicPr>
            <p:nvPr>
              <p:custDataLst>
                <p:tags r:id="rId15"/>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228" y="4051"/>
              <a:ext cx="524" cy="524"/>
            </a:xfrm>
            <a:prstGeom prst="rect">
              <a:avLst/>
            </a:prstGeom>
          </p:spPr>
        </p:pic>
        <p:sp>
          <p:nvSpPr>
            <p:cNvPr id="31" name="AutoShape 12"/>
            <p:cNvSpPr/>
            <p:nvPr>
              <p:custDataLst>
                <p:tags r:id="rId16"/>
              </p:custDataLst>
            </p:nvPr>
          </p:nvSpPr>
          <p:spPr>
            <a:xfrm>
              <a:off x="8119" y="5032"/>
              <a:ext cx="2836" cy="1309"/>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300" b="0" i="0" u="none" strike="noStrike">
                  <a:solidFill>
                    <a:schemeClr val="tx1">
                      <a:lumMod val="75000"/>
                      <a:lumOff val="25000"/>
                    </a:schemeClr>
                  </a:solidFill>
                  <a:latin typeface="Noto Serif SC" panose="02020200000000000000" charset="-122"/>
                  <a:ea typeface="Noto Serif SC" panose="02020200000000000000" charset="-122"/>
                  <a:cs typeface="Noto Serif SC" panose="02020200000000000000" charset="-122"/>
                  <a:sym typeface="Noto Sans SC" panose="020B0200000000000000" charset="-122"/>
                </a:rPr>
                <a:t>收录</a:t>
              </a:r>
              <a:r>
                <a:rPr lang="en-US" sz="1300" b="1" i="0" u="none" strike="noStrike">
                  <a:solidFill>
                    <a:schemeClr val="tx1">
                      <a:lumMod val="75000"/>
                      <a:lumOff val="25000"/>
                    </a:schemeClr>
                  </a:solidFill>
                  <a:latin typeface="Noto Serif SC" panose="02020200000000000000" charset="-122"/>
                  <a:ea typeface="Noto Serif SC" panose="02020200000000000000" charset="-122"/>
                  <a:cs typeface="Noto Serif SC" panose="02020200000000000000" charset="-122"/>
                  <a:sym typeface="Noto Sans SC" panose="020B0200000000000000" charset="-122"/>
                </a:rPr>
                <a:t>72</a:t>
              </a:r>
              <a:r>
                <a:rPr lang="en-US" sz="1300" b="0" i="0" u="none" strike="noStrike">
                  <a:solidFill>
                    <a:schemeClr val="tx1">
                      <a:lumMod val="75000"/>
                      <a:lumOff val="25000"/>
                    </a:schemeClr>
                  </a:solidFill>
                  <a:latin typeface="Noto Serif SC" panose="02020200000000000000" charset="-122"/>
                  <a:ea typeface="Noto Serif SC" panose="02020200000000000000" charset="-122"/>
                  <a:cs typeface="Noto Serif SC" panose="02020200000000000000" charset="-122"/>
                  <a:sym typeface="Noto Sans SC" panose="020B0200000000000000" charset="-122"/>
                </a:rPr>
                <a:t>个</a:t>
              </a:r>
              <a:br>
                <a:rPr lang="en-US" sz="1300" b="0" i="0" u="none" strike="noStrike">
                  <a:solidFill>
                    <a:schemeClr val="tx1">
                      <a:lumMod val="75000"/>
                      <a:lumOff val="25000"/>
                    </a:schemeClr>
                  </a:solidFill>
                  <a:latin typeface="Noto Serif SC" panose="02020200000000000000" charset="-122"/>
                  <a:ea typeface="Noto Serif SC" panose="02020200000000000000" charset="-122"/>
                  <a:cs typeface="Noto Serif SC" panose="02020200000000000000" charset="-122"/>
                  <a:sym typeface="Noto Sans SC" panose="020B0200000000000000" charset="-122"/>
                </a:rPr>
              </a:br>
              <a:r>
                <a:rPr lang="en-US" sz="1300" b="0" i="0" u="none" strike="noStrike">
                  <a:solidFill>
                    <a:schemeClr val="tx1">
                      <a:lumMod val="75000"/>
                      <a:lumOff val="25000"/>
                    </a:schemeClr>
                  </a:solidFill>
                  <a:latin typeface="Noto Serif SC" panose="02020200000000000000" charset="-122"/>
                  <a:ea typeface="Noto Serif SC" panose="02020200000000000000" charset="-122"/>
                  <a:cs typeface="Noto Serif SC" panose="02020200000000000000" charset="-122"/>
                  <a:sym typeface="Noto Sans SC" panose="020B0200000000000000" charset="-122"/>
                </a:rPr>
                <a:t>重要历史文化遗址</a:t>
              </a:r>
            </a:p>
          </p:txBody>
        </p:sp>
      </p:grpSp>
      <p:grpSp>
        <p:nvGrpSpPr>
          <p:cNvPr id="49" name="组合 48"/>
          <p:cNvGrpSpPr/>
          <p:nvPr>
            <p:custDataLst>
              <p:tags r:id="rId3"/>
            </p:custDataLst>
          </p:nvPr>
        </p:nvGrpSpPr>
        <p:grpSpPr>
          <a:xfrm>
            <a:off x="1017270" y="4445000"/>
            <a:ext cx="2990850" cy="1869440"/>
            <a:chOff x="1538" y="7300"/>
            <a:chExt cx="4710" cy="2944"/>
          </a:xfrm>
        </p:grpSpPr>
        <p:sp>
          <p:nvSpPr>
            <p:cNvPr id="32" name="AutoShape 13"/>
            <p:cNvSpPr/>
            <p:nvPr>
              <p:custDataLst>
                <p:tags r:id="rId9"/>
              </p:custDataLst>
            </p:nvPr>
          </p:nvSpPr>
          <p:spPr>
            <a:xfrm>
              <a:off x="1538" y="7300"/>
              <a:ext cx="4711" cy="2944"/>
            </a:xfrm>
            <a:prstGeom prst="roundRect">
              <a:avLst>
                <a:gd name="adj" fmla="val 5714"/>
              </a:avLst>
            </a:prstGeom>
            <a:solidFill>
              <a:srgbClr val="FAF8F5">
                <a:alpha val="95000"/>
              </a:srgbClr>
            </a:solidFill>
            <a:ln w="12700" cap="flat" cmpd="sng">
              <a:solidFill>
                <a:srgbClr val="8C482A">
                  <a:alpha val="6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33" name="Picture 14"/>
            <p:cNvPicPr>
              <a:picLocks noChangeAspect="1"/>
            </p:cNvPicPr>
            <p:nvPr>
              <p:custDataLst>
                <p:tags r:id="rId10"/>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778" y="7606"/>
              <a:ext cx="524" cy="524"/>
            </a:xfrm>
            <a:prstGeom prst="rect">
              <a:avLst/>
            </a:prstGeom>
          </p:spPr>
        </p:pic>
        <p:sp>
          <p:nvSpPr>
            <p:cNvPr id="34" name="AutoShape 15"/>
            <p:cNvSpPr/>
            <p:nvPr>
              <p:custDataLst>
                <p:tags r:id="rId11"/>
              </p:custDataLst>
            </p:nvPr>
          </p:nvSpPr>
          <p:spPr>
            <a:xfrm>
              <a:off x="2892" y="7535"/>
              <a:ext cx="1785" cy="66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时间跨度</a:t>
              </a:r>
              <a:endParaRPr lang="en-US" sz="1100"/>
            </a:p>
          </p:txBody>
        </p:sp>
        <p:sp>
          <p:nvSpPr>
            <p:cNvPr id="35" name="AutoShape 16"/>
            <p:cNvSpPr/>
            <p:nvPr>
              <p:custDataLst>
                <p:tags r:id="rId12"/>
              </p:custDataLst>
            </p:nvPr>
          </p:nvSpPr>
          <p:spPr>
            <a:xfrm>
              <a:off x="1981" y="8291"/>
              <a:ext cx="3952" cy="1566"/>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zh-CN" altLang="en-US" sz="1300">
                  <a:solidFill>
                    <a:schemeClr val="tx1">
                      <a:lumMod val="75000"/>
                      <a:lumOff val="25000"/>
                    </a:schemeClr>
                  </a:solidFill>
                  <a:latin typeface="Noto Serif SC" panose="02020200000000000000" charset="-122"/>
                  <a:ea typeface="Noto Serif SC" panose="02020200000000000000" charset="-122"/>
                  <a:cs typeface="Noto Serif SC" panose="02020200000000000000" charset="-122"/>
                  <a:sym typeface="+mn-ea"/>
                </a:rPr>
                <a:t>新石器 → 夏商周 → 秦汉 → 魏晋 → 隋唐 → 宋元 → 明清</a:t>
              </a:r>
            </a:p>
          </p:txBody>
        </p:sp>
      </p:grpSp>
      <p:grpSp>
        <p:nvGrpSpPr>
          <p:cNvPr id="50" name="组合 49"/>
          <p:cNvGrpSpPr/>
          <p:nvPr>
            <p:custDataLst>
              <p:tags r:id="rId4"/>
            </p:custDataLst>
          </p:nvPr>
        </p:nvGrpSpPr>
        <p:grpSpPr>
          <a:xfrm>
            <a:off x="4544060" y="4410710"/>
            <a:ext cx="2842895" cy="1869440"/>
            <a:chOff x="7600" y="6828"/>
            <a:chExt cx="4300" cy="2944"/>
          </a:xfrm>
        </p:grpSpPr>
        <p:sp>
          <p:nvSpPr>
            <p:cNvPr id="40" name="AutoShape 21"/>
            <p:cNvSpPr/>
            <p:nvPr>
              <p:custDataLst>
                <p:tags r:id="rId5"/>
              </p:custDataLst>
            </p:nvPr>
          </p:nvSpPr>
          <p:spPr>
            <a:xfrm>
              <a:off x="7600" y="6828"/>
              <a:ext cx="4300" cy="2944"/>
            </a:xfrm>
            <a:prstGeom prst="roundRect">
              <a:avLst>
                <a:gd name="adj" fmla="val 6153"/>
              </a:avLst>
            </a:prstGeom>
            <a:solidFill>
              <a:srgbClr val="FAF8F5">
                <a:alpha val="95000"/>
              </a:srgbClr>
            </a:solidFill>
            <a:ln w="12700" cap="flat" cmpd="sng">
              <a:solidFill>
                <a:srgbClr val="8C482A">
                  <a:alpha val="6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41" name="Picture 22"/>
            <p:cNvPicPr>
              <a:picLocks noChangeAspect="1"/>
            </p:cNvPicPr>
            <p:nvPr>
              <p:custDataLst>
                <p:tags r:id="rId6"/>
              </p:custDataLst>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900" y="7300"/>
              <a:ext cx="560" cy="560"/>
            </a:xfrm>
            <a:prstGeom prst="rect">
              <a:avLst/>
            </a:prstGeom>
          </p:spPr>
        </p:pic>
        <p:sp>
          <p:nvSpPr>
            <p:cNvPr id="42" name="AutoShape 23"/>
            <p:cNvSpPr/>
            <p:nvPr>
              <p:custDataLst>
                <p:tags r:id="rId7"/>
              </p:custDataLst>
            </p:nvPr>
          </p:nvSpPr>
          <p:spPr>
            <a:xfrm>
              <a:off x="8700" y="7240"/>
              <a:ext cx="28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a:latin typeface="Noto Serif SC" panose="02020200000000000000" charset="-122"/>
                  <a:ea typeface="Noto Serif SC" panose="02020200000000000000" charset="-122"/>
                </a:rPr>
                <a:t>数据来源</a:t>
              </a:r>
            </a:p>
          </p:txBody>
        </p:sp>
        <p:sp>
          <p:nvSpPr>
            <p:cNvPr id="43" name="AutoShape 24"/>
            <p:cNvSpPr/>
            <p:nvPr>
              <p:custDataLst>
                <p:tags r:id="rId8"/>
              </p:custDataLst>
            </p:nvPr>
          </p:nvSpPr>
          <p:spPr>
            <a:xfrm>
              <a:off x="7900" y="8200"/>
              <a:ext cx="3700" cy="12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300" b="0" i="0" u="none" strike="noStrike">
                  <a:solidFill>
                    <a:schemeClr val="tx1">
                      <a:lumMod val="75000"/>
                      <a:lumOff val="25000"/>
                    </a:schemeClr>
                  </a:solidFill>
                  <a:latin typeface="Noto Serif SC" panose="02020200000000000000" charset="-122"/>
                  <a:ea typeface="Noto Serif SC" panose="02020200000000000000" charset="-122"/>
                  <a:cs typeface="Noto Serif SC" panose="02020200000000000000" charset="-122"/>
                  <a:sym typeface="Noto Sans SC" panose="020B0200000000000000" charset="-122"/>
                </a:rPr>
                <a:t>官方文保名录 </a:t>
              </a:r>
              <a:r>
                <a:rPr lang="zh-CN" altLang="en-US" sz="1300" b="0" i="0" u="none" strike="noStrike">
                  <a:solidFill>
                    <a:schemeClr val="tx1">
                      <a:lumMod val="75000"/>
                      <a:lumOff val="25000"/>
                    </a:schemeClr>
                  </a:solidFill>
                  <a:latin typeface="Noto Serif SC" panose="02020200000000000000" charset="-122"/>
                  <a:ea typeface="Noto Serif SC" panose="02020200000000000000" charset="-122"/>
                  <a:cs typeface="Noto Serif SC" panose="02020200000000000000" charset="-122"/>
                  <a:sym typeface="Noto Sans SC" panose="020B0200000000000000" charset="-122"/>
                </a:rPr>
                <a:t>，维基百科，百度百科等</a:t>
              </a:r>
            </a:p>
          </p:txBody>
        </p:sp>
      </p:grpSp>
      <p:pic>
        <p:nvPicPr>
          <p:cNvPr id="44" name="Picture 25"/>
          <p:cNvPicPr>
            <a:picLocks noChangeAspect="1"/>
          </p:cNvPicPr>
          <p:nvPr/>
        </p:nvPicPr>
        <p:blipFill>
          <a:blip r:embed="rId32"/>
          <a:srcRect l="12499" r="12500"/>
          <a:stretch>
            <a:fillRect/>
          </a:stretch>
        </p:blipFill>
        <p:spPr>
          <a:xfrm>
            <a:off x="7747000" y="2413000"/>
            <a:ext cx="3683000" cy="3683000"/>
          </a:xfrm>
          <a:prstGeom prst="roundRect">
            <a:avLst>
              <a:gd name="adj" fmla="val 4137"/>
            </a:avLst>
          </a:prstGeom>
          <a:noFill/>
          <a:ln w="25400" cap="flat" cmpd="sng">
            <a:solidFill>
              <a:srgbClr val="8C482A">
                <a:alpha val="80000"/>
              </a:srgbClr>
            </a:solidFill>
            <a:prstDash val="solid"/>
            <a:round/>
          </a:ln>
          <a:effectLst>
            <a:outerShdw blurRad="444500" dist="190500" dir="2700000" algn="tl" rotWithShape="0">
              <a:srgbClr val="000000">
                <a:alpha val="2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p:tgtEl>
                                          <p:spTgt spid="23"/>
                                        </p:tgtEl>
                                        <p:attrNameLst>
                                          <p:attrName>ppt_y</p:attrName>
                                        </p:attrNameLst>
                                      </p:cBhvr>
                                      <p:tavLst>
                                        <p:tav tm="0">
                                          <p:val>
                                            <p:strVal val="#ppt_y+#ppt_h*1.125000"/>
                                          </p:val>
                                        </p:tav>
                                        <p:tav tm="100000">
                                          <p:val>
                                            <p:strVal val="#ppt_y"/>
                                          </p:val>
                                        </p:tav>
                                      </p:tavLst>
                                    </p:anim>
                                    <p:animEffect transition="in" filter="wipe(up)">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anim calcmode="lin" valueType="num">
                                      <p:cBhvr additive="base">
                                        <p:cTn id="17" dur="500"/>
                                        <p:tgtEl>
                                          <p:spTgt spid="48"/>
                                        </p:tgtEl>
                                        <p:attrNameLst>
                                          <p:attrName>ppt_y</p:attrName>
                                        </p:attrNameLst>
                                      </p:cBhvr>
                                      <p:tavLst>
                                        <p:tav tm="0">
                                          <p:val>
                                            <p:strVal val="#ppt_y+#ppt_h*1.125000"/>
                                          </p:val>
                                        </p:tav>
                                        <p:tav tm="100000">
                                          <p:val>
                                            <p:strVal val="#ppt_y"/>
                                          </p:val>
                                        </p:tav>
                                      </p:tavLst>
                                    </p:anim>
                                    <p:animEffect transition="in" filter="wipe(up)">
                                      <p:cBhvr>
                                        <p:cTn id="18" dur="500"/>
                                        <p:tgtEl>
                                          <p:spTgt spid="48"/>
                                        </p:tgtEl>
                                      </p:cBhvr>
                                    </p:animEffect>
                                  </p:childTnLst>
                                </p:cTn>
                              </p:par>
                              <p:par>
                                <p:cTn id="19" presetID="12" presetClass="entr" presetSubtype="4"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additive="base">
                                        <p:cTn id="21" dur="500"/>
                                        <p:tgtEl>
                                          <p:spTgt spid="49"/>
                                        </p:tgtEl>
                                        <p:attrNameLst>
                                          <p:attrName>ppt_y</p:attrName>
                                        </p:attrNameLst>
                                      </p:cBhvr>
                                      <p:tavLst>
                                        <p:tav tm="0">
                                          <p:val>
                                            <p:strVal val="#ppt_y+#ppt_h*1.125000"/>
                                          </p:val>
                                        </p:tav>
                                        <p:tav tm="100000">
                                          <p:val>
                                            <p:strVal val="#ppt_y"/>
                                          </p:val>
                                        </p:tav>
                                      </p:tavLst>
                                    </p:anim>
                                    <p:animEffect transition="in" filter="wipe(up)">
                                      <p:cBhvr>
                                        <p:cTn id="22" dur="500"/>
                                        <p:tgtEl>
                                          <p:spTgt spid="49"/>
                                        </p:tgtEl>
                                      </p:cBhvr>
                                    </p:animEffect>
                                  </p:childTnLst>
                                </p:cTn>
                              </p:par>
                              <p:par>
                                <p:cTn id="23" presetID="12" presetClass="entr" presetSubtype="4" fill="hold" nodeType="with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500"/>
                                        <p:tgtEl>
                                          <p:spTgt spid="47"/>
                                        </p:tgtEl>
                                        <p:attrNameLst>
                                          <p:attrName>ppt_y</p:attrName>
                                        </p:attrNameLst>
                                      </p:cBhvr>
                                      <p:tavLst>
                                        <p:tav tm="0">
                                          <p:val>
                                            <p:strVal val="#ppt_y+#ppt_h*1.125000"/>
                                          </p:val>
                                        </p:tav>
                                        <p:tav tm="100000">
                                          <p:val>
                                            <p:strVal val="#ppt_y"/>
                                          </p:val>
                                        </p:tav>
                                      </p:tavLst>
                                    </p:anim>
                                    <p:animEffect transition="in" filter="wipe(up)">
                                      <p:cBhvr>
                                        <p:cTn id="26" dur="500"/>
                                        <p:tgtEl>
                                          <p:spTgt spid="47"/>
                                        </p:tgtEl>
                                      </p:cBhvr>
                                    </p:animEffect>
                                  </p:childTnLst>
                                </p:cTn>
                              </p:par>
                              <p:par>
                                <p:cTn id="27" presetID="12" presetClass="entr" presetSubtype="4" fill="hold" nodeType="withEffect">
                                  <p:stCondLst>
                                    <p:cond delay="0"/>
                                  </p:stCondLst>
                                  <p:childTnLst>
                                    <p:set>
                                      <p:cBhvr>
                                        <p:cTn id="28" dur="1" fill="hold">
                                          <p:stCondLst>
                                            <p:cond delay="0"/>
                                          </p:stCondLst>
                                        </p:cTn>
                                        <p:tgtEl>
                                          <p:spTgt spid="50"/>
                                        </p:tgtEl>
                                        <p:attrNameLst>
                                          <p:attrName>style.visibility</p:attrName>
                                        </p:attrNameLst>
                                      </p:cBhvr>
                                      <p:to>
                                        <p:strVal val="visible"/>
                                      </p:to>
                                    </p:set>
                                    <p:anim calcmode="lin" valueType="num">
                                      <p:cBhvr additive="base">
                                        <p:cTn id="29" dur="500"/>
                                        <p:tgtEl>
                                          <p:spTgt spid="50"/>
                                        </p:tgtEl>
                                        <p:attrNameLst>
                                          <p:attrName>ppt_y</p:attrName>
                                        </p:attrNameLst>
                                      </p:cBhvr>
                                      <p:tavLst>
                                        <p:tav tm="0">
                                          <p:val>
                                            <p:strVal val="#ppt_y+#ppt_h*1.125000"/>
                                          </p:val>
                                        </p:tav>
                                        <p:tav tm="100000">
                                          <p:val>
                                            <p:strVal val="#ppt_y"/>
                                          </p:val>
                                        </p:tav>
                                      </p:tavLst>
                                    </p:anim>
                                    <p:animEffect transition="in" filter="wipe(up)">
                                      <p:cBhvr>
                                        <p:cTn id="30" dur="500"/>
                                        <p:tgtEl>
                                          <p:spTgt spid="50"/>
                                        </p:tgtEl>
                                      </p:cBhvr>
                                    </p:animEffect>
                                  </p:childTnLst>
                                </p:cTn>
                              </p:par>
                            </p:childTnLst>
                          </p:cTn>
                        </p:par>
                        <p:par>
                          <p:cTn id="31" fill="hold">
                            <p:stCondLst>
                              <p:cond delay="500"/>
                            </p:stCondLst>
                            <p:childTnLst>
                              <p:par>
                                <p:cTn id="32" presetID="2" presetClass="entr" presetSubtype="2" fill="hold" nodeType="afterEffect">
                                  <p:stCondLst>
                                    <p:cond delay="0"/>
                                  </p:stCondLst>
                                  <p:childTnLst>
                                    <p:set>
                                      <p:cBhvr>
                                        <p:cTn id="33" dur="1" fill="hold">
                                          <p:stCondLst>
                                            <p:cond delay="0"/>
                                          </p:stCondLst>
                                        </p:cTn>
                                        <p:tgtEl>
                                          <p:spTgt spid="44"/>
                                        </p:tgtEl>
                                        <p:attrNameLst>
                                          <p:attrName>style.visibility</p:attrName>
                                        </p:attrNameLst>
                                      </p:cBhvr>
                                      <p:to>
                                        <p:strVal val="visible"/>
                                      </p:to>
                                    </p:set>
                                    <p:anim calcmode="lin" valueType="num">
                                      <p:cBhvr additive="base">
                                        <p:cTn id="34" dur="500" fill="hold"/>
                                        <p:tgtEl>
                                          <p:spTgt spid="44"/>
                                        </p:tgtEl>
                                        <p:attrNameLst>
                                          <p:attrName>ppt_x</p:attrName>
                                        </p:attrNameLst>
                                      </p:cBhvr>
                                      <p:tavLst>
                                        <p:tav tm="0">
                                          <p:val>
                                            <p:strVal val="1+#ppt_w/2"/>
                                          </p:val>
                                        </p:tav>
                                        <p:tav tm="100000">
                                          <p:val>
                                            <p:strVal val="#ppt_x"/>
                                          </p:val>
                                        </p:tav>
                                      </p:tavLst>
                                    </p:anim>
                                    <p:anim calcmode="lin" valueType="num">
                                      <p:cBhvr additive="base">
                                        <p:cTn id="35" dur="5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23" grpId="0"/>
      <p:bldP spid="23"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136" r="-1136"/>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2E404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76530" y="1081405"/>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dirty="0">
                <a:solidFill>
                  <a:srgbClr val="D4AF3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a:t>
            </a:r>
            <a:endParaRPr lang="en-US" sz="12000" dirty="0"/>
          </a:p>
        </p:txBody>
      </p:sp>
      <p:sp>
        <p:nvSpPr>
          <p:cNvPr id="4" name="AutoShape 4"/>
          <p:cNvSpPr/>
          <p:nvPr/>
        </p:nvSpPr>
        <p:spPr>
          <a:xfrm>
            <a:off x="2654300" y="3993515"/>
            <a:ext cx="7400925"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5400" b="0" i="0" u="none" strike="noStrike" spc="400" dirty="0">
                <a:solidFill>
                  <a:srgbClr val="FFFFFF"/>
                </a:solidFill>
                <a:latin typeface="+mj-ea"/>
                <a:ea typeface="+mj-ea"/>
                <a:cs typeface="Noto Serif SC" panose="02020200000000000000" charset="-122"/>
                <a:sym typeface="Noto Serif SC" panose="02020200000000000000" charset="-122"/>
              </a:rPr>
              <a:t>核心功能模块展示</a:t>
            </a:r>
          </a:p>
        </p:txBody>
      </p:sp>
      <p:sp>
        <p:nvSpPr>
          <p:cNvPr id="5" name="AutoShape 5"/>
          <p:cNvSpPr/>
          <p:nvPr/>
        </p:nvSpPr>
        <p:spPr>
          <a:xfrm>
            <a:off x="5125720" y="4940300"/>
            <a:ext cx="2193925" cy="36830"/>
          </a:xfrm>
          <a:custGeom>
            <a:avLst/>
            <a:gdLst>
              <a:gd name="connsiteX0" fmla="*/ 0 w 3455"/>
              <a:gd name="connsiteY0" fmla="*/ 0 h 58"/>
              <a:gd name="connsiteX1" fmla="*/ 3455 w 3455"/>
              <a:gd name="connsiteY1" fmla="*/ 2 h 58"/>
              <a:gd name="connsiteX2" fmla="*/ 3455 w 3455"/>
              <a:gd name="connsiteY2" fmla="*/ 58 h 58"/>
              <a:gd name="connsiteX3" fmla="*/ 0 w 3455"/>
              <a:gd name="connsiteY3" fmla="*/ 40 h 58"/>
              <a:gd name="connsiteX4" fmla="*/ 0 w 3455"/>
              <a:gd name="connsiteY4" fmla="*/ 0 h 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5" h="58">
                <a:moveTo>
                  <a:pt x="0" y="0"/>
                </a:moveTo>
                <a:lnTo>
                  <a:pt x="3455" y="2"/>
                </a:lnTo>
                <a:lnTo>
                  <a:pt x="3455" y="58"/>
                </a:lnTo>
                <a:lnTo>
                  <a:pt x="0" y="40"/>
                </a:lnTo>
                <a:lnTo>
                  <a:pt x="0" y="0"/>
                </a:lnTo>
                <a:close/>
              </a:path>
            </a:pathLst>
          </a:custGeom>
          <a:solidFill>
            <a:srgbClr val="D4AF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7" name="AutoShape 6"/>
          <p:cNvSpPr/>
          <p:nvPr/>
        </p:nvSpPr>
        <p:spPr>
          <a:xfrm>
            <a:off x="12700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6">
            <a:lum/>
          </a:blip>
          <a:srcRect/>
          <a:stretch>
            <a:fillRect l="-1136" r="-1136"/>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508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核心功能模块展示</a:t>
            </a:r>
            <a:endParaRPr lang="en-US" sz="1100" dirty="0"/>
          </a:p>
        </p:txBody>
      </p:sp>
      <p:grpSp>
        <p:nvGrpSpPr>
          <p:cNvPr id="34" name="组合 33"/>
          <p:cNvGrpSpPr/>
          <p:nvPr>
            <p:custDataLst>
              <p:tags r:id="rId1"/>
            </p:custDataLst>
          </p:nvPr>
        </p:nvGrpSpPr>
        <p:grpSpPr>
          <a:xfrm>
            <a:off x="762000" y="1651000"/>
            <a:ext cx="3378200" cy="2032000"/>
            <a:chOff x="1200" y="2600"/>
            <a:chExt cx="5320" cy="3200"/>
          </a:xfrm>
        </p:grpSpPr>
        <p:grpSp>
          <p:nvGrpSpPr>
            <p:cNvPr id="33" name="组合 32"/>
            <p:cNvGrpSpPr/>
            <p:nvPr>
              <p:custDataLst>
                <p:tags r:id="rId16"/>
              </p:custDataLst>
            </p:nvPr>
          </p:nvGrpSpPr>
          <p:grpSpPr>
            <a:xfrm>
              <a:off x="1200" y="2600"/>
              <a:ext cx="5320" cy="3200"/>
              <a:chOff x="1200" y="2600"/>
              <a:chExt cx="5320" cy="3200"/>
            </a:xfrm>
          </p:grpSpPr>
          <p:grpSp>
            <p:nvGrpSpPr>
              <p:cNvPr id="32" name="组合 31"/>
              <p:cNvGrpSpPr/>
              <p:nvPr>
                <p:custDataLst>
                  <p:tags r:id="rId18"/>
                </p:custDataLst>
              </p:nvPr>
            </p:nvGrpSpPr>
            <p:grpSpPr>
              <a:xfrm>
                <a:off x="1200" y="2600"/>
                <a:ext cx="5320" cy="3200"/>
                <a:chOff x="1200" y="2600"/>
                <a:chExt cx="5320" cy="3200"/>
              </a:xfrm>
            </p:grpSpPr>
            <p:sp>
              <p:nvSpPr>
                <p:cNvPr id="4" name="AutoShape 4"/>
                <p:cNvSpPr/>
                <p:nvPr>
                  <p:custDataLst>
                    <p:tags r:id="rId20"/>
                  </p:custDataLst>
                </p:nvPr>
              </p:nvSpPr>
              <p:spPr>
                <a:xfrm>
                  <a:off x="1200" y="2600"/>
                  <a:ext cx="5320" cy="3200"/>
                </a:xfrm>
                <a:prstGeom prst="roundRect">
                  <a:avLst>
                    <a:gd name="adj" fmla="val 7500"/>
                  </a:avLst>
                </a:prstGeom>
                <a:solidFill>
                  <a:srgbClr val="FFFFFF">
                    <a:alpha val="92000"/>
                  </a:srgbClr>
                </a:solidFill>
                <a:ln w="12700" cap="flat" cmpd="sng">
                  <a:solidFill>
                    <a:srgbClr val="2E4047">
                      <a:alpha val="25000"/>
                    </a:srgbClr>
                  </a:solidFill>
                  <a:prstDash val="solid"/>
                  <a:round/>
                </a:ln>
                <a:effectLst>
                  <a:outerShdw blurRad="152400" dist="508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custDataLst>
                    <p:tags r:id="rId21"/>
                  </p:custDataLst>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920" y="3320"/>
                  <a:ext cx="640" cy="640"/>
                </a:xfrm>
                <a:prstGeom prst="rect">
                  <a:avLst/>
                </a:prstGeom>
              </p:spPr>
            </p:pic>
            <p:sp>
              <p:nvSpPr>
                <p:cNvPr id="8" name="AutoShape 8"/>
                <p:cNvSpPr/>
                <p:nvPr>
                  <p:custDataLst>
                    <p:tags r:id="rId22"/>
                  </p:custDataLst>
                </p:nvPr>
              </p:nvSpPr>
              <p:spPr>
                <a:xfrm>
                  <a:off x="3200" y="3600"/>
                  <a:ext cx="3000" cy="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Map Visualization</a:t>
                  </a:r>
                  <a:endParaRPr lang="en-US" sz="1100"/>
                </a:p>
              </p:txBody>
            </p:sp>
            <p:sp>
              <p:nvSpPr>
                <p:cNvPr id="9" name="AutoShape 9"/>
                <p:cNvSpPr/>
                <p:nvPr>
                  <p:custDataLst>
                    <p:tags r:id="rId23"/>
                  </p:custDataLst>
                </p:nvPr>
              </p:nvSpPr>
              <p:spPr>
                <a:xfrm>
                  <a:off x="3200" y="4200"/>
                  <a:ext cx="2920" cy="12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基于GeoJSON数据，在河南地图上直观呈现建筑样本的空间分布与地理格局。</a:t>
                  </a:r>
                  <a:endParaRPr lang="en-US" sz="1100" dirty="0"/>
                </a:p>
              </p:txBody>
            </p:sp>
          </p:grpSp>
          <p:sp>
            <p:nvSpPr>
              <p:cNvPr id="7" name="AutoShape 7"/>
              <p:cNvSpPr/>
              <p:nvPr>
                <p:custDataLst>
                  <p:tags r:id="rId19"/>
                </p:custDataLst>
              </p:nvPr>
            </p:nvSpPr>
            <p:spPr>
              <a:xfrm>
                <a:off x="3200" y="3000"/>
                <a:ext cx="30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山河分布</a:t>
                </a:r>
                <a:endParaRPr lang="en-US" sz="1100"/>
              </a:p>
            </p:txBody>
          </p:sp>
        </p:grpSp>
        <p:sp>
          <p:nvSpPr>
            <p:cNvPr id="5" name="AutoShape 5"/>
            <p:cNvSpPr/>
            <p:nvPr>
              <p:custDataLst>
                <p:tags r:id="rId17"/>
              </p:custDataLst>
            </p:nvPr>
          </p:nvSpPr>
          <p:spPr>
            <a:xfrm>
              <a:off x="1600" y="3000"/>
              <a:ext cx="1280" cy="1280"/>
            </a:xfrm>
            <a:prstGeom prst="ellipse">
              <a:avLst/>
            </a:prstGeom>
            <a:solidFill>
              <a:srgbClr val="2E4047">
                <a:alpha val="8000"/>
              </a:srgbClr>
            </a:solidFill>
            <a:ln w="25400" cap="flat" cmpd="sng">
              <a:noFill/>
              <a:prstDash val="solid"/>
              <a:round/>
            </a:ln>
          </p:spPr>
          <p:txBody>
            <a:bodyPr vert="horz" wrap="square" lIns="63500" tIns="63500" rIns="63500" bIns="63500" rtlCol="0" anchor="ctr"/>
            <a:lstStyle/>
            <a:p>
              <a:pPr algn="ctr">
                <a:defRPr/>
              </a:pPr>
              <a:endParaRPr/>
            </a:p>
          </p:txBody>
        </p:sp>
      </p:grpSp>
      <p:grpSp>
        <p:nvGrpSpPr>
          <p:cNvPr id="35" name="组合 34"/>
          <p:cNvGrpSpPr/>
          <p:nvPr>
            <p:custDataLst>
              <p:tags r:id="rId2"/>
            </p:custDataLst>
          </p:nvPr>
        </p:nvGrpSpPr>
        <p:grpSpPr>
          <a:xfrm>
            <a:off x="4394200" y="1651000"/>
            <a:ext cx="3378200" cy="2032000"/>
            <a:chOff x="6880" y="2550"/>
            <a:chExt cx="5320" cy="3200"/>
          </a:xfrm>
        </p:grpSpPr>
        <p:sp>
          <p:nvSpPr>
            <p:cNvPr id="10" name="AutoShape 10"/>
            <p:cNvSpPr/>
            <p:nvPr>
              <p:custDataLst>
                <p:tags r:id="rId10"/>
              </p:custDataLst>
            </p:nvPr>
          </p:nvSpPr>
          <p:spPr>
            <a:xfrm>
              <a:off x="6880" y="2550"/>
              <a:ext cx="5320" cy="3200"/>
            </a:xfrm>
            <a:prstGeom prst="roundRect">
              <a:avLst>
                <a:gd name="adj" fmla="val 7500"/>
              </a:avLst>
            </a:prstGeom>
            <a:solidFill>
              <a:srgbClr val="FFFFFF">
                <a:alpha val="92000"/>
              </a:srgbClr>
            </a:solidFill>
            <a:ln w="12700" cap="flat" cmpd="sng">
              <a:solidFill>
                <a:srgbClr val="2E4047">
                  <a:alpha val="25000"/>
                </a:srgbClr>
              </a:solidFill>
              <a:prstDash val="solid"/>
              <a:round/>
            </a:ln>
            <a:effectLst>
              <a:outerShdw blurRad="152400" dist="50800" dir="2700000" algn="tl" rotWithShape="0">
                <a:srgbClr val="2E4047">
                  <a:alpha val="10000"/>
                </a:srgbClr>
              </a:outerShdw>
            </a:effectLst>
          </p:spPr>
          <p:txBody>
            <a:bodyPr vert="horz" wrap="square" lIns="63500" tIns="63500" rIns="63500" bIns="63500" rtlCol="0" anchor="ctr"/>
            <a:lstStyle/>
            <a:p>
              <a:pPr algn="ctr">
                <a:defRPr/>
              </a:pPr>
              <a:endParaRPr/>
            </a:p>
          </p:txBody>
        </p:sp>
        <p:sp>
          <p:nvSpPr>
            <p:cNvPr id="11" name="AutoShape 11"/>
            <p:cNvSpPr/>
            <p:nvPr>
              <p:custDataLst>
                <p:tags r:id="rId11"/>
              </p:custDataLst>
            </p:nvPr>
          </p:nvSpPr>
          <p:spPr>
            <a:xfrm>
              <a:off x="7320" y="3000"/>
              <a:ext cx="1280" cy="1280"/>
            </a:xfrm>
            <a:prstGeom prst="ellipse">
              <a:avLst/>
            </a:prstGeom>
            <a:solidFill>
              <a:srgbClr val="2E4047">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custDataLst>
                <p:tags r:id="rId12"/>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640" y="3320"/>
              <a:ext cx="640" cy="640"/>
            </a:xfrm>
            <a:prstGeom prst="rect">
              <a:avLst/>
            </a:prstGeom>
          </p:spPr>
        </p:pic>
        <p:sp>
          <p:nvSpPr>
            <p:cNvPr id="14" name="AutoShape 14"/>
            <p:cNvSpPr/>
            <p:nvPr>
              <p:custDataLst>
                <p:tags r:id="rId13"/>
              </p:custDataLst>
            </p:nvPr>
          </p:nvSpPr>
          <p:spPr>
            <a:xfrm>
              <a:off x="8920" y="3600"/>
              <a:ext cx="3000" cy="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dirty="0">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Timeline Evolution</a:t>
              </a:r>
              <a:endParaRPr lang="en-US" sz="1100" dirty="0"/>
            </a:p>
          </p:txBody>
        </p:sp>
        <p:sp>
          <p:nvSpPr>
            <p:cNvPr id="13" name="AutoShape 13"/>
            <p:cNvSpPr/>
            <p:nvPr>
              <p:custDataLst>
                <p:tags r:id="rId14"/>
              </p:custDataLst>
            </p:nvPr>
          </p:nvSpPr>
          <p:spPr>
            <a:xfrm>
              <a:off x="8920" y="3000"/>
              <a:ext cx="30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时代演化</a:t>
              </a:r>
              <a:endParaRPr lang="en-US" sz="1100"/>
            </a:p>
          </p:txBody>
        </p:sp>
        <p:sp>
          <p:nvSpPr>
            <p:cNvPr id="15" name="AutoShape 15"/>
            <p:cNvSpPr/>
            <p:nvPr>
              <p:custDataLst>
                <p:tags r:id="rId15"/>
              </p:custDataLst>
            </p:nvPr>
          </p:nvSpPr>
          <p:spPr>
            <a:xfrm>
              <a:off x="8920" y="4200"/>
              <a:ext cx="2920" cy="12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以时间轴形式串联，全景展现从史前文明到明清时期的建筑发展脉络与风格变迁。</a:t>
              </a:r>
              <a:endParaRPr lang="en-US" sz="1100"/>
            </a:p>
          </p:txBody>
        </p:sp>
      </p:grpSp>
      <p:grpSp>
        <p:nvGrpSpPr>
          <p:cNvPr id="36" name="组合 35"/>
          <p:cNvGrpSpPr/>
          <p:nvPr>
            <p:custDataLst>
              <p:tags r:id="rId3"/>
            </p:custDataLst>
          </p:nvPr>
        </p:nvGrpSpPr>
        <p:grpSpPr>
          <a:xfrm>
            <a:off x="8026400" y="1651000"/>
            <a:ext cx="3403600" cy="2032000"/>
            <a:chOff x="12640" y="2600"/>
            <a:chExt cx="5360" cy="3200"/>
          </a:xfrm>
        </p:grpSpPr>
        <p:sp>
          <p:nvSpPr>
            <p:cNvPr id="16" name="AutoShape 16"/>
            <p:cNvSpPr/>
            <p:nvPr>
              <p:custDataLst>
                <p:tags r:id="rId4"/>
              </p:custDataLst>
            </p:nvPr>
          </p:nvSpPr>
          <p:spPr>
            <a:xfrm>
              <a:off x="12640" y="2600"/>
              <a:ext cx="5360" cy="3200"/>
            </a:xfrm>
            <a:prstGeom prst="roundRect">
              <a:avLst>
                <a:gd name="adj" fmla="val 7500"/>
              </a:avLst>
            </a:prstGeom>
            <a:solidFill>
              <a:srgbClr val="FFFFFF">
                <a:alpha val="92000"/>
              </a:srgbClr>
            </a:solidFill>
            <a:ln w="12700" cap="flat" cmpd="sng">
              <a:solidFill>
                <a:srgbClr val="2E4047">
                  <a:alpha val="25000"/>
                </a:srgbClr>
              </a:solidFill>
              <a:prstDash val="solid"/>
              <a:round/>
            </a:ln>
            <a:effectLst>
              <a:outerShdw blurRad="152400" dist="50800" dir="2700000" algn="tl" rotWithShape="0">
                <a:srgbClr val="2E4047">
                  <a:alpha val="10000"/>
                </a:srgbClr>
              </a:outerShdw>
            </a:effectLst>
          </p:spPr>
          <p:txBody>
            <a:bodyPr vert="horz" wrap="square" lIns="63500" tIns="63500" rIns="63500" bIns="63500" rtlCol="0" anchor="ctr"/>
            <a:lstStyle/>
            <a:p>
              <a:pPr algn="ctr">
                <a:defRPr/>
              </a:pPr>
              <a:endParaRPr/>
            </a:p>
          </p:txBody>
        </p:sp>
        <p:sp>
          <p:nvSpPr>
            <p:cNvPr id="17" name="AutoShape 17"/>
            <p:cNvSpPr/>
            <p:nvPr>
              <p:custDataLst>
                <p:tags r:id="rId5"/>
              </p:custDataLst>
            </p:nvPr>
          </p:nvSpPr>
          <p:spPr>
            <a:xfrm>
              <a:off x="13040" y="3000"/>
              <a:ext cx="1280" cy="1280"/>
            </a:xfrm>
            <a:prstGeom prst="ellipse">
              <a:avLst/>
            </a:prstGeom>
            <a:solidFill>
              <a:srgbClr val="2E4047">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custDataLst>
                <p:tags r:id="rId6"/>
              </p:custDataLst>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3360" y="3320"/>
              <a:ext cx="640" cy="640"/>
            </a:xfrm>
            <a:prstGeom prst="rect">
              <a:avLst/>
            </a:prstGeom>
          </p:spPr>
        </p:pic>
        <p:sp>
          <p:nvSpPr>
            <p:cNvPr id="19" name="AutoShape 19"/>
            <p:cNvSpPr/>
            <p:nvPr>
              <p:custDataLst>
                <p:tags r:id="rId7"/>
              </p:custDataLst>
            </p:nvPr>
          </p:nvSpPr>
          <p:spPr>
            <a:xfrm>
              <a:off x="14640" y="3000"/>
              <a:ext cx="30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建筑详情</a:t>
              </a:r>
              <a:endParaRPr lang="en-US" sz="1100"/>
            </a:p>
          </p:txBody>
        </p:sp>
        <p:sp>
          <p:nvSpPr>
            <p:cNvPr id="20" name="AutoShape 20"/>
            <p:cNvSpPr/>
            <p:nvPr>
              <p:custDataLst>
                <p:tags r:id="rId8"/>
              </p:custDataLst>
            </p:nvPr>
          </p:nvSpPr>
          <p:spPr>
            <a:xfrm>
              <a:off x="14640" y="3600"/>
              <a:ext cx="3000" cy="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Building Details</a:t>
              </a:r>
              <a:endParaRPr lang="en-US" sz="1100"/>
            </a:p>
          </p:txBody>
        </p:sp>
        <p:sp>
          <p:nvSpPr>
            <p:cNvPr id="21" name="AutoShape 21"/>
            <p:cNvSpPr/>
            <p:nvPr>
              <p:custDataLst>
                <p:tags r:id="rId9"/>
              </p:custDataLst>
            </p:nvPr>
          </p:nvSpPr>
          <p:spPr>
            <a:xfrm>
              <a:off x="14640" y="4200"/>
              <a:ext cx="3000" cy="12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建立重点建筑数字档案，</a:t>
              </a:r>
              <a:r>
                <a:rPr lang="zh-CN" altLang="en-US" sz="11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进行</a:t>
              </a:r>
              <a:r>
                <a:rPr lang="en-US" sz="11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历史背景考据及建筑形制特征分析。</a:t>
              </a:r>
              <a:endParaRPr lang="en-US" sz="1100" dirty="0"/>
            </a:p>
          </p:txBody>
        </p:sp>
      </p:grpSp>
      <p:grpSp>
        <p:nvGrpSpPr>
          <p:cNvPr id="54" name="组合 53"/>
          <p:cNvGrpSpPr/>
          <p:nvPr/>
        </p:nvGrpSpPr>
        <p:grpSpPr>
          <a:xfrm>
            <a:off x="762000" y="4064000"/>
            <a:ext cx="5207000" cy="1905000"/>
            <a:chOff x="1200" y="6200"/>
            <a:chExt cx="8200" cy="3000"/>
          </a:xfrm>
        </p:grpSpPr>
        <p:sp>
          <p:nvSpPr>
            <p:cNvPr id="39" name="AutoShape 22"/>
            <p:cNvSpPr/>
            <p:nvPr/>
          </p:nvSpPr>
          <p:spPr>
            <a:xfrm>
              <a:off x="1200" y="6200"/>
              <a:ext cx="8200" cy="3000"/>
            </a:xfrm>
            <a:prstGeom prst="roundRect">
              <a:avLst>
                <a:gd name="adj" fmla="val 8000"/>
              </a:avLst>
            </a:prstGeom>
            <a:solidFill>
              <a:srgbClr val="FFFFFF">
                <a:alpha val="92000"/>
              </a:srgbClr>
            </a:solidFill>
            <a:ln w="12700" cap="flat" cmpd="sng">
              <a:solidFill>
                <a:srgbClr val="2E4047">
                  <a:alpha val="25000"/>
                </a:srgbClr>
              </a:solidFill>
              <a:prstDash val="solid"/>
              <a:round/>
            </a:ln>
            <a:effectLst>
              <a:outerShdw blurRad="152400" dist="50800" dir="2700000" algn="tl" rotWithShape="0">
                <a:srgbClr val="2E4047">
                  <a:alpha val="10000"/>
                </a:srgbClr>
              </a:outerShdw>
            </a:effectLst>
          </p:spPr>
          <p:txBody>
            <a:bodyPr vert="horz" wrap="square" lIns="63500" tIns="63500" rIns="63500" bIns="63500" rtlCol="0" anchor="ctr"/>
            <a:lstStyle/>
            <a:p>
              <a:pPr algn="ctr">
                <a:defRPr/>
              </a:pPr>
              <a:endParaRPr/>
            </a:p>
          </p:txBody>
        </p:sp>
        <p:sp>
          <p:nvSpPr>
            <p:cNvPr id="40" name="AutoShape 23"/>
            <p:cNvSpPr/>
            <p:nvPr/>
          </p:nvSpPr>
          <p:spPr>
            <a:xfrm>
              <a:off x="1600" y="6600"/>
              <a:ext cx="1400" cy="1400"/>
            </a:xfrm>
            <a:prstGeom prst="ellipse">
              <a:avLst/>
            </a:prstGeom>
            <a:solidFill>
              <a:srgbClr val="2E4047">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41" name="Picture 24"/>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2000" y="7000"/>
              <a:ext cx="600" cy="600"/>
            </a:xfrm>
            <a:prstGeom prst="rect">
              <a:avLst/>
            </a:prstGeom>
          </p:spPr>
        </p:pic>
        <p:sp>
          <p:nvSpPr>
            <p:cNvPr id="42" name="AutoShape 25"/>
            <p:cNvSpPr/>
            <p:nvPr/>
          </p:nvSpPr>
          <p:spPr>
            <a:xfrm>
              <a:off x="3400" y="6600"/>
              <a:ext cx="5200" cy="567"/>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统计分析 </a:t>
              </a:r>
            </a:p>
            <a:p>
              <a:pPr indent="0" algn="l">
                <a:lnSpc>
                  <a:spcPct val="125000"/>
                </a:lnSpc>
                <a:defRPr/>
              </a:pPr>
              <a:r>
                <a:rPr lang="en-US" sz="1600" b="1" i="0" u="none" strike="noStrike" dirty="0">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100" dirty="0">
                  <a:solidFill>
                    <a:srgbClr val="718096"/>
                  </a:solidFill>
                  <a:latin typeface="Noto Sans SC" panose="020B0200000000000000" charset="-122"/>
                  <a:ea typeface="Noto Sans SC" panose="020B0200000000000000" charset="-122"/>
                  <a:sym typeface="Noto Sans SC" panose="020B0200000000000000" charset="-122"/>
                </a:rPr>
                <a:t>Statistical Analysis</a:t>
              </a:r>
              <a:endParaRPr lang="en-US" sz="1100" dirty="0">
                <a:solidFill>
                  <a:srgbClr val="718096"/>
                </a:solidFill>
                <a:latin typeface="Noto Sans SC" panose="020B0200000000000000" charset="-122"/>
                <a:ea typeface="Noto Sans SC" panose="020B0200000000000000" charset="-122"/>
              </a:endParaRPr>
            </a:p>
          </p:txBody>
        </p:sp>
        <p:sp>
          <p:nvSpPr>
            <p:cNvPr id="43" name="AutoShape 26"/>
            <p:cNvSpPr/>
            <p:nvPr/>
          </p:nvSpPr>
          <p:spPr>
            <a:xfrm>
              <a:off x="3400" y="7400"/>
              <a:ext cx="5400" cy="14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利用可视化数据图表，对建筑样本的朝代更迭、类型占比、地域分布进行多维度量化分析，挖掘历史数据背后的深层规律。</a:t>
              </a:r>
              <a:endParaRPr lang="en-US" sz="1100" dirty="0"/>
            </a:p>
          </p:txBody>
        </p:sp>
      </p:grpSp>
      <p:grpSp>
        <p:nvGrpSpPr>
          <p:cNvPr id="46" name="组合 45"/>
          <p:cNvGrpSpPr/>
          <p:nvPr/>
        </p:nvGrpSpPr>
        <p:grpSpPr>
          <a:xfrm>
            <a:off x="6223000" y="4064000"/>
            <a:ext cx="5207000" cy="1905000"/>
            <a:chOff x="9800" y="6200"/>
            <a:chExt cx="8200" cy="3000"/>
          </a:xfrm>
        </p:grpSpPr>
        <p:sp>
          <p:nvSpPr>
            <p:cNvPr id="27" name="AutoShape 27"/>
            <p:cNvSpPr/>
            <p:nvPr/>
          </p:nvSpPr>
          <p:spPr>
            <a:xfrm>
              <a:off x="9800" y="6200"/>
              <a:ext cx="8200" cy="3000"/>
            </a:xfrm>
            <a:prstGeom prst="roundRect">
              <a:avLst>
                <a:gd name="adj" fmla="val 8000"/>
              </a:avLst>
            </a:prstGeom>
            <a:solidFill>
              <a:srgbClr val="FFFFFF">
                <a:alpha val="92000"/>
              </a:srgbClr>
            </a:solidFill>
            <a:ln w="12700" cap="flat" cmpd="sng">
              <a:solidFill>
                <a:srgbClr val="2E4047">
                  <a:alpha val="25000"/>
                </a:srgbClr>
              </a:solidFill>
              <a:prstDash val="solid"/>
              <a:round/>
            </a:ln>
            <a:effectLst>
              <a:outerShdw blurRad="152400" dist="50800" dir="2700000" algn="tl" rotWithShape="0">
                <a:srgbClr val="2E4047">
                  <a:alpha val="10000"/>
                </a:srgbClr>
              </a:outerShdw>
            </a:effectLst>
          </p:spPr>
          <p:txBody>
            <a:bodyPr vert="horz" wrap="square" lIns="63500" tIns="63500" rIns="63500" bIns="63500" rtlCol="0" anchor="ctr"/>
            <a:lstStyle/>
            <a:p>
              <a:pPr algn="ctr">
                <a:defRPr/>
              </a:pPr>
              <a:endParaRPr/>
            </a:p>
          </p:txBody>
        </p:sp>
        <p:sp>
          <p:nvSpPr>
            <p:cNvPr id="30" name="AutoShape 30"/>
            <p:cNvSpPr/>
            <p:nvPr/>
          </p:nvSpPr>
          <p:spPr>
            <a:xfrm>
              <a:off x="12000" y="6600"/>
              <a:ext cx="52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专题叙事 </a:t>
              </a:r>
            </a:p>
            <a:p>
              <a:pPr indent="0" algn="l">
                <a:lnSpc>
                  <a:spcPct val="125000"/>
                </a:lnSpc>
                <a:defRPr/>
              </a:pPr>
              <a:r>
                <a:rPr lang="en-US" sz="1100" dirty="0">
                  <a:solidFill>
                    <a:srgbClr val="718096"/>
                  </a:solidFill>
                  <a:latin typeface="Noto Sans SC" panose="020B0200000000000000" charset="-122"/>
                  <a:ea typeface="Noto Sans SC" panose="020B0200000000000000" charset="-122"/>
                  <a:sym typeface="Noto Sans SC" panose="020B0200000000000000" charset="-122"/>
                </a:rPr>
                <a:t>Thematic Narrative</a:t>
              </a:r>
              <a:endParaRPr lang="en-US" sz="1100" dirty="0">
                <a:solidFill>
                  <a:srgbClr val="718096"/>
                </a:solidFill>
                <a:latin typeface="Noto Sans SC" panose="020B0200000000000000" charset="-122"/>
                <a:ea typeface="Noto Sans SC" panose="020B0200000000000000" charset="-122"/>
              </a:endParaRPr>
            </a:p>
          </p:txBody>
        </p:sp>
        <p:sp>
          <p:nvSpPr>
            <p:cNvPr id="31" name="AutoShape 31"/>
            <p:cNvSpPr/>
            <p:nvPr/>
          </p:nvSpPr>
          <p:spPr>
            <a:xfrm>
              <a:off x="12000" y="7400"/>
              <a:ext cx="5400" cy="14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围绕“都城变迁”、“官署制度”等特定文化主题，串联分散的建筑点，构建完整的专题故事线，提供深度的文化解读视角。</a:t>
              </a:r>
              <a:endParaRPr lang="en-US" sz="1100"/>
            </a:p>
          </p:txBody>
        </p:sp>
        <p:sp>
          <p:nvSpPr>
            <p:cNvPr id="44" name="AutoShape 28"/>
            <p:cNvSpPr/>
            <p:nvPr/>
          </p:nvSpPr>
          <p:spPr>
            <a:xfrm>
              <a:off x="10200" y="6600"/>
              <a:ext cx="1400" cy="1400"/>
            </a:xfrm>
            <a:prstGeom prst="ellipse">
              <a:avLst/>
            </a:prstGeom>
            <a:solidFill>
              <a:srgbClr val="2E4047">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45" name="Picture 29"/>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10600" y="7000"/>
              <a:ext cx="600" cy="600"/>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strips(downLeft)">
                                      <p:cBhvr>
                                        <p:cTn id="12" dur="500"/>
                                        <p:tgtEl>
                                          <p:spTgt spid="34"/>
                                        </p:tgtEl>
                                      </p:cBhvr>
                                    </p:animEffect>
                                  </p:childTnLst>
                                </p:cTn>
                              </p:par>
                              <p:par>
                                <p:cTn id="13" presetID="18" presetClass="entr" presetSubtype="12"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strips(downLeft)">
                                      <p:cBhvr>
                                        <p:cTn id="15" dur="500"/>
                                        <p:tgtEl>
                                          <p:spTgt spid="35"/>
                                        </p:tgtEl>
                                      </p:cBhvr>
                                    </p:animEffect>
                                  </p:childTnLst>
                                </p:cTn>
                              </p:par>
                              <p:par>
                                <p:cTn id="16" presetID="18" presetClass="entr" presetSubtype="12" fill="hold"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strips(downLeft)">
                                      <p:cBhvr>
                                        <p:cTn id="18" dur="500"/>
                                        <p:tgtEl>
                                          <p:spTgt spid="36"/>
                                        </p:tgtEl>
                                      </p:cBhvr>
                                    </p:animEffect>
                                  </p:childTnLst>
                                </p:cTn>
                              </p:par>
                              <p:par>
                                <p:cTn id="19" presetID="18" presetClass="entr" presetSubtype="12" fill="hold" nodeType="withEffect">
                                  <p:stCondLst>
                                    <p:cond delay="0"/>
                                  </p:stCondLst>
                                  <p:childTnLst>
                                    <p:set>
                                      <p:cBhvr>
                                        <p:cTn id="20" dur="1" fill="hold">
                                          <p:stCondLst>
                                            <p:cond delay="0"/>
                                          </p:stCondLst>
                                        </p:cTn>
                                        <p:tgtEl>
                                          <p:spTgt spid="54"/>
                                        </p:tgtEl>
                                        <p:attrNameLst>
                                          <p:attrName>style.visibility</p:attrName>
                                        </p:attrNameLst>
                                      </p:cBhvr>
                                      <p:to>
                                        <p:strVal val="visible"/>
                                      </p:to>
                                    </p:set>
                                    <p:animEffect transition="in" filter="strips(downLeft)">
                                      <p:cBhvr>
                                        <p:cTn id="21" dur="500"/>
                                        <p:tgtEl>
                                          <p:spTgt spid="54"/>
                                        </p:tgtEl>
                                      </p:cBhvr>
                                    </p:animEffect>
                                  </p:childTnLst>
                                </p:cTn>
                              </p:par>
                              <p:par>
                                <p:cTn id="22" presetID="18" presetClass="entr" presetSubtype="12" fill="hold" nodeType="with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strips(downLeft)">
                                      <p:cBhvr>
                                        <p:cTn id="24"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8">
            <a:lum/>
          </a:blip>
          <a:srcRect/>
          <a:stretch>
            <a:fillRect l="-1136" r="-1136"/>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508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功能展示：山河分布</a:t>
            </a:r>
            <a:endParaRPr lang="en-US" sz="1100"/>
          </a:p>
        </p:txBody>
      </p:sp>
      <p:sp>
        <p:nvSpPr>
          <p:cNvPr id="9" name="AutoShape 9"/>
          <p:cNvSpPr/>
          <p:nvPr/>
        </p:nvSpPr>
        <p:spPr>
          <a:xfrm>
            <a:off x="5842000" y="3175000"/>
            <a:ext cx="558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核心交互功能模块</a:t>
            </a:r>
            <a:endParaRPr lang="en-US" sz="1100"/>
          </a:p>
        </p:txBody>
      </p:sp>
      <p:grpSp>
        <p:nvGrpSpPr>
          <p:cNvPr id="34" name="组合 33"/>
          <p:cNvGrpSpPr/>
          <p:nvPr>
            <p:custDataLst>
              <p:tags r:id="rId1"/>
            </p:custDataLst>
          </p:nvPr>
        </p:nvGrpSpPr>
        <p:grpSpPr>
          <a:xfrm>
            <a:off x="5842000" y="1524000"/>
            <a:ext cx="5588000" cy="3365500"/>
            <a:chOff x="9200" y="2400"/>
            <a:chExt cx="8800" cy="5300"/>
          </a:xfrm>
        </p:grpSpPr>
        <p:grpSp>
          <p:nvGrpSpPr>
            <p:cNvPr id="31" name="组合 30"/>
            <p:cNvGrpSpPr/>
            <p:nvPr>
              <p:custDataLst>
                <p:tags r:id="rId7"/>
              </p:custDataLst>
            </p:nvPr>
          </p:nvGrpSpPr>
          <p:grpSpPr>
            <a:xfrm>
              <a:off x="9200" y="2400"/>
              <a:ext cx="8800" cy="5300"/>
              <a:chOff x="9200" y="2400"/>
              <a:chExt cx="8800" cy="5300"/>
            </a:xfrm>
          </p:grpSpPr>
          <p:grpSp>
            <p:nvGrpSpPr>
              <p:cNvPr id="30" name="组合 29"/>
              <p:cNvGrpSpPr/>
              <p:nvPr/>
            </p:nvGrpSpPr>
            <p:grpSpPr>
              <a:xfrm>
                <a:off x="9200" y="2400"/>
                <a:ext cx="8800" cy="2200"/>
                <a:chOff x="9200" y="2400"/>
                <a:chExt cx="8800" cy="2200"/>
              </a:xfrm>
            </p:grpSpPr>
            <p:sp>
              <p:nvSpPr>
                <p:cNvPr id="6" name="AutoShape 6"/>
                <p:cNvSpPr/>
                <p:nvPr/>
              </p:nvSpPr>
              <p:spPr>
                <a:xfrm>
                  <a:off x="9200" y="2400"/>
                  <a:ext cx="8800" cy="2200"/>
                </a:xfrm>
                <a:prstGeom prst="roundRect">
                  <a:avLst>
                    <a:gd name="adj" fmla="val 10909"/>
                  </a:avLst>
                </a:prstGeom>
                <a:solidFill>
                  <a:srgbClr val="F7F5F0">
                    <a:alpha val="95000"/>
                  </a:srgbClr>
                </a:solidFill>
                <a:ln w="25400" cap="flat" cmpd="sng">
                  <a:noFill/>
                  <a:prstDash val="solid"/>
                  <a:round/>
                </a:ln>
                <a:effectLst>
                  <a:outerShdw blurRad="152400" dist="25400" dir="2700000" algn="tl" rotWithShape="0">
                    <a:srgbClr val="2E4047">
                      <a:alpha val="8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9600" y="2640"/>
                  <a:ext cx="8000" cy="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地理空间上的文明印记</a:t>
                  </a:r>
                  <a:endParaRPr lang="en-US" sz="1100"/>
                </a:p>
              </p:txBody>
            </p:sp>
            <p:sp>
              <p:nvSpPr>
                <p:cNvPr id="8" name="AutoShape 8"/>
                <p:cNvSpPr/>
                <p:nvPr/>
              </p:nvSpPr>
              <p:spPr>
                <a:xfrm>
                  <a:off x="9600" y="3240"/>
                  <a:ext cx="8000" cy="12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46555C"/>
                      </a:solidFill>
                      <a:latin typeface="Noto Sans SC" panose="020B0200000000000000" charset="-122"/>
                      <a:ea typeface="Noto Sans SC" panose="020B0200000000000000" charset="-122"/>
                      <a:cs typeface="Noto Sans SC" panose="020B0200000000000000" charset="-122"/>
                      <a:sym typeface="Noto Sans SC" panose="020B0200000000000000" charset="-122"/>
                    </a:rPr>
                    <a:t>以河南省地图为基底，可视化标注古代建筑样本。支持地图缩放与平移，直观呈现不同历史时期建筑在中原大地的空间分布格局与聚集特征。</a:t>
                  </a:r>
                  <a:endParaRPr lang="en-US" sz="1100"/>
                </a:p>
              </p:txBody>
            </p:sp>
          </p:grpSp>
          <p:sp>
            <p:nvSpPr>
              <p:cNvPr id="10" name="AutoShape 10"/>
              <p:cNvSpPr/>
              <p:nvPr>
                <p:custDataLst>
                  <p:tags r:id="rId12"/>
                </p:custDataLst>
              </p:nvPr>
            </p:nvSpPr>
            <p:spPr>
              <a:xfrm>
                <a:off x="9200" y="5800"/>
                <a:ext cx="4200" cy="1900"/>
              </a:xfrm>
              <a:prstGeom prst="roundRect">
                <a:avLst>
                  <a:gd name="adj" fmla="val 10526"/>
                </a:avLst>
              </a:prstGeom>
              <a:solidFill>
                <a:srgbClr val="FFFFFF">
                  <a:alpha val="90000"/>
                </a:srgbClr>
              </a:solidFill>
              <a:ln w="25400" cap="flat" cmpd="sng">
                <a:noFill/>
                <a:prstDash val="solid"/>
                <a:round/>
              </a:ln>
              <a:effectLst>
                <a:outerShdw blurRad="1270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custDataLst>
                  <p:tags r:id="rId13"/>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500" y="6200"/>
                <a:ext cx="720" cy="720"/>
              </a:xfrm>
              <a:prstGeom prst="rect">
                <a:avLst/>
              </a:prstGeom>
            </p:spPr>
          </p:pic>
          <p:sp>
            <p:nvSpPr>
              <p:cNvPr id="12" name="AutoShape 12"/>
              <p:cNvSpPr/>
              <p:nvPr>
                <p:custDataLst>
                  <p:tags r:id="rId14"/>
                </p:custDataLst>
              </p:nvPr>
            </p:nvSpPr>
            <p:spPr>
              <a:xfrm>
                <a:off x="10500" y="6100"/>
                <a:ext cx="2600" cy="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区域精准筛选</a:t>
                </a:r>
                <a:endParaRPr lang="en-US" sz="1100"/>
              </a:p>
            </p:txBody>
          </p:sp>
          <p:sp>
            <p:nvSpPr>
              <p:cNvPr id="13" name="AutoShape 13"/>
              <p:cNvSpPr/>
              <p:nvPr>
                <p:custDataLst>
                  <p:tags r:id="rId15"/>
                </p:custDataLst>
              </p:nvPr>
            </p:nvSpPr>
            <p:spPr>
              <a:xfrm>
                <a:off x="10500" y="6700"/>
                <a:ext cx="2600" cy="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dirty="0">
                    <a:solidFill>
                      <a:srgbClr val="646E73"/>
                    </a:solidFill>
                    <a:latin typeface="Noto Sans SC" panose="020B0200000000000000" charset="-122"/>
                    <a:ea typeface="Noto Sans SC" panose="020B0200000000000000" charset="-122"/>
                    <a:cs typeface="Noto Sans SC" panose="020B0200000000000000" charset="-122"/>
                    <a:sym typeface="Noto Sans SC" panose="020B0200000000000000" charset="-122"/>
                  </a:rPr>
                  <a:t>按省辖市行政边界，快速聚焦特定区域的建筑遗存分布。</a:t>
                </a:r>
                <a:endParaRPr lang="en-US" sz="1100" dirty="0"/>
              </a:p>
            </p:txBody>
          </p:sp>
        </p:grpSp>
        <p:sp>
          <p:nvSpPr>
            <p:cNvPr id="14" name="AutoShape 14"/>
            <p:cNvSpPr/>
            <p:nvPr>
              <p:custDataLst>
                <p:tags r:id="rId8"/>
              </p:custDataLst>
            </p:nvPr>
          </p:nvSpPr>
          <p:spPr>
            <a:xfrm>
              <a:off x="13800" y="5800"/>
              <a:ext cx="4200" cy="1900"/>
            </a:xfrm>
            <a:prstGeom prst="roundRect">
              <a:avLst>
                <a:gd name="adj" fmla="val 10526"/>
              </a:avLst>
            </a:prstGeom>
            <a:solidFill>
              <a:srgbClr val="FFFFFF">
                <a:alpha val="90000"/>
              </a:srgbClr>
            </a:solidFill>
            <a:ln w="25400" cap="flat" cmpd="sng">
              <a:noFill/>
              <a:prstDash val="solid"/>
              <a:round/>
            </a:ln>
            <a:effectLst>
              <a:outerShdw blurRad="1270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custDataLst>
                <p:tags r:id="rId9"/>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4100" y="6200"/>
              <a:ext cx="720" cy="720"/>
            </a:xfrm>
            <a:prstGeom prst="rect">
              <a:avLst/>
            </a:prstGeom>
          </p:spPr>
        </p:pic>
        <p:sp>
          <p:nvSpPr>
            <p:cNvPr id="16" name="AutoShape 16"/>
            <p:cNvSpPr/>
            <p:nvPr>
              <p:custDataLst>
                <p:tags r:id="rId10"/>
              </p:custDataLst>
            </p:nvPr>
          </p:nvSpPr>
          <p:spPr>
            <a:xfrm>
              <a:off x="15100" y="6100"/>
              <a:ext cx="2600" cy="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建筑类型分类</a:t>
              </a:r>
              <a:endParaRPr lang="en-US" sz="1100"/>
            </a:p>
          </p:txBody>
        </p:sp>
        <p:sp>
          <p:nvSpPr>
            <p:cNvPr id="17" name="AutoShape 17"/>
            <p:cNvSpPr/>
            <p:nvPr>
              <p:custDataLst>
                <p:tags r:id="rId11"/>
              </p:custDataLst>
            </p:nvPr>
          </p:nvSpPr>
          <p:spPr>
            <a:xfrm>
              <a:off x="15100" y="6700"/>
              <a:ext cx="2600" cy="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dirty="0">
                  <a:solidFill>
                    <a:srgbClr val="646E7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支持城址、官署、粮仓等类型过滤，专题化展示同类遗存。</a:t>
              </a:r>
              <a:endParaRPr lang="en-US" sz="1100" dirty="0"/>
            </a:p>
          </p:txBody>
        </p:sp>
      </p:grpSp>
      <p:grpSp>
        <p:nvGrpSpPr>
          <p:cNvPr id="29" name="组合 28"/>
          <p:cNvGrpSpPr/>
          <p:nvPr>
            <p:custDataLst>
              <p:tags r:id="rId2"/>
            </p:custDataLst>
          </p:nvPr>
        </p:nvGrpSpPr>
        <p:grpSpPr>
          <a:xfrm>
            <a:off x="7302500" y="5101590"/>
            <a:ext cx="2667000" cy="1206500"/>
            <a:chOff x="9200" y="8000"/>
            <a:chExt cx="4200" cy="1900"/>
          </a:xfrm>
        </p:grpSpPr>
        <p:sp>
          <p:nvSpPr>
            <p:cNvPr id="18" name="AutoShape 18"/>
            <p:cNvSpPr/>
            <p:nvPr>
              <p:custDataLst>
                <p:tags r:id="rId3"/>
              </p:custDataLst>
            </p:nvPr>
          </p:nvSpPr>
          <p:spPr>
            <a:xfrm>
              <a:off x="9200" y="8000"/>
              <a:ext cx="4200" cy="1900"/>
            </a:xfrm>
            <a:prstGeom prst="roundRect">
              <a:avLst>
                <a:gd name="adj" fmla="val 10526"/>
              </a:avLst>
            </a:prstGeom>
            <a:solidFill>
              <a:srgbClr val="FFFFFF">
                <a:alpha val="90000"/>
              </a:srgbClr>
            </a:solidFill>
            <a:ln w="25400" cap="flat" cmpd="sng">
              <a:noFill/>
              <a:prstDash val="solid"/>
              <a:round/>
            </a:ln>
            <a:effectLst>
              <a:outerShdw blurRad="1270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custDataLst>
                <p:tags r:id="rId4"/>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9500" y="8400"/>
              <a:ext cx="720" cy="720"/>
            </a:xfrm>
            <a:prstGeom prst="rect">
              <a:avLst/>
            </a:prstGeom>
          </p:spPr>
        </p:pic>
        <p:sp>
          <p:nvSpPr>
            <p:cNvPr id="20" name="AutoShape 20"/>
            <p:cNvSpPr/>
            <p:nvPr>
              <p:custDataLst>
                <p:tags r:id="rId5"/>
              </p:custDataLst>
            </p:nvPr>
          </p:nvSpPr>
          <p:spPr>
            <a:xfrm>
              <a:off x="10500" y="8300"/>
              <a:ext cx="2600" cy="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详情信息弹窗</a:t>
              </a:r>
              <a:endParaRPr lang="en-US" sz="1100"/>
            </a:p>
          </p:txBody>
        </p:sp>
        <p:sp>
          <p:nvSpPr>
            <p:cNvPr id="21" name="AutoShape 21"/>
            <p:cNvSpPr/>
            <p:nvPr>
              <p:custDataLst>
                <p:tags r:id="rId6"/>
              </p:custDataLst>
            </p:nvPr>
          </p:nvSpPr>
          <p:spPr>
            <a:xfrm>
              <a:off x="10500" y="8900"/>
              <a:ext cx="2600" cy="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dirty="0">
                  <a:solidFill>
                    <a:srgbClr val="646E73"/>
                  </a:solidFill>
                  <a:latin typeface="Noto Sans SC" panose="020B0200000000000000" charset="-122"/>
                  <a:ea typeface="Noto Sans SC" panose="020B0200000000000000" charset="-122"/>
                  <a:cs typeface="Noto Sans SC" panose="020B0200000000000000" charset="-122"/>
                  <a:sym typeface="Noto Sans SC" panose="020B0200000000000000" charset="-122"/>
                </a:rPr>
                <a:t>点击地图标记点，即时弹出建筑的年代、形制与历史背景。</a:t>
              </a:r>
              <a:endParaRPr lang="en-US" sz="1100" dirty="0"/>
            </a:p>
          </p:txBody>
        </p:sp>
      </p:grpSp>
      <p:grpSp>
        <p:nvGrpSpPr>
          <p:cNvPr id="26" name="组合 25"/>
          <p:cNvGrpSpPr/>
          <p:nvPr/>
        </p:nvGrpSpPr>
        <p:grpSpPr>
          <a:xfrm>
            <a:off x="243751" y="1385388"/>
            <a:ext cx="5344249" cy="5103223"/>
            <a:chOff x="333" y="2182"/>
            <a:chExt cx="8416" cy="8037"/>
          </a:xfrm>
        </p:grpSpPr>
        <p:sp>
          <p:nvSpPr>
            <p:cNvPr id="32" name="矩形: 圆角 31"/>
            <p:cNvSpPr/>
            <p:nvPr/>
          </p:nvSpPr>
          <p:spPr>
            <a:xfrm>
              <a:off x="333" y="2182"/>
              <a:ext cx="8416" cy="8037"/>
            </a:xfrm>
            <a:prstGeom prst="roundRect">
              <a:avLst>
                <a:gd name="adj" fmla="val 5974"/>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p:nvPr/>
          </p:nvPicPr>
          <p:blipFill>
            <a:blip r:embed="rId25"/>
            <a:srcRect/>
            <a:stretch>
              <a:fillRect/>
            </a:stretch>
          </p:blipFill>
          <p:spPr>
            <a:xfrm>
              <a:off x="384" y="2291"/>
              <a:ext cx="8185" cy="7819"/>
            </a:xfrm>
            <a:prstGeom prst="roundRect">
              <a:avLst>
                <a:gd name="adj" fmla="val 5251"/>
              </a:avLst>
            </a:prstGeom>
            <a:effectLst>
              <a:outerShdw blurRad="50800" dist="38100" dir="2700000" algn="tl" rotWithShape="0">
                <a:prstClr val="black">
                  <a:alpha val="40000"/>
                </a:prstClr>
              </a:outerShdw>
            </a:effec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 presetClass="entr" presetSubtype="4"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 calcmode="lin" valueType="num">
                                      <p:cBhvr additive="base">
                                        <p:cTn id="10" dur="500" fill="hold"/>
                                        <p:tgtEl>
                                          <p:spTgt spid="26"/>
                                        </p:tgtEl>
                                        <p:attrNameLst>
                                          <p:attrName>ppt_x</p:attrName>
                                        </p:attrNameLst>
                                      </p:cBhvr>
                                      <p:tavLst>
                                        <p:tav tm="0">
                                          <p:val>
                                            <p:strVal val="#ppt_x"/>
                                          </p:val>
                                        </p:tav>
                                        <p:tav tm="100000">
                                          <p:val>
                                            <p:strVal val="#ppt_x"/>
                                          </p:val>
                                        </p:tav>
                                      </p:tavLst>
                                    </p:anim>
                                    <p:anim calcmode="lin" valueType="num">
                                      <p:cBhvr additive="base">
                                        <p:cTn id="1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34"/>
                                        </p:tgtEl>
                                        <p:attrNameLst>
                                          <p:attrName>style.visibility</p:attrName>
                                        </p:attrNameLst>
                                      </p:cBhvr>
                                      <p:to>
                                        <p:strVal val="visible"/>
                                      </p:to>
                                    </p:set>
                                    <p:anim calcmode="lin" valueType="num">
                                      <p:cBhvr additive="base">
                                        <p:cTn id="16" dur="500"/>
                                        <p:tgtEl>
                                          <p:spTgt spid="34"/>
                                        </p:tgtEl>
                                        <p:attrNameLst>
                                          <p:attrName>ppt_y</p:attrName>
                                        </p:attrNameLst>
                                      </p:cBhvr>
                                      <p:tavLst>
                                        <p:tav tm="0">
                                          <p:val>
                                            <p:strVal val="#ppt_y+#ppt_h*1.125000"/>
                                          </p:val>
                                        </p:tav>
                                        <p:tav tm="100000">
                                          <p:val>
                                            <p:strVal val="#ppt_y"/>
                                          </p:val>
                                        </p:tav>
                                      </p:tavLst>
                                    </p:anim>
                                    <p:animEffect transition="in" filter="wipe(up)">
                                      <p:cBhvr>
                                        <p:cTn id="17" dur="500"/>
                                        <p:tgtEl>
                                          <p:spTgt spid="34"/>
                                        </p:tgtEl>
                                      </p:cBhvr>
                                    </p:animEffect>
                                  </p:childTnLst>
                                </p:cTn>
                              </p:par>
                              <p:par>
                                <p:cTn id="18" presetID="12" presetClass="entr" presetSubtype="4"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p:tgtEl>
                                          <p:spTgt spid="9"/>
                                        </p:tgtEl>
                                        <p:attrNameLst>
                                          <p:attrName>ppt_y</p:attrName>
                                        </p:attrNameLst>
                                      </p:cBhvr>
                                      <p:tavLst>
                                        <p:tav tm="0">
                                          <p:val>
                                            <p:strVal val="#ppt_y+#ppt_h*1.125000"/>
                                          </p:val>
                                        </p:tav>
                                        <p:tav tm="100000">
                                          <p:val>
                                            <p:strVal val="#ppt_y"/>
                                          </p:val>
                                        </p:tav>
                                      </p:tavLst>
                                    </p:anim>
                                    <p:animEffect transition="in" filter="wipe(up)">
                                      <p:cBhvr>
                                        <p:cTn id="21" dur="500"/>
                                        <p:tgtEl>
                                          <p:spTgt spid="9"/>
                                        </p:tgtEl>
                                      </p:cBhvr>
                                    </p:animEffect>
                                  </p:childTnLst>
                                </p:cTn>
                              </p:par>
                              <p:par>
                                <p:cTn id="22" presetID="12" presetClass="entr" presetSubtype="4" fill="hold" nodeType="withEffect">
                                  <p:stCondLst>
                                    <p:cond delay="0"/>
                                  </p:stCondLst>
                                  <p:childTnLst>
                                    <p:set>
                                      <p:cBhvr>
                                        <p:cTn id="23" dur="1" fill="hold">
                                          <p:stCondLst>
                                            <p:cond delay="0"/>
                                          </p:stCondLst>
                                        </p:cTn>
                                        <p:tgtEl>
                                          <p:spTgt spid="29"/>
                                        </p:tgtEl>
                                        <p:attrNameLst>
                                          <p:attrName>style.visibility</p:attrName>
                                        </p:attrNameLst>
                                      </p:cBhvr>
                                      <p:to>
                                        <p:strVal val="visible"/>
                                      </p:to>
                                    </p:set>
                                    <p:anim calcmode="lin" valueType="num">
                                      <p:cBhvr additive="base">
                                        <p:cTn id="24" dur="500"/>
                                        <p:tgtEl>
                                          <p:spTgt spid="29"/>
                                        </p:tgtEl>
                                        <p:attrNameLst>
                                          <p:attrName>ppt_y</p:attrName>
                                        </p:attrNameLst>
                                      </p:cBhvr>
                                      <p:tavLst>
                                        <p:tav tm="0">
                                          <p:val>
                                            <p:strVal val="#ppt_y+#ppt_h*1.125000"/>
                                          </p:val>
                                        </p:tav>
                                        <p:tav tm="100000">
                                          <p:val>
                                            <p:strVal val="#ppt_y"/>
                                          </p:val>
                                        </p:tav>
                                      </p:tavLst>
                                    </p:anim>
                                    <p:animEffect transition="in" filter="wipe(up)">
                                      <p:cBhvr>
                                        <p:cTn id="2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9" grpId="0"/>
      <p:bldP spid="9" grpId="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1">
            <a:lum/>
          </a:blip>
          <a:srcRect/>
          <a:stretch>
            <a:fillRect l="-1136" r="-1136"/>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功能展示：时代演化</a:t>
            </a:r>
            <a:endParaRPr lang="en-US" sz="1100"/>
          </a:p>
        </p:txBody>
      </p:sp>
      <p:grpSp>
        <p:nvGrpSpPr>
          <p:cNvPr id="30" name="组合 29"/>
          <p:cNvGrpSpPr/>
          <p:nvPr>
            <p:custDataLst>
              <p:tags r:id="rId1"/>
            </p:custDataLst>
          </p:nvPr>
        </p:nvGrpSpPr>
        <p:grpSpPr>
          <a:xfrm>
            <a:off x="5842000" y="1651000"/>
            <a:ext cx="5461000" cy="4762500"/>
            <a:chOff x="9200" y="2600"/>
            <a:chExt cx="8600" cy="7500"/>
          </a:xfrm>
        </p:grpSpPr>
        <p:grpSp>
          <p:nvGrpSpPr>
            <p:cNvPr id="28" name="组合 27"/>
            <p:cNvGrpSpPr/>
            <p:nvPr/>
          </p:nvGrpSpPr>
          <p:grpSpPr>
            <a:xfrm>
              <a:off x="9200" y="2600"/>
              <a:ext cx="8600" cy="7500"/>
              <a:chOff x="9200" y="2600"/>
              <a:chExt cx="8600" cy="7500"/>
            </a:xfrm>
          </p:grpSpPr>
          <p:grpSp>
            <p:nvGrpSpPr>
              <p:cNvPr id="27" name="组合 26"/>
              <p:cNvGrpSpPr/>
              <p:nvPr>
                <p:custDataLst>
                  <p:tags r:id="rId6"/>
                </p:custDataLst>
              </p:nvPr>
            </p:nvGrpSpPr>
            <p:grpSpPr>
              <a:xfrm>
                <a:off x="9200" y="2600"/>
                <a:ext cx="8600" cy="4900"/>
                <a:chOff x="9200" y="2600"/>
                <a:chExt cx="8600" cy="4900"/>
              </a:xfrm>
            </p:grpSpPr>
            <p:grpSp>
              <p:nvGrpSpPr>
                <p:cNvPr id="25" name="组合 24"/>
                <p:cNvGrpSpPr/>
                <p:nvPr/>
              </p:nvGrpSpPr>
              <p:grpSpPr>
                <a:xfrm>
                  <a:off x="9200" y="2600"/>
                  <a:ext cx="8600" cy="4900"/>
                  <a:chOff x="9200" y="2600"/>
                  <a:chExt cx="8600" cy="4900"/>
                </a:xfrm>
              </p:grpSpPr>
              <p:grpSp>
                <p:nvGrpSpPr>
                  <p:cNvPr id="24" name="组合 23"/>
                  <p:cNvGrpSpPr/>
                  <p:nvPr/>
                </p:nvGrpSpPr>
                <p:grpSpPr>
                  <a:xfrm>
                    <a:off x="9200" y="2600"/>
                    <a:ext cx="8600" cy="2200"/>
                    <a:chOff x="9200" y="2600"/>
                    <a:chExt cx="8600" cy="2200"/>
                  </a:xfrm>
                </p:grpSpPr>
                <p:sp>
                  <p:nvSpPr>
                    <p:cNvPr id="5" name="AutoShape 5"/>
                    <p:cNvSpPr/>
                    <p:nvPr/>
                  </p:nvSpPr>
                  <p:spPr>
                    <a:xfrm>
                      <a:off x="9200" y="2600"/>
                      <a:ext cx="8600" cy="2200"/>
                    </a:xfrm>
                    <a:prstGeom prst="roundRect">
                      <a:avLst>
                        <a:gd name="adj" fmla="val 9090"/>
                      </a:avLst>
                    </a:prstGeom>
                    <a:solidFill>
                      <a:srgbClr val="FFFFFF">
                        <a:alpha val="85000"/>
                      </a:srgbClr>
                    </a:solidFill>
                    <a:ln w="25400" cap="flat" cmpd="sng">
                      <a:noFill/>
                      <a:prstDash val="solid"/>
                      <a:round/>
                    </a:ln>
                    <a:effectLst>
                      <a:outerShdw blurRad="101600" dist="25400" dir="2700000" algn="tl" rotWithShape="0">
                        <a:srgbClr val="2E4047">
                          <a:alpha val="10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9600" y="2900"/>
                      <a:ext cx="7800" cy="52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历史长河中的建筑年轮</a:t>
                      </a:r>
                      <a:endParaRPr lang="en-US" sz="1100" dirty="0"/>
                    </a:p>
                  </p:txBody>
                </p:sp>
                <p:sp>
                  <p:nvSpPr>
                    <p:cNvPr id="7" name="AutoShape 7"/>
                    <p:cNvSpPr/>
                    <p:nvPr/>
                  </p:nvSpPr>
                  <p:spPr>
                    <a:xfrm>
                      <a:off x="9600" y="3600"/>
                      <a:ext cx="7800" cy="1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以动态时间轴为核心，将河南古代建筑发展划分为七个关键历史阶段。用户可拖动交互，直观感受不同时期建筑风格的迭代、功能类型的演变及空间分布重心的转移。</a:t>
                      </a:r>
                      <a:endParaRPr lang="en-US" sz="1100"/>
                    </a:p>
                  </p:txBody>
                </p:sp>
              </p:grpSp>
              <p:sp>
                <p:nvSpPr>
                  <p:cNvPr id="8" name="AutoShape 8"/>
                  <p:cNvSpPr/>
                  <p:nvPr>
                    <p:custDataLst>
                      <p:tags r:id="rId15"/>
                    </p:custDataLst>
                  </p:nvPr>
                </p:nvSpPr>
                <p:spPr>
                  <a:xfrm>
                    <a:off x="9200" y="5200"/>
                    <a:ext cx="4200" cy="2300"/>
                  </a:xfrm>
                  <a:prstGeom prst="roundRect">
                    <a:avLst>
                      <a:gd name="adj" fmla="val 8695"/>
                    </a:avLst>
                  </a:prstGeom>
                  <a:solidFill>
                    <a:srgbClr val="FFFFFF">
                      <a:alpha val="85000"/>
                    </a:srgbClr>
                  </a:solidFill>
                  <a:ln w="25400" cap="flat" cmpd="sng">
                    <a:noFill/>
                    <a:prstDash val="solid"/>
                    <a:round/>
                  </a:ln>
                  <a:effectLst>
                    <a:outerShdw blurRad="101600" dist="254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custDataLst>
                      <p:tags r:id="rId16"/>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500" y="5600"/>
                    <a:ext cx="720" cy="720"/>
                  </a:xfrm>
                  <a:prstGeom prst="rect">
                    <a:avLst/>
                  </a:prstGeom>
                </p:spPr>
              </p:pic>
              <p:sp>
                <p:nvSpPr>
                  <p:cNvPr id="10" name="AutoShape 10"/>
                  <p:cNvSpPr/>
                  <p:nvPr>
                    <p:custDataLst>
                      <p:tags r:id="rId17"/>
                    </p:custDataLst>
                  </p:nvPr>
                </p:nvSpPr>
                <p:spPr>
                  <a:xfrm>
                    <a:off x="10500" y="5600"/>
                    <a:ext cx="2600" cy="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动态时间轴</a:t>
                    </a:r>
                    <a:endParaRPr lang="en-US" sz="1100"/>
                  </a:p>
                </p:txBody>
              </p:sp>
              <p:sp>
                <p:nvSpPr>
                  <p:cNvPr id="11" name="AutoShape 11"/>
                  <p:cNvSpPr/>
                  <p:nvPr>
                    <p:custDataLst>
                      <p:tags r:id="rId18"/>
                    </p:custDataLst>
                  </p:nvPr>
                </p:nvSpPr>
                <p:spPr>
                  <a:xfrm>
                    <a:off x="10500" y="6300"/>
                    <a:ext cx="2600" cy="8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平滑展示各朝代建筑样本涌现，支持自由拖拽回溯。</a:t>
                    </a:r>
                    <a:endParaRPr lang="en-US" sz="1100"/>
                  </a:p>
                </p:txBody>
              </p:sp>
            </p:grpSp>
            <p:sp>
              <p:nvSpPr>
                <p:cNvPr id="12" name="AutoShape 12"/>
                <p:cNvSpPr/>
                <p:nvPr>
                  <p:custDataLst>
                    <p:tags r:id="rId11"/>
                  </p:custDataLst>
                </p:nvPr>
              </p:nvSpPr>
              <p:spPr>
                <a:xfrm>
                  <a:off x="13600" y="5200"/>
                  <a:ext cx="4200" cy="2300"/>
                </a:xfrm>
                <a:prstGeom prst="roundRect">
                  <a:avLst>
                    <a:gd name="adj" fmla="val 8695"/>
                  </a:avLst>
                </a:prstGeom>
                <a:solidFill>
                  <a:srgbClr val="FFFFFF">
                    <a:alpha val="85000"/>
                  </a:srgbClr>
                </a:solidFill>
                <a:ln w="25400" cap="flat" cmpd="sng">
                  <a:noFill/>
                  <a:prstDash val="solid"/>
                  <a:round/>
                </a:ln>
                <a:effectLst>
                  <a:outerShdw blurRad="101600" dist="254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custDataLst>
                    <p:tags r:id="rId12"/>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3900" y="5600"/>
                  <a:ext cx="720" cy="720"/>
                </a:xfrm>
                <a:prstGeom prst="rect">
                  <a:avLst/>
                </a:prstGeom>
              </p:spPr>
            </p:pic>
            <p:sp>
              <p:nvSpPr>
                <p:cNvPr id="14" name="AutoShape 14"/>
                <p:cNvSpPr/>
                <p:nvPr>
                  <p:custDataLst>
                    <p:tags r:id="rId13"/>
                  </p:custDataLst>
                </p:nvPr>
              </p:nvSpPr>
              <p:spPr>
                <a:xfrm>
                  <a:off x="14900" y="5600"/>
                  <a:ext cx="2600" cy="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阶段特征概览</a:t>
                  </a:r>
                  <a:endParaRPr lang="en-US" sz="1100"/>
                </a:p>
              </p:txBody>
            </p:sp>
            <p:sp>
              <p:nvSpPr>
                <p:cNvPr id="15" name="AutoShape 15"/>
                <p:cNvSpPr/>
                <p:nvPr>
                  <p:custDataLst>
                    <p:tags r:id="rId14"/>
                  </p:custDataLst>
                </p:nvPr>
              </p:nvSpPr>
              <p:spPr>
                <a:xfrm>
                  <a:off x="14900" y="6300"/>
                  <a:ext cx="2600" cy="8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每个节点提供该时期建筑发展的技术与艺术特征总结。</a:t>
                  </a:r>
                  <a:endParaRPr lang="en-US" sz="1100"/>
                </a:p>
              </p:txBody>
            </p:sp>
          </p:grpSp>
          <p:sp>
            <p:nvSpPr>
              <p:cNvPr id="16" name="AutoShape 16"/>
              <p:cNvSpPr/>
              <p:nvPr>
                <p:custDataLst>
                  <p:tags r:id="rId7"/>
                </p:custDataLst>
              </p:nvPr>
            </p:nvSpPr>
            <p:spPr>
              <a:xfrm>
                <a:off x="9200" y="7800"/>
                <a:ext cx="4200" cy="2300"/>
              </a:xfrm>
              <a:prstGeom prst="roundRect">
                <a:avLst>
                  <a:gd name="adj" fmla="val 8695"/>
                </a:avLst>
              </a:prstGeom>
              <a:solidFill>
                <a:srgbClr val="FFFFFF">
                  <a:alpha val="85000"/>
                </a:srgbClr>
              </a:solidFill>
              <a:ln w="25400" cap="flat" cmpd="sng">
                <a:noFill/>
                <a:prstDash val="solid"/>
                <a:round/>
              </a:ln>
              <a:effectLst>
                <a:outerShdw blurRad="101600" dist="254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custDataLst>
                  <p:tags r:id="rId8"/>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500" y="8200"/>
                <a:ext cx="720" cy="720"/>
              </a:xfrm>
              <a:prstGeom prst="rect">
                <a:avLst/>
              </a:prstGeom>
            </p:spPr>
          </p:pic>
          <p:sp>
            <p:nvSpPr>
              <p:cNvPr id="18" name="AutoShape 18"/>
              <p:cNvSpPr/>
              <p:nvPr>
                <p:custDataLst>
                  <p:tags r:id="rId9"/>
                </p:custDataLst>
              </p:nvPr>
            </p:nvSpPr>
            <p:spPr>
              <a:xfrm>
                <a:off x="10500" y="8200"/>
                <a:ext cx="2600" cy="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分布重心迁移</a:t>
                </a:r>
                <a:endParaRPr lang="en-US" sz="1100"/>
              </a:p>
            </p:txBody>
          </p:sp>
          <p:sp>
            <p:nvSpPr>
              <p:cNvPr id="19" name="AutoShape 19"/>
              <p:cNvSpPr/>
              <p:nvPr>
                <p:custDataLst>
                  <p:tags r:id="rId10"/>
                </p:custDataLst>
              </p:nvPr>
            </p:nvSpPr>
            <p:spPr>
              <a:xfrm>
                <a:off x="10500" y="8900"/>
                <a:ext cx="2600" cy="8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可视化呈现政治经济中心转移对建筑布局的深层影响。</a:t>
                </a:r>
                <a:endParaRPr lang="en-US" sz="1100"/>
              </a:p>
            </p:txBody>
          </p:sp>
        </p:grpSp>
        <p:sp>
          <p:nvSpPr>
            <p:cNvPr id="20" name="AutoShape 20"/>
            <p:cNvSpPr/>
            <p:nvPr>
              <p:custDataLst>
                <p:tags r:id="rId2"/>
              </p:custDataLst>
            </p:nvPr>
          </p:nvSpPr>
          <p:spPr>
            <a:xfrm>
              <a:off x="13600" y="7800"/>
              <a:ext cx="4200" cy="2300"/>
            </a:xfrm>
            <a:prstGeom prst="roundRect">
              <a:avLst>
                <a:gd name="adj" fmla="val 8695"/>
              </a:avLst>
            </a:prstGeom>
            <a:solidFill>
              <a:srgbClr val="FFFFFF">
                <a:alpha val="85000"/>
              </a:srgbClr>
            </a:solidFill>
            <a:ln w="25400" cap="flat" cmpd="sng">
              <a:noFill/>
              <a:prstDash val="solid"/>
              <a:round/>
            </a:ln>
            <a:effectLst>
              <a:outerShdw blurRad="101600" dist="254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custDataLst>
                <p:tags r:id="rId3"/>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3900" y="8200"/>
              <a:ext cx="720" cy="720"/>
            </a:xfrm>
            <a:prstGeom prst="rect">
              <a:avLst/>
            </a:prstGeom>
          </p:spPr>
        </p:pic>
        <p:sp>
          <p:nvSpPr>
            <p:cNvPr id="22" name="AutoShape 22"/>
            <p:cNvSpPr/>
            <p:nvPr>
              <p:custDataLst>
                <p:tags r:id="rId4"/>
              </p:custDataLst>
            </p:nvPr>
          </p:nvSpPr>
          <p:spPr>
            <a:xfrm>
              <a:off x="14900" y="8200"/>
              <a:ext cx="2600" cy="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典型建筑案例</a:t>
              </a:r>
              <a:endParaRPr lang="en-US" sz="1100"/>
            </a:p>
          </p:txBody>
        </p:sp>
        <p:sp>
          <p:nvSpPr>
            <p:cNvPr id="23" name="AutoShape 23"/>
            <p:cNvSpPr/>
            <p:nvPr>
              <p:custDataLst>
                <p:tags r:id="rId5"/>
              </p:custDataLst>
            </p:nvPr>
          </p:nvSpPr>
          <p:spPr>
            <a:xfrm>
              <a:off x="14900" y="8900"/>
              <a:ext cx="2600" cy="8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每个历史阶段重点展示1-2个最具代表性的经典遗存。</a:t>
              </a:r>
              <a:endParaRPr lang="en-US" sz="1100"/>
            </a:p>
          </p:txBody>
        </p:sp>
      </p:grpSp>
      <p:grpSp>
        <p:nvGrpSpPr>
          <p:cNvPr id="4" name="组合 3"/>
          <p:cNvGrpSpPr/>
          <p:nvPr/>
        </p:nvGrpSpPr>
        <p:grpSpPr>
          <a:xfrm>
            <a:off x="130175" y="1334135"/>
            <a:ext cx="5394960" cy="5358765"/>
            <a:chOff x="205" y="2101"/>
            <a:chExt cx="8496" cy="8439"/>
          </a:xfrm>
        </p:grpSpPr>
        <p:sp>
          <p:nvSpPr>
            <p:cNvPr id="26" name="矩形: 圆角 25"/>
            <p:cNvSpPr/>
            <p:nvPr/>
          </p:nvSpPr>
          <p:spPr>
            <a:xfrm>
              <a:off x="205" y="2101"/>
              <a:ext cx="8496" cy="8439"/>
            </a:xfrm>
            <a:prstGeom prst="roundRect">
              <a:avLst>
                <a:gd name="adj" fmla="val 4890"/>
              </a:avLst>
            </a:prstGeom>
            <a:solidFill>
              <a:schemeClr val="bg2">
                <a:lumMod val="40000"/>
                <a:lumOff val="60000"/>
              </a:schemeClr>
            </a:solidFill>
            <a:ln>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pic>
          <p:nvPicPr>
            <p:cNvPr id="29" name="图片 28"/>
            <p:cNvPicPr/>
            <p:nvPr/>
          </p:nvPicPr>
          <p:blipFill>
            <a:blip r:embed="rId30"/>
            <a:stretch>
              <a:fillRect/>
            </a:stretch>
          </p:blipFill>
          <p:spPr>
            <a:xfrm>
              <a:off x="353" y="2241"/>
              <a:ext cx="8197" cy="821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p:tgtEl>
                                          <p:spTgt spid="30"/>
                                        </p:tgtEl>
                                        <p:attrNameLst>
                                          <p:attrName>ppt_y</p:attrName>
                                        </p:attrNameLst>
                                      </p:cBhvr>
                                      <p:tavLst>
                                        <p:tav tm="0">
                                          <p:val>
                                            <p:strVal val="#ppt_y+#ppt_h*1.125000"/>
                                          </p:val>
                                        </p:tav>
                                        <p:tav tm="100000">
                                          <p:val>
                                            <p:strVal val="#ppt_y"/>
                                          </p:val>
                                        </p:tav>
                                      </p:tavLst>
                                    </p:anim>
                                    <p:animEffect transition="in" filter="wipe(up)">
                                      <p:cBhvr>
                                        <p:cTn id="1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2">
            <a:lum/>
          </a:blip>
          <a:srcRect/>
          <a:stretch>
            <a:fillRect l="-1136" r="-1136"/>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功能展示：建筑详情</a:t>
            </a:r>
            <a:endParaRPr lang="en-US" sz="1100" dirty="0"/>
          </a:p>
        </p:txBody>
      </p:sp>
      <p:sp>
        <p:nvSpPr>
          <p:cNvPr id="4" name="AutoShape 4"/>
          <p:cNvSpPr/>
          <p:nvPr/>
        </p:nvSpPr>
        <p:spPr>
          <a:xfrm>
            <a:off x="762000" y="15240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数字化的古建筑档案</a:t>
            </a:r>
            <a:endParaRPr lang="en-US" sz="1100" dirty="0"/>
          </a:p>
        </p:txBody>
      </p:sp>
      <p:sp>
        <p:nvSpPr>
          <p:cNvPr id="5" name="AutoShape 5"/>
          <p:cNvSpPr/>
          <p:nvPr/>
        </p:nvSpPr>
        <p:spPr>
          <a:xfrm>
            <a:off x="762000" y="2032000"/>
            <a:ext cx="5334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endParaRPr lang="en-US" sz="1100" dirty="0"/>
          </a:p>
        </p:txBody>
      </p:sp>
      <p:grpSp>
        <p:nvGrpSpPr>
          <p:cNvPr id="2" name="组合 1"/>
          <p:cNvGrpSpPr/>
          <p:nvPr>
            <p:custDataLst>
              <p:tags r:id="rId1"/>
            </p:custDataLst>
          </p:nvPr>
        </p:nvGrpSpPr>
        <p:grpSpPr>
          <a:xfrm>
            <a:off x="635000" y="2130425"/>
            <a:ext cx="2540000" cy="1143000"/>
            <a:chOff x="1000" y="3355"/>
            <a:chExt cx="4000" cy="1800"/>
          </a:xfrm>
        </p:grpSpPr>
        <p:sp>
          <p:nvSpPr>
            <p:cNvPr id="6" name="AutoShape 6"/>
            <p:cNvSpPr/>
            <p:nvPr>
              <p:custDataLst>
                <p:tags r:id="rId16"/>
              </p:custDataLst>
            </p:nvPr>
          </p:nvSpPr>
          <p:spPr>
            <a:xfrm>
              <a:off x="1000" y="3355"/>
              <a:ext cx="4000" cy="1800"/>
            </a:xfrm>
            <a:prstGeom prst="roundRect">
              <a:avLst>
                <a:gd name="adj" fmla="val 11111"/>
              </a:avLst>
            </a:prstGeom>
            <a:solidFill>
              <a:srgbClr val="FFFFFF">
                <a:alpha val="90000"/>
              </a:srgbClr>
            </a:solidFill>
            <a:ln w="12700" cap="flat" cmpd="sng">
              <a:solidFill>
                <a:srgbClr val="2E4047">
                  <a:alpha val="20000"/>
                </a:srgbClr>
              </a:solidFill>
              <a:prstDash val="solid"/>
              <a:round/>
            </a:ln>
            <a:effectLst>
              <a:outerShdw blurRad="1016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custDataLst>
                <p:tags r:id="rId17"/>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300" y="3810"/>
              <a:ext cx="720" cy="720"/>
            </a:xfrm>
            <a:prstGeom prst="rect">
              <a:avLst/>
            </a:prstGeom>
          </p:spPr>
        </p:pic>
        <p:sp>
          <p:nvSpPr>
            <p:cNvPr id="8" name="AutoShape 8"/>
            <p:cNvSpPr/>
            <p:nvPr>
              <p:custDataLst>
                <p:tags r:id="rId18"/>
              </p:custDataLst>
            </p:nvPr>
          </p:nvSpPr>
          <p:spPr>
            <a:xfrm>
              <a:off x="2200" y="3710"/>
              <a:ext cx="2600" cy="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300" b="1" i="0" u="none" strike="noStrike" dirty="0">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根据城市进行划分</a:t>
              </a:r>
              <a:endParaRPr lang="en-US" sz="1100" dirty="0"/>
            </a:p>
          </p:txBody>
        </p:sp>
        <p:sp>
          <p:nvSpPr>
            <p:cNvPr id="9" name="AutoShape 9"/>
            <p:cNvSpPr/>
            <p:nvPr>
              <p:custDataLst>
                <p:tags r:id="rId19"/>
              </p:custDataLst>
            </p:nvPr>
          </p:nvSpPr>
          <p:spPr>
            <a:xfrm>
              <a:off x="2200" y="4270"/>
              <a:ext cx="2600" cy="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000" b="0" i="0" u="none" strike="noStrike" dirty="0">
                  <a:solidFill>
                    <a:srgbClr val="5A5A5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根据城市进行划分，进一步查看建筑详情</a:t>
              </a:r>
              <a:endParaRPr lang="en-US" sz="1100" dirty="0"/>
            </a:p>
          </p:txBody>
        </p:sp>
      </p:grpSp>
      <p:grpSp>
        <p:nvGrpSpPr>
          <p:cNvPr id="27" name="组合 26"/>
          <p:cNvGrpSpPr/>
          <p:nvPr>
            <p:custDataLst>
              <p:tags r:id="rId2"/>
            </p:custDataLst>
          </p:nvPr>
        </p:nvGrpSpPr>
        <p:grpSpPr>
          <a:xfrm>
            <a:off x="3359785" y="2130425"/>
            <a:ext cx="2540000" cy="1143000"/>
            <a:chOff x="5291" y="3355"/>
            <a:chExt cx="4000" cy="1800"/>
          </a:xfrm>
        </p:grpSpPr>
        <p:grpSp>
          <p:nvGrpSpPr>
            <p:cNvPr id="26" name="组合 25"/>
            <p:cNvGrpSpPr/>
            <p:nvPr>
              <p:custDataLst>
                <p:tags r:id="rId11"/>
              </p:custDataLst>
            </p:nvPr>
          </p:nvGrpSpPr>
          <p:grpSpPr>
            <a:xfrm>
              <a:off x="5291" y="3355"/>
              <a:ext cx="4000" cy="1800"/>
              <a:chOff x="5291" y="3355"/>
              <a:chExt cx="4000" cy="1800"/>
            </a:xfrm>
          </p:grpSpPr>
          <p:sp>
            <p:nvSpPr>
              <p:cNvPr id="10" name="AutoShape 10"/>
              <p:cNvSpPr/>
              <p:nvPr>
                <p:custDataLst>
                  <p:tags r:id="rId13"/>
                </p:custDataLst>
              </p:nvPr>
            </p:nvSpPr>
            <p:spPr>
              <a:xfrm>
                <a:off x="5291" y="3355"/>
                <a:ext cx="4000" cy="1800"/>
              </a:xfrm>
              <a:prstGeom prst="roundRect">
                <a:avLst>
                  <a:gd name="adj" fmla="val 11111"/>
                </a:avLst>
              </a:prstGeom>
              <a:solidFill>
                <a:srgbClr val="FFFFFF">
                  <a:alpha val="90000"/>
                </a:srgbClr>
              </a:solidFill>
              <a:ln w="12700" cap="flat" cmpd="sng">
                <a:solidFill>
                  <a:srgbClr val="2E4047">
                    <a:alpha val="20000"/>
                  </a:srgbClr>
                </a:solidFill>
                <a:prstDash val="solid"/>
                <a:round/>
              </a:ln>
              <a:effectLst>
                <a:outerShdw blurRad="1016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custDataLst>
                  <p:tags r:id="rId1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5522" y="3895"/>
                <a:ext cx="720" cy="720"/>
              </a:xfrm>
              <a:prstGeom prst="rect">
                <a:avLst/>
              </a:prstGeom>
            </p:spPr>
          </p:pic>
          <p:sp>
            <p:nvSpPr>
              <p:cNvPr id="13" name="AutoShape 13"/>
              <p:cNvSpPr/>
              <p:nvPr>
                <p:custDataLst>
                  <p:tags r:id="rId15"/>
                </p:custDataLst>
              </p:nvPr>
            </p:nvSpPr>
            <p:spPr>
              <a:xfrm>
                <a:off x="6420" y="4119"/>
                <a:ext cx="2600" cy="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5A5A5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包含名称、年代、地址及保护级别等标准化数据。</a:t>
                </a:r>
                <a:endParaRPr lang="en-US" sz="1100"/>
              </a:p>
            </p:txBody>
          </p:sp>
        </p:grpSp>
        <p:sp>
          <p:nvSpPr>
            <p:cNvPr id="12" name="AutoShape 12"/>
            <p:cNvSpPr/>
            <p:nvPr>
              <p:custDataLst>
                <p:tags r:id="rId12"/>
              </p:custDataLst>
            </p:nvPr>
          </p:nvSpPr>
          <p:spPr>
            <a:xfrm>
              <a:off x="6420" y="3559"/>
              <a:ext cx="2600" cy="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基础信息卡片</a:t>
              </a:r>
              <a:endParaRPr lang="en-US" sz="1100"/>
            </a:p>
          </p:txBody>
        </p:sp>
      </p:grpSp>
      <p:sp>
        <p:nvSpPr>
          <p:cNvPr id="14" name="AutoShape 14"/>
          <p:cNvSpPr/>
          <p:nvPr>
            <p:custDataLst>
              <p:tags r:id="rId3"/>
            </p:custDataLst>
          </p:nvPr>
        </p:nvSpPr>
        <p:spPr>
          <a:xfrm>
            <a:off x="658223" y="3435350"/>
            <a:ext cx="2540000" cy="1143000"/>
          </a:xfrm>
          <a:prstGeom prst="roundRect">
            <a:avLst>
              <a:gd name="adj" fmla="val 11111"/>
            </a:avLst>
          </a:prstGeom>
          <a:solidFill>
            <a:srgbClr val="FFFFFF">
              <a:alpha val="90000"/>
            </a:srgbClr>
          </a:solidFill>
          <a:ln w="12700" cap="flat" cmpd="sng">
            <a:solidFill>
              <a:srgbClr val="2E4047">
                <a:alpha val="20000"/>
              </a:srgbClr>
            </a:solidFill>
            <a:prstDash val="solid"/>
            <a:round/>
          </a:ln>
          <a:effectLst>
            <a:outerShdw blurRad="1016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custDataLst>
              <p:tags r:id="rId4"/>
            </p:custDataLst>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848723" y="3625850"/>
            <a:ext cx="457200" cy="457200"/>
          </a:xfrm>
          <a:prstGeom prst="rect">
            <a:avLst/>
          </a:prstGeom>
        </p:spPr>
      </p:pic>
      <p:sp>
        <p:nvSpPr>
          <p:cNvPr id="16" name="AutoShape 16"/>
          <p:cNvSpPr/>
          <p:nvPr>
            <p:custDataLst>
              <p:tags r:id="rId5"/>
            </p:custDataLst>
          </p:nvPr>
        </p:nvSpPr>
        <p:spPr>
          <a:xfrm>
            <a:off x="1420223" y="3562350"/>
            <a:ext cx="165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历史背景溯源</a:t>
            </a:r>
            <a:endParaRPr lang="en-US" sz="1100"/>
          </a:p>
        </p:txBody>
      </p:sp>
      <p:sp>
        <p:nvSpPr>
          <p:cNvPr id="17" name="AutoShape 17"/>
          <p:cNvSpPr/>
          <p:nvPr>
            <p:custDataLst>
              <p:tags r:id="rId6"/>
            </p:custDataLst>
          </p:nvPr>
        </p:nvSpPr>
        <p:spPr>
          <a:xfrm>
            <a:off x="1420223" y="391795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5A5A5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详述建造背景、历代变迁及相关历史人物的故事。</a:t>
            </a:r>
            <a:endParaRPr lang="en-US" sz="1100"/>
          </a:p>
        </p:txBody>
      </p:sp>
      <p:sp>
        <p:nvSpPr>
          <p:cNvPr id="18" name="AutoShape 18"/>
          <p:cNvSpPr/>
          <p:nvPr>
            <p:custDataLst>
              <p:tags r:id="rId7"/>
            </p:custDataLst>
          </p:nvPr>
        </p:nvSpPr>
        <p:spPr>
          <a:xfrm>
            <a:off x="3429000" y="3435350"/>
            <a:ext cx="2540000" cy="1143000"/>
          </a:xfrm>
          <a:prstGeom prst="roundRect">
            <a:avLst>
              <a:gd name="adj" fmla="val 11111"/>
            </a:avLst>
          </a:prstGeom>
          <a:solidFill>
            <a:srgbClr val="FFFFFF">
              <a:alpha val="90000"/>
            </a:srgbClr>
          </a:solidFill>
          <a:ln w="12700" cap="flat" cmpd="sng">
            <a:solidFill>
              <a:srgbClr val="2E4047">
                <a:alpha val="20000"/>
              </a:srgbClr>
            </a:solidFill>
            <a:prstDash val="solid"/>
            <a:round/>
          </a:ln>
          <a:effectLst>
            <a:outerShdw blurRad="1016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custDataLst>
              <p:tags r:id="rId8"/>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3619500" y="3625850"/>
            <a:ext cx="457200" cy="457200"/>
          </a:xfrm>
          <a:prstGeom prst="rect">
            <a:avLst/>
          </a:prstGeom>
        </p:spPr>
      </p:pic>
      <p:sp>
        <p:nvSpPr>
          <p:cNvPr id="20" name="AutoShape 20"/>
          <p:cNvSpPr/>
          <p:nvPr>
            <p:custDataLst>
              <p:tags r:id="rId9"/>
            </p:custDataLst>
          </p:nvPr>
        </p:nvSpPr>
        <p:spPr>
          <a:xfrm>
            <a:off x="4191000" y="3562350"/>
            <a:ext cx="165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形制与工艺分析</a:t>
            </a:r>
            <a:endParaRPr lang="en-US" sz="1100"/>
          </a:p>
        </p:txBody>
      </p:sp>
      <p:sp>
        <p:nvSpPr>
          <p:cNvPr id="21" name="AutoShape 21"/>
          <p:cNvSpPr/>
          <p:nvPr>
            <p:custDataLst>
              <p:tags r:id="rId10"/>
            </p:custDataLst>
          </p:nvPr>
        </p:nvSpPr>
        <p:spPr>
          <a:xfrm>
            <a:off x="4191000" y="391795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5A5A5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深入解析建筑布局、结构体系、建筑材料与工艺。</a:t>
            </a:r>
            <a:endParaRPr lang="en-US" sz="1100"/>
          </a:p>
        </p:txBody>
      </p:sp>
      <p:sp>
        <p:nvSpPr>
          <p:cNvPr id="22" name="AutoShape 22"/>
          <p:cNvSpPr/>
          <p:nvPr/>
        </p:nvSpPr>
        <p:spPr>
          <a:xfrm>
            <a:off x="635000" y="5625428"/>
            <a:ext cx="5334000" cy="825500"/>
          </a:xfrm>
          <a:prstGeom prst="roundRect">
            <a:avLst>
              <a:gd name="adj" fmla="val 15384"/>
            </a:avLst>
          </a:prstGeom>
          <a:solidFill>
            <a:srgbClr val="2E4047">
              <a:alpha val="8000"/>
            </a:srgbClr>
          </a:solidFill>
          <a:ln w="12700" cap="flat" cmpd="sng">
            <a:solidFill>
              <a:srgbClr val="2E4047">
                <a:alpha val="2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25500" y="5815928"/>
            <a:ext cx="406400" cy="406400"/>
          </a:xfrm>
          <a:prstGeom prst="rect">
            <a:avLst/>
          </a:prstGeom>
        </p:spPr>
      </p:pic>
      <p:sp>
        <p:nvSpPr>
          <p:cNvPr id="24" name="AutoShape 24"/>
          <p:cNvSpPr/>
          <p:nvPr/>
        </p:nvSpPr>
        <p:spPr>
          <a:xfrm>
            <a:off x="1397000" y="5714328"/>
            <a:ext cx="4445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E4047"/>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综合文化价值评估</a:t>
            </a:r>
            <a:endParaRPr lang="en-US" sz="1100"/>
          </a:p>
        </p:txBody>
      </p:sp>
      <p:sp>
        <p:nvSpPr>
          <p:cNvPr id="25" name="AutoShape 25"/>
          <p:cNvSpPr/>
          <p:nvPr/>
        </p:nvSpPr>
        <p:spPr>
          <a:xfrm>
            <a:off x="1397000" y="6044528"/>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从历史、艺术、科学三个维度，全面阐述建筑遗产的核心价值与当代意义。</a:t>
            </a:r>
            <a:endParaRPr lang="en-US" sz="1100"/>
          </a:p>
        </p:txBody>
      </p:sp>
      <p:pic>
        <p:nvPicPr>
          <p:cNvPr id="29" name="图片 28"/>
          <p:cNvPicPr>
            <a:picLocks noChangeAspect="1"/>
          </p:cNvPicPr>
          <p:nvPr/>
        </p:nvPicPr>
        <p:blipFill>
          <a:blip r:embed="rId33"/>
          <a:stretch>
            <a:fillRect/>
          </a:stretch>
        </p:blipFill>
        <p:spPr>
          <a:xfrm>
            <a:off x="635000" y="3498850"/>
            <a:ext cx="5974406" cy="2863514"/>
          </a:xfrm>
          <a:prstGeom prst="roundRect">
            <a:avLst>
              <a:gd name="adj" fmla="val 4167"/>
            </a:avLst>
          </a:prstGeom>
          <a:solidFill>
            <a:srgbClr val="FFFFFF"/>
          </a:solidFill>
          <a:ln w="76200" cap="sq">
            <a:solidFill>
              <a:srgbClr val="EAEAEA"/>
            </a:solidFill>
            <a:miter lim="800000"/>
            <a:headEnd/>
            <a:tailEnd/>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31" name="图片 30"/>
          <p:cNvPicPr>
            <a:picLocks noChangeAspect="1"/>
          </p:cNvPicPr>
          <p:nvPr/>
        </p:nvPicPr>
        <p:blipFill>
          <a:blip r:embed="rId34"/>
          <a:stretch>
            <a:fillRect/>
          </a:stretch>
        </p:blipFill>
        <p:spPr>
          <a:xfrm>
            <a:off x="8785199" y="300135"/>
            <a:ext cx="2965004" cy="4224878"/>
          </a:xfrm>
          <a:prstGeom prst="roundRect">
            <a:avLst>
              <a:gd name="adj" fmla="val 4167"/>
            </a:avLst>
          </a:prstGeom>
          <a:solidFill>
            <a:srgbClr val="FFFFFF"/>
          </a:solidFill>
          <a:ln w="76200" cap="sq">
            <a:solidFill>
              <a:srgbClr val="EAEAEA"/>
            </a:solidFill>
            <a:miter lim="800000"/>
            <a:headEnd/>
            <a:tailEnd/>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33" name="图片 32"/>
          <p:cNvPicPr>
            <a:picLocks noChangeAspect="1"/>
          </p:cNvPicPr>
          <p:nvPr/>
        </p:nvPicPr>
        <p:blipFill>
          <a:blip r:embed="rId35"/>
          <a:stretch>
            <a:fillRect/>
          </a:stretch>
        </p:blipFill>
        <p:spPr>
          <a:xfrm>
            <a:off x="635000" y="3873500"/>
            <a:ext cx="7956995" cy="2828925"/>
          </a:xfrm>
          <a:prstGeom prst="roundRect">
            <a:avLst>
              <a:gd name="adj" fmla="val 4167"/>
            </a:avLst>
          </a:prstGeom>
          <a:solidFill>
            <a:srgbClr val="FFFFFF"/>
          </a:solidFill>
          <a:ln w="76200" cap="sq">
            <a:solidFill>
              <a:srgbClr val="EAEAEA"/>
            </a:solidFill>
            <a:miter lim="800000"/>
            <a:headEnd/>
            <a:tailEnd/>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35" name="图片 34"/>
          <p:cNvPicPr>
            <a:picLocks noChangeAspect="1"/>
          </p:cNvPicPr>
          <p:nvPr/>
        </p:nvPicPr>
        <p:blipFill>
          <a:blip r:embed="rId36"/>
          <a:stretch>
            <a:fillRect/>
          </a:stretch>
        </p:blipFill>
        <p:spPr>
          <a:xfrm>
            <a:off x="6084388" y="1260302"/>
            <a:ext cx="5917080" cy="4731095"/>
          </a:xfrm>
          <a:prstGeom prst="roundRect">
            <a:avLst>
              <a:gd name="adj" fmla="val 4167"/>
            </a:avLst>
          </a:prstGeom>
          <a:solidFill>
            <a:srgbClr val="FFFFFF"/>
          </a:solidFill>
          <a:ln w="76200" cap="sq">
            <a:solidFill>
              <a:srgbClr val="EAEAEA"/>
            </a:solidFill>
            <a:miter lim="800000"/>
            <a:headEnd/>
            <a:tailEnd/>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par>
                          <p:cTn id="16" fill="hold">
                            <p:stCondLst>
                              <p:cond delay="500"/>
                            </p:stCondLst>
                            <p:childTnLst>
                              <p:par>
                                <p:cTn id="17" presetID="22" presetClass="entr" presetSubtype="4"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down)">
                                      <p:cBhvr>
                                        <p:cTn id="19" dur="500"/>
                                        <p:tgtEl>
                                          <p:spTgt spid="27"/>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29"/>
                                        </p:tgtEl>
                                      </p:cBhvr>
                                    </p:animEffect>
                                    <p:set>
                                      <p:cBhvr>
                                        <p:cTn id="28" dur="1" fill="hold">
                                          <p:stCondLst>
                                            <p:cond delay="499"/>
                                          </p:stCondLst>
                                        </p:cTn>
                                        <p:tgtEl>
                                          <p:spTgt spid="2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par>
                                <p:cTn id="34" presetID="10" presetClass="entr" presetSubtype="0" fill="hold"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nodeType="clickEffect">
                                  <p:stCondLst>
                                    <p:cond delay="0"/>
                                  </p:stCondLst>
                                  <p:childTnLst>
                                    <p:animEffect transition="out" filter="fade">
                                      <p:cBhvr>
                                        <p:cTn id="40" dur="500"/>
                                        <p:tgtEl>
                                          <p:spTgt spid="31"/>
                                        </p:tgtEl>
                                      </p:cBhvr>
                                    </p:animEffect>
                                    <p:set>
                                      <p:cBhvr>
                                        <p:cTn id="41" dur="1" fill="hold">
                                          <p:stCondLst>
                                            <p:cond delay="499"/>
                                          </p:stCondLst>
                                        </p:cTn>
                                        <p:tgtEl>
                                          <p:spTgt spid="31"/>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500"/>
                                        <p:tgtEl>
                                          <p:spTgt spid="33"/>
                                        </p:tgtEl>
                                      </p:cBhvr>
                                    </p:animEffect>
                                    <p:set>
                                      <p:cBhvr>
                                        <p:cTn id="44" dur="1" fill="hold">
                                          <p:stCondLst>
                                            <p:cond delay="499"/>
                                          </p:stCondLst>
                                        </p:cTn>
                                        <p:tgtEl>
                                          <p:spTgt spid="33"/>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par>
                                <p:cTn id="51" presetID="22" presetClass="entr" presetSubtype="4"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down)">
                                      <p:cBhvr>
                                        <p:cTn id="53" dur="500"/>
                                        <p:tgtEl>
                                          <p:spTgt spid="16"/>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wipe(down)">
                                      <p:cBhvr>
                                        <p:cTn id="56" dur="500"/>
                                        <p:tgtEl>
                                          <p:spTgt spid="17"/>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down)">
                                      <p:cBhvr>
                                        <p:cTn id="59" dur="500"/>
                                        <p:tgtEl>
                                          <p:spTgt spid="18"/>
                                        </p:tgtEl>
                                      </p:cBhvr>
                                    </p:animEffect>
                                  </p:childTnLst>
                                </p:cTn>
                              </p:par>
                              <p:par>
                                <p:cTn id="60" presetID="1" presetClass="entr" presetSubtype="0" fill="hold" nodeType="withEffect">
                                  <p:stCondLst>
                                    <p:cond delay="0"/>
                                  </p:stCondLst>
                                  <p:childTnLst>
                                    <p:set>
                                      <p:cBhvr>
                                        <p:cTn id="61" dur="1" fill="hold">
                                          <p:stCondLst>
                                            <p:cond delay="0"/>
                                          </p:stCondLst>
                                        </p:cTn>
                                        <p:tgtEl>
                                          <p:spTgt spid="19"/>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500"/>
                                        <p:tgtEl>
                                          <p:spTgt spid="35"/>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4"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p:tgtEl>
                                          <p:spTgt spid="23"/>
                                        </p:tgtEl>
                                        <p:attrNameLst>
                                          <p:attrName>ppt_y</p:attrName>
                                        </p:attrNameLst>
                                      </p:cBhvr>
                                      <p:tavLst>
                                        <p:tav tm="0">
                                          <p:val>
                                            <p:strVal val="#ppt_y+#ppt_h*1.125000"/>
                                          </p:val>
                                        </p:tav>
                                        <p:tav tm="100000">
                                          <p:val>
                                            <p:strVal val="#ppt_y"/>
                                          </p:val>
                                        </p:tav>
                                      </p:tavLst>
                                    </p:anim>
                                    <p:animEffect transition="in" filter="wipe(up)">
                                      <p:cBhvr>
                                        <p:cTn id="76" dur="500"/>
                                        <p:tgtEl>
                                          <p:spTgt spid="23"/>
                                        </p:tgtEl>
                                      </p:cBhvr>
                                    </p:animEffect>
                                  </p:childTnLst>
                                </p:cTn>
                              </p:par>
                              <p:par>
                                <p:cTn id="77" presetID="1"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14" grpId="0" animBg="1"/>
      <p:bldP spid="16" grpId="0"/>
      <p:bldP spid="17" grpId="0"/>
      <p:bldP spid="18" grpId="0" animBg="1"/>
      <p:bldP spid="20" grpId="0"/>
      <p:bldP spid="21" grpId="0"/>
      <p:bldP spid="22" grpId="0" animBg="1"/>
      <p:bldP spid="24" grpId="0"/>
      <p:bldP spid="25"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1">
            <a:lum/>
          </a:blip>
          <a:srcRect/>
          <a:stretch>
            <a:fillRect l="-1136" r="-1136"/>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508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功能展示：统计分析</a:t>
            </a:r>
            <a:endParaRPr lang="en-US" sz="1100"/>
          </a:p>
        </p:txBody>
      </p:sp>
      <p:sp>
        <p:nvSpPr>
          <p:cNvPr id="4" name="AutoShape 4"/>
          <p:cNvSpPr/>
          <p:nvPr/>
        </p:nvSpPr>
        <p:spPr>
          <a:xfrm>
            <a:off x="762000" y="15240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数据背后的文化洞察</a:t>
            </a:r>
            <a:endParaRPr lang="en-US" sz="1100"/>
          </a:p>
        </p:txBody>
      </p:sp>
      <p:sp>
        <p:nvSpPr>
          <p:cNvPr id="5" name="AutoShape 5"/>
          <p:cNvSpPr/>
          <p:nvPr/>
        </p:nvSpPr>
        <p:spPr>
          <a:xfrm>
            <a:off x="762000" y="2032000"/>
            <a:ext cx="4953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5606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该模块通过数据可视化图表，对所有建筑样本进行多维度分析，揭示隐藏在数据背后的文化规律和发展趋势，将冰冷的数字转化为可感知的历史脉络。</a:t>
            </a:r>
            <a:endParaRPr lang="en-US" sz="1100"/>
          </a:p>
        </p:txBody>
      </p:sp>
      <p:sp>
        <p:nvSpPr>
          <p:cNvPr id="6" name="AutoShape 6"/>
          <p:cNvSpPr/>
          <p:nvPr/>
        </p:nvSpPr>
        <p:spPr>
          <a:xfrm>
            <a:off x="762000" y="2984500"/>
            <a:ext cx="495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核心分析维度拆解</a:t>
            </a:r>
            <a:endParaRPr lang="en-US" sz="1100"/>
          </a:p>
        </p:txBody>
      </p:sp>
      <p:grpSp>
        <p:nvGrpSpPr>
          <p:cNvPr id="48" name="组合 47"/>
          <p:cNvGrpSpPr/>
          <p:nvPr>
            <p:custDataLst>
              <p:tags r:id="rId1"/>
            </p:custDataLst>
          </p:nvPr>
        </p:nvGrpSpPr>
        <p:grpSpPr>
          <a:xfrm>
            <a:off x="762000" y="3429000"/>
            <a:ext cx="5080000" cy="2984500"/>
            <a:chOff x="1200" y="5400"/>
            <a:chExt cx="8000" cy="4700"/>
          </a:xfrm>
        </p:grpSpPr>
        <p:grpSp>
          <p:nvGrpSpPr>
            <p:cNvPr id="30" name="组合 29"/>
            <p:cNvGrpSpPr/>
            <p:nvPr/>
          </p:nvGrpSpPr>
          <p:grpSpPr>
            <a:xfrm>
              <a:off x="1200" y="5400"/>
              <a:ext cx="8000" cy="4700"/>
              <a:chOff x="1200" y="5400"/>
              <a:chExt cx="8000" cy="4700"/>
            </a:xfrm>
          </p:grpSpPr>
          <p:grpSp>
            <p:nvGrpSpPr>
              <p:cNvPr id="29" name="组合 28"/>
              <p:cNvGrpSpPr/>
              <p:nvPr/>
            </p:nvGrpSpPr>
            <p:grpSpPr>
              <a:xfrm>
                <a:off x="1200" y="5400"/>
                <a:ext cx="8000" cy="2200"/>
                <a:chOff x="1200" y="5400"/>
                <a:chExt cx="8000" cy="2200"/>
              </a:xfrm>
            </p:grpSpPr>
            <p:grpSp>
              <p:nvGrpSpPr>
                <p:cNvPr id="28" name="组合 27"/>
                <p:cNvGrpSpPr/>
                <p:nvPr>
                  <p:custDataLst>
                    <p:tags r:id="rId10"/>
                  </p:custDataLst>
                </p:nvPr>
              </p:nvGrpSpPr>
              <p:grpSpPr>
                <a:xfrm>
                  <a:off x="1200" y="5400"/>
                  <a:ext cx="3800" cy="2200"/>
                  <a:chOff x="1200" y="5400"/>
                  <a:chExt cx="3800" cy="2200"/>
                </a:xfrm>
              </p:grpSpPr>
              <p:sp>
                <p:nvSpPr>
                  <p:cNvPr id="7" name="AutoShape 7"/>
                  <p:cNvSpPr/>
                  <p:nvPr>
                    <p:custDataLst>
                      <p:tags r:id="rId15"/>
                    </p:custDataLst>
                  </p:nvPr>
                </p:nvSpPr>
                <p:spPr>
                  <a:xfrm>
                    <a:off x="1200" y="5400"/>
                    <a:ext cx="3800" cy="2200"/>
                  </a:xfrm>
                  <a:prstGeom prst="roundRect">
                    <a:avLst>
                      <a:gd name="adj" fmla="val 9090"/>
                    </a:avLst>
                  </a:prstGeom>
                  <a:solidFill>
                    <a:srgbClr val="FFFFFF">
                      <a:alpha val="85000"/>
                    </a:srgbClr>
                  </a:solidFill>
                  <a:ln w="25400" cap="flat" cmpd="sng">
                    <a:noFill/>
                    <a:prstDash val="solid"/>
                    <a:round/>
                  </a:ln>
                  <a:effectLst>
                    <a:outerShdw blurRad="1016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custDataLst>
                      <p:tags r:id="rId16"/>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500" y="5800"/>
                    <a:ext cx="720" cy="720"/>
                  </a:xfrm>
                  <a:prstGeom prst="rect">
                    <a:avLst/>
                  </a:prstGeom>
                </p:spPr>
              </p:pic>
              <p:sp>
                <p:nvSpPr>
                  <p:cNvPr id="9" name="AutoShape 9"/>
                  <p:cNvSpPr/>
                  <p:nvPr>
                    <p:custDataLst>
                      <p:tags r:id="rId17"/>
                    </p:custDataLst>
                  </p:nvPr>
                </p:nvSpPr>
                <p:spPr>
                  <a:xfrm>
                    <a:off x="2500" y="5700"/>
                    <a:ext cx="2300" cy="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朝代分布</a:t>
                    </a:r>
                    <a:endParaRPr lang="en-US" sz="1100"/>
                  </a:p>
                </p:txBody>
              </p:sp>
              <p:sp>
                <p:nvSpPr>
                  <p:cNvPr id="10" name="AutoShape 10"/>
                  <p:cNvSpPr/>
                  <p:nvPr>
                    <p:custDataLst>
                      <p:tags r:id="rId18"/>
                    </p:custDataLst>
                  </p:nvPr>
                </p:nvSpPr>
                <p:spPr>
                  <a:xfrm>
                    <a:off x="2500" y="6300"/>
                    <a:ext cx="2300" cy="1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000" b="0" i="0" u="none" strike="noStrike">
                        <a:solidFill>
                          <a:srgbClr val="5F6B7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对比各朝代建筑留存数量，反映不同历史时期的建筑活动强度与繁荣度。</a:t>
                    </a:r>
                    <a:endParaRPr lang="en-US" sz="1100"/>
                  </a:p>
                </p:txBody>
              </p:sp>
            </p:grpSp>
            <p:sp>
              <p:nvSpPr>
                <p:cNvPr id="11" name="AutoShape 11"/>
                <p:cNvSpPr/>
                <p:nvPr>
                  <p:custDataLst>
                    <p:tags r:id="rId11"/>
                  </p:custDataLst>
                </p:nvPr>
              </p:nvSpPr>
              <p:spPr>
                <a:xfrm>
                  <a:off x="5400" y="5400"/>
                  <a:ext cx="3800" cy="2200"/>
                </a:xfrm>
                <a:prstGeom prst="roundRect">
                  <a:avLst>
                    <a:gd name="adj" fmla="val 9090"/>
                  </a:avLst>
                </a:prstGeom>
                <a:solidFill>
                  <a:srgbClr val="FFFFFF">
                    <a:alpha val="85000"/>
                  </a:srgbClr>
                </a:solidFill>
                <a:ln w="25400" cap="flat" cmpd="sng">
                  <a:noFill/>
                  <a:prstDash val="solid"/>
                  <a:round/>
                </a:ln>
                <a:effectLst>
                  <a:outerShdw blurRad="1016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custDataLst>
                    <p:tags r:id="rId12"/>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5700" y="5800"/>
                  <a:ext cx="720" cy="720"/>
                </a:xfrm>
                <a:prstGeom prst="rect">
                  <a:avLst/>
                </a:prstGeom>
              </p:spPr>
            </p:pic>
            <p:sp>
              <p:nvSpPr>
                <p:cNvPr id="13" name="AutoShape 13"/>
                <p:cNvSpPr/>
                <p:nvPr>
                  <p:custDataLst>
                    <p:tags r:id="rId13"/>
                  </p:custDataLst>
                </p:nvPr>
              </p:nvSpPr>
              <p:spPr>
                <a:xfrm>
                  <a:off x="6700" y="5700"/>
                  <a:ext cx="2300" cy="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类型分布</a:t>
                  </a:r>
                  <a:endParaRPr lang="en-US" sz="1100"/>
                </a:p>
              </p:txBody>
            </p:sp>
            <p:sp>
              <p:nvSpPr>
                <p:cNvPr id="14" name="AutoShape 14"/>
                <p:cNvSpPr/>
                <p:nvPr>
                  <p:custDataLst>
                    <p:tags r:id="rId14"/>
                  </p:custDataLst>
                </p:nvPr>
              </p:nvSpPr>
              <p:spPr>
                <a:xfrm>
                  <a:off x="6700" y="6300"/>
                  <a:ext cx="2300" cy="1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000" b="0" i="0" u="none" strike="noStrike" dirty="0">
                      <a:solidFill>
                        <a:srgbClr val="5F6B7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统计城址、官署、民居等类型占比，解析功能布局与社会结构特征。</a:t>
                  </a:r>
                  <a:endParaRPr lang="en-US" sz="1100" dirty="0"/>
                </a:p>
              </p:txBody>
            </p:sp>
          </p:grpSp>
          <p:sp>
            <p:nvSpPr>
              <p:cNvPr id="15" name="AutoShape 15"/>
              <p:cNvSpPr/>
              <p:nvPr>
                <p:custDataLst>
                  <p:tags r:id="rId6"/>
                </p:custDataLst>
              </p:nvPr>
            </p:nvSpPr>
            <p:spPr>
              <a:xfrm>
                <a:off x="1200" y="7900"/>
                <a:ext cx="3800" cy="2200"/>
              </a:xfrm>
              <a:prstGeom prst="roundRect">
                <a:avLst>
                  <a:gd name="adj" fmla="val 9090"/>
                </a:avLst>
              </a:prstGeom>
              <a:solidFill>
                <a:srgbClr val="FFFFFF">
                  <a:alpha val="85000"/>
                </a:srgbClr>
              </a:solidFill>
              <a:ln w="25400" cap="flat" cmpd="sng">
                <a:noFill/>
                <a:prstDash val="solid"/>
                <a:round/>
              </a:ln>
              <a:effectLst>
                <a:outerShdw blurRad="1016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custDataLst>
                  <p:tags r:id="rId7"/>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500" y="8300"/>
                <a:ext cx="720" cy="720"/>
              </a:xfrm>
              <a:prstGeom prst="rect">
                <a:avLst/>
              </a:prstGeom>
            </p:spPr>
          </p:pic>
          <p:sp>
            <p:nvSpPr>
              <p:cNvPr id="17" name="AutoShape 17"/>
              <p:cNvSpPr/>
              <p:nvPr>
                <p:custDataLst>
                  <p:tags r:id="rId8"/>
                </p:custDataLst>
              </p:nvPr>
            </p:nvSpPr>
            <p:spPr>
              <a:xfrm>
                <a:off x="2500" y="8200"/>
                <a:ext cx="2300" cy="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地域分布</a:t>
                </a:r>
                <a:endParaRPr lang="en-US" sz="1100"/>
              </a:p>
            </p:txBody>
          </p:sp>
          <p:sp>
            <p:nvSpPr>
              <p:cNvPr id="18" name="AutoShape 18"/>
              <p:cNvSpPr/>
              <p:nvPr>
                <p:custDataLst>
                  <p:tags r:id="rId9"/>
                </p:custDataLst>
              </p:nvPr>
            </p:nvSpPr>
            <p:spPr>
              <a:xfrm>
                <a:off x="2500" y="8800"/>
                <a:ext cx="2300" cy="1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000" b="0" i="0" u="none" strike="noStrike" dirty="0">
                    <a:solidFill>
                      <a:srgbClr val="5F6B7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分析全省16个地市分布情况，直观展示区域文化发展的空间不均衡性。</a:t>
                </a:r>
                <a:endParaRPr lang="en-US" sz="1100" dirty="0"/>
              </a:p>
            </p:txBody>
          </p:sp>
        </p:grpSp>
        <p:sp>
          <p:nvSpPr>
            <p:cNvPr id="19" name="AutoShape 19"/>
            <p:cNvSpPr/>
            <p:nvPr>
              <p:custDataLst>
                <p:tags r:id="rId2"/>
              </p:custDataLst>
            </p:nvPr>
          </p:nvSpPr>
          <p:spPr>
            <a:xfrm>
              <a:off x="5400" y="7900"/>
              <a:ext cx="3800" cy="2200"/>
            </a:xfrm>
            <a:prstGeom prst="roundRect">
              <a:avLst>
                <a:gd name="adj" fmla="val 9090"/>
              </a:avLst>
            </a:prstGeom>
            <a:solidFill>
              <a:srgbClr val="FFFFFF">
                <a:alpha val="85000"/>
              </a:srgbClr>
            </a:solidFill>
            <a:ln w="25400" cap="flat" cmpd="sng">
              <a:noFill/>
              <a:prstDash val="solid"/>
              <a:round/>
            </a:ln>
            <a:effectLst>
              <a:outerShdw blurRad="1016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20" name="Picture 20"/>
            <p:cNvPicPr>
              <a:picLocks noChangeAspect="1"/>
            </p:cNvPicPr>
            <p:nvPr>
              <p:custDataLst>
                <p:tags r:id="rId3"/>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5700" y="8300"/>
              <a:ext cx="720" cy="720"/>
            </a:xfrm>
            <a:prstGeom prst="rect">
              <a:avLst/>
            </a:prstGeom>
          </p:spPr>
        </p:pic>
        <p:sp>
          <p:nvSpPr>
            <p:cNvPr id="21" name="AutoShape 21"/>
            <p:cNvSpPr/>
            <p:nvPr>
              <p:custDataLst>
                <p:tags r:id="rId4"/>
              </p:custDataLst>
            </p:nvPr>
          </p:nvSpPr>
          <p:spPr>
            <a:xfrm>
              <a:off x="6700" y="8200"/>
              <a:ext cx="2300" cy="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特征关联</a:t>
              </a:r>
              <a:endParaRPr lang="en-US" sz="1100"/>
            </a:p>
          </p:txBody>
        </p:sp>
        <p:sp>
          <p:nvSpPr>
            <p:cNvPr id="22" name="AutoShape 22"/>
            <p:cNvSpPr/>
            <p:nvPr>
              <p:custDataLst>
                <p:tags r:id="rId5"/>
              </p:custDataLst>
            </p:nvPr>
          </p:nvSpPr>
          <p:spPr>
            <a:xfrm>
              <a:off x="6700" y="8800"/>
              <a:ext cx="2300" cy="1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000" b="0" i="0" u="none" strike="noStrike">
                  <a:solidFill>
                    <a:srgbClr val="5F6B7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深度挖掘建筑类型与朝代、地域间的潜在关联，构建多维文化认知模型。</a:t>
              </a:r>
              <a:endParaRPr lang="en-US" sz="1100"/>
            </a:p>
          </p:txBody>
        </p:sp>
      </p:grpSp>
      <p:grpSp>
        <p:nvGrpSpPr>
          <p:cNvPr id="25" name="组合 24"/>
          <p:cNvGrpSpPr/>
          <p:nvPr/>
        </p:nvGrpSpPr>
        <p:grpSpPr>
          <a:xfrm>
            <a:off x="6159499" y="1961851"/>
            <a:ext cx="5577369" cy="3556389"/>
            <a:chOff x="9500" y="3000"/>
            <a:chExt cx="8783" cy="5601"/>
          </a:xfrm>
        </p:grpSpPr>
        <p:sp>
          <p:nvSpPr>
            <p:cNvPr id="23" name="AutoShape 23"/>
            <p:cNvSpPr/>
            <p:nvPr/>
          </p:nvSpPr>
          <p:spPr>
            <a:xfrm>
              <a:off x="9500" y="3000"/>
              <a:ext cx="8783" cy="5601"/>
            </a:xfrm>
            <a:prstGeom prst="roundRect">
              <a:avLst>
                <a:gd name="adj" fmla="val 4444"/>
              </a:avLst>
            </a:prstGeom>
            <a:solidFill>
              <a:srgbClr val="FFFFFF">
                <a:alpha val="60000"/>
              </a:srgbClr>
            </a:solidFill>
            <a:ln w="12700" cap="flat" cmpd="sng">
              <a:solidFill>
                <a:srgbClr val="E6E6E6">
                  <a:alpha val="100000"/>
                </a:srgbClr>
              </a:solidFill>
              <a:prstDash val="solid"/>
              <a:round/>
            </a:ln>
            <a:effectLst>
              <a:outerShdw blurRad="190500" dist="63500" dir="2700000" algn="tl" rotWithShape="0">
                <a:srgbClr val="000000">
                  <a:alpha val="12000"/>
                </a:srgbClr>
              </a:outerShdw>
            </a:effectLst>
          </p:spPr>
          <p:txBody>
            <a:bodyPr vert="horz" wrap="square" lIns="63500" tIns="63500" rIns="63500" bIns="63500" rtlCol="0" anchor="ctr"/>
            <a:lstStyle/>
            <a:p>
              <a:pPr algn="ctr">
                <a:defRPr/>
              </a:pPr>
              <a:endParaRPr/>
            </a:p>
          </p:txBody>
        </p:sp>
        <p:pic>
          <p:nvPicPr>
            <p:cNvPr id="24" name="图片 23"/>
            <p:cNvPicPr/>
            <p:nvPr/>
          </p:nvPicPr>
          <p:blipFill>
            <a:blip r:embed="rId30"/>
            <a:stretch>
              <a:fillRect/>
            </a:stretch>
          </p:blipFill>
          <p:spPr>
            <a:xfrm>
              <a:off x="9600" y="3110"/>
              <a:ext cx="8590" cy="5414"/>
            </a:xfrm>
            <a:prstGeom prst="roundRect">
              <a:avLst>
                <a:gd name="adj" fmla="val 5843"/>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12"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strips(downLeft)">
                                      <p:cBhvr>
                                        <p:cTn id="18" dur="500"/>
                                        <p:tgtEl>
                                          <p:spTgt spid="6"/>
                                        </p:tgtEl>
                                      </p:cBhvr>
                                    </p:animEffect>
                                  </p:childTnLst>
                                </p:cTn>
                              </p:par>
                            </p:childTnLst>
                          </p:cTn>
                        </p:par>
                        <p:par>
                          <p:cTn id="19" fill="hold">
                            <p:stCondLst>
                              <p:cond delay="500"/>
                            </p:stCondLst>
                            <p:childTnLst>
                              <p:par>
                                <p:cTn id="20" presetID="18" presetClass="entr" presetSubtype="12" fill="hold" nodeType="after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strips(downLeft)">
                                      <p:cBhvr>
                                        <p:cTn id="22" dur="500"/>
                                        <p:tgtEl>
                                          <p:spTgt spid="48"/>
                                        </p:tgtEl>
                                      </p:cBhvr>
                                    </p:animEffect>
                                  </p:childTnLst>
                                </p:cTn>
                              </p:par>
                            </p:childTnLst>
                          </p:cTn>
                        </p:par>
                        <p:par>
                          <p:cTn id="23" fill="hold">
                            <p:stCondLst>
                              <p:cond delay="1000"/>
                            </p:stCondLst>
                            <p:childTnLst>
                              <p:par>
                                <p:cTn id="24" presetID="12" presetClass="entr" presetSubtype="4"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p:tgtEl>
                                          <p:spTgt spid="25"/>
                                        </p:tgtEl>
                                        <p:attrNameLst>
                                          <p:attrName>ppt_y</p:attrName>
                                        </p:attrNameLst>
                                      </p:cBhvr>
                                      <p:tavLst>
                                        <p:tav tm="0">
                                          <p:val>
                                            <p:strVal val="#ppt_y+#ppt_h*1.125000"/>
                                          </p:val>
                                        </p:tav>
                                        <p:tav tm="100000">
                                          <p:val>
                                            <p:strVal val="#ppt_y"/>
                                          </p:val>
                                        </p:tav>
                                      </p:tavLst>
                                    </p:anim>
                                    <p:animEffect transition="in" filter="wipe(up)">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P spid="6" grpId="0"/>
      <p:bldP spid="6" grpI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4">
            <a:lum/>
          </a:blip>
          <a:srcRect/>
          <a:stretch>
            <a:fillRect l="-1136" r="-1136"/>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功能展示：专题叙事</a:t>
            </a:r>
            <a:endParaRPr lang="en-US" sz="1100"/>
          </a:p>
        </p:txBody>
      </p:sp>
      <p:sp>
        <p:nvSpPr>
          <p:cNvPr id="4" name="AutoShape 4"/>
          <p:cNvSpPr/>
          <p:nvPr/>
        </p:nvSpPr>
        <p:spPr>
          <a:xfrm>
            <a:off x="762000" y="1460500"/>
            <a:ext cx="10668000" cy="1079500"/>
          </a:xfrm>
          <a:prstGeom prst="roundRect">
            <a:avLst>
              <a:gd name="adj" fmla="val 11764"/>
            </a:avLst>
          </a:prstGeom>
          <a:solidFill>
            <a:srgbClr val="2E404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587500"/>
            <a:ext cx="1016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超越单体的故事讲述</a:t>
            </a:r>
            <a:endParaRPr lang="en-US" sz="1100"/>
          </a:p>
        </p:txBody>
      </p:sp>
      <p:sp>
        <p:nvSpPr>
          <p:cNvPr id="6" name="AutoShape 6"/>
          <p:cNvSpPr/>
          <p:nvPr/>
        </p:nvSpPr>
        <p:spPr>
          <a:xfrm>
            <a:off x="1016000" y="203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该模块打破时间和空间的限制，围绕特定主题进行深度内容整合，将散落的历史遗存串联成线，讲述建筑背后宏大、连贯的历史文化故事。</a:t>
            </a:r>
            <a:endParaRPr lang="en-US" sz="1100"/>
          </a:p>
        </p:txBody>
      </p:sp>
      <p:grpSp>
        <p:nvGrpSpPr>
          <p:cNvPr id="28" name="组合 27"/>
          <p:cNvGrpSpPr/>
          <p:nvPr>
            <p:custDataLst>
              <p:tags r:id="rId1"/>
            </p:custDataLst>
          </p:nvPr>
        </p:nvGrpSpPr>
        <p:grpSpPr>
          <a:xfrm>
            <a:off x="762000" y="2794000"/>
            <a:ext cx="10668000" cy="2921000"/>
            <a:chOff x="1200" y="4400"/>
            <a:chExt cx="16800" cy="4600"/>
          </a:xfrm>
        </p:grpSpPr>
        <p:grpSp>
          <p:nvGrpSpPr>
            <p:cNvPr id="27" name="组合 26"/>
            <p:cNvGrpSpPr/>
            <p:nvPr>
              <p:custDataLst>
                <p:tags r:id="rId2"/>
              </p:custDataLst>
            </p:nvPr>
          </p:nvGrpSpPr>
          <p:grpSpPr>
            <a:xfrm>
              <a:off x="1200" y="4400"/>
              <a:ext cx="11000" cy="4600"/>
              <a:chOff x="1200" y="4400"/>
              <a:chExt cx="11000" cy="4600"/>
            </a:xfrm>
          </p:grpSpPr>
          <p:grpSp>
            <p:nvGrpSpPr>
              <p:cNvPr id="26" name="组合 25"/>
              <p:cNvGrpSpPr/>
              <p:nvPr>
                <p:custDataLst>
                  <p:tags r:id="rId9"/>
                </p:custDataLst>
              </p:nvPr>
            </p:nvGrpSpPr>
            <p:grpSpPr>
              <a:xfrm>
                <a:off x="1200" y="4400"/>
                <a:ext cx="5200" cy="4600"/>
                <a:chOff x="1200" y="4400"/>
                <a:chExt cx="5200" cy="4600"/>
              </a:xfrm>
            </p:grpSpPr>
            <p:sp>
              <p:nvSpPr>
                <p:cNvPr id="7" name="AutoShape 7"/>
                <p:cNvSpPr/>
                <p:nvPr>
                  <p:custDataLst>
                    <p:tags r:id="rId16"/>
                  </p:custDataLst>
                </p:nvPr>
              </p:nvSpPr>
              <p:spPr>
                <a:xfrm>
                  <a:off x="1200" y="4400"/>
                  <a:ext cx="5200" cy="4600"/>
                </a:xfrm>
                <a:prstGeom prst="roundRect">
                  <a:avLst>
                    <a:gd name="adj" fmla="val 5217"/>
                  </a:avLst>
                </a:prstGeom>
                <a:solidFill>
                  <a:srgbClr val="FFFFFF">
                    <a:alpha val="90000"/>
                  </a:srgbClr>
                </a:solidFill>
                <a:ln w="25400" cap="flat" cmpd="sng">
                  <a:noFill/>
                  <a:prstDash val="solid"/>
                  <a:round/>
                </a:ln>
                <a:effectLst>
                  <a:outerShdw blurRad="190500" dist="63500" dir="2700000" algn="tl" rotWithShape="0">
                    <a:srgbClr val="2E4047">
                      <a:alpha val="18000"/>
                    </a:srgbClr>
                  </a:outerShdw>
                </a:effectLst>
              </p:spPr>
              <p:txBody>
                <a:bodyPr vert="horz" wrap="square" lIns="63500" tIns="63500" rIns="63500" bIns="63500" rtlCol="0" anchor="ctr"/>
                <a:lstStyle/>
                <a:p>
                  <a:pPr algn="ctr">
                    <a:defRPr/>
                  </a:pPr>
                  <a:endParaRPr/>
                </a:p>
              </p:txBody>
            </p:sp>
            <p:sp>
              <p:nvSpPr>
                <p:cNvPr id="8" name="AutoShape 8"/>
                <p:cNvSpPr/>
                <p:nvPr>
                  <p:custDataLst>
                    <p:tags r:id="rId17"/>
                  </p:custDataLst>
                </p:nvPr>
              </p:nvSpPr>
              <p:spPr>
                <a:xfrm>
                  <a:off x="1600" y="4800"/>
                  <a:ext cx="960" cy="960"/>
                </a:xfrm>
                <a:prstGeom prst="ellipse">
                  <a:avLst/>
                </a:prstGeom>
                <a:solidFill>
                  <a:srgbClr val="2E4047">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custDataLst>
                    <p:tags r:id="rId18"/>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800" y="5000"/>
                  <a:ext cx="560" cy="560"/>
                </a:xfrm>
                <a:prstGeom prst="rect">
                  <a:avLst/>
                </a:prstGeom>
              </p:spPr>
            </p:pic>
            <p:sp>
              <p:nvSpPr>
                <p:cNvPr id="10" name="AutoShape 10"/>
                <p:cNvSpPr/>
                <p:nvPr>
                  <p:custDataLst>
                    <p:tags r:id="rId19"/>
                  </p:custDataLst>
                </p:nvPr>
              </p:nvSpPr>
              <p:spPr>
                <a:xfrm>
                  <a:off x="2800" y="4900"/>
                  <a:ext cx="32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天下粮仓</a:t>
                  </a:r>
                  <a:endParaRPr lang="en-US" sz="1100"/>
                </a:p>
              </p:txBody>
            </p:sp>
            <p:cxnSp>
              <p:nvCxnSpPr>
                <p:cNvPr id="11" name="Connector 11"/>
                <p:cNvCxnSpPr/>
                <p:nvPr>
                  <p:custDataLst>
                    <p:tags r:id="rId20"/>
                  </p:custDataLst>
                </p:nvPr>
              </p:nvCxnSpPr>
              <p:spPr>
                <a:xfrm rot="-15626">
                  <a:off x="1600" y="5990"/>
                  <a:ext cx="4400" cy="20"/>
                </a:xfrm>
                <a:prstGeom prst="straightConnector1">
                  <a:avLst/>
                </a:prstGeom>
                <a:solidFill>
                  <a:srgbClr val="DEE0E3">
                    <a:alpha val="100000"/>
                  </a:srgbClr>
                </a:solidFill>
                <a:ln w="12700" cap="flat" cmpd="sng">
                  <a:solidFill>
                    <a:srgbClr val="2E4047">
                      <a:alpha val="20000"/>
                    </a:srgbClr>
                  </a:solidFill>
                  <a:prstDash val="solid"/>
                  <a:round/>
                  <a:headEnd type="none" w="med" len="med"/>
                  <a:tailEnd type="none" w="med" len="med"/>
                </a:ln>
              </p:spPr>
            </p:cxnSp>
            <p:sp>
              <p:nvSpPr>
                <p:cNvPr id="12" name="AutoShape 12"/>
                <p:cNvSpPr/>
                <p:nvPr>
                  <p:custDataLst>
                    <p:tags r:id="rId21"/>
                  </p:custDataLst>
                </p:nvPr>
              </p:nvSpPr>
              <p:spPr>
                <a:xfrm>
                  <a:off x="1600" y="6400"/>
                  <a:ext cx="4400" cy="18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聚焦洛口仓、含嘉仓、回洛仓等隋唐粮仓遗址，深度解析古代国家粮食储备体系的战略布局，以及仓储建设与城市发展之间的紧密关系。</a:t>
                  </a:r>
                  <a:endParaRPr lang="en-US" sz="1100"/>
                </a:p>
              </p:txBody>
            </p:sp>
          </p:grpSp>
          <p:sp>
            <p:nvSpPr>
              <p:cNvPr id="13" name="AutoShape 13"/>
              <p:cNvSpPr/>
              <p:nvPr>
                <p:custDataLst>
                  <p:tags r:id="rId10"/>
                </p:custDataLst>
              </p:nvPr>
            </p:nvSpPr>
            <p:spPr>
              <a:xfrm>
                <a:off x="7000" y="4400"/>
                <a:ext cx="5200" cy="4600"/>
              </a:xfrm>
              <a:prstGeom prst="roundRect">
                <a:avLst>
                  <a:gd name="adj" fmla="val 5217"/>
                </a:avLst>
              </a:prstGeom>
              <a:solidFill>
                <a:srgbClr val="FFFFFF">
                  <a:alpha val="90000"/>
                </a:srgbClr>
              </a:solidFill>
              <a:ln w="25400" cap="flat" cmpd="sng">
                <a:noFill/>
                <a:prstDash val="solid"/>
                <a:round/>
              </a:ln>
              <a:effectLst>
                <a:outerShdw blurRad="190500" dist="63500" dir="2700000" algn="tl" rotWithShape="0">
                  <a:srgbClr val="2E4047">
                    <a:alpha val="18000"/>
                  </a:srgbClr>
                </a:outerShdw>
              </a:effectLst>
            </p:spPr>
            <p:txBody>
              <a:bodyPr vert="horz" wrap="square" lIns="63500" tIns="63500" rIns="63500" bIns="63500" rtlCol="0" anchor="ctr"/>
              <a:lstStyle/>
              <a:p>
                <a:pPr algn="ctr">
                  <a:defRPr/>
                </a:pPr>
                <a:endParaRPr/>
              </a:p>
            </p:txBody>
          </p:sp>
          <p:sp>
            <p:nvSpPr>
              <p:cNvPr id="14" name="AutoShape 14"/>
              <p:cNvSpPr/>
              <p:nvPr>
                <p:custDataLst>
                  <p:tags r:id="rId11"/>
                </p:custDataLst>
              </p:nvPr>
            </p:nvSpPr>
            <p:spPr>
              <a:xfrm>
                <a:off x="7400" y="4800"/>
                <a:ext cx="960" cy="960"/>
              </a:xfrm>
              <a:prstGeom prst="ellipse">
                <a:avLst/>
              </a:prstGeom>
              <a:solidFill>
                <a:srgbClr val="2E4047">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custDataLst>
                  <p:tags r:id="rId12"/>
                </p:custDataLst>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7600" y="5000"/>
                <a:ext cx="560" cy="560"/>
              </a:xfrm>
              <a:prstGeom prst="rect">
                <a:avLst/>
              </a:prstGeom>
            </p:spPr>
          </p:pic>
          <p:sp>
            <p:nvSpPr>
              <p:cNvPr id="16" name="AutoShape 16"/>
              <p:cNvSpPr/>
              <p:nvPr>
                <p:custDataLst>
                  <p:tags r:id="rId13"/>
                </p:custDataLst>
              </p:nvPr>
            </p:nvSpPr>
            <p:spPr>
              <a:xfrm>
                <a:off x="8600" y="4900"/>
                <a:ext cx="32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千年衙署</a:t>
                </a:r>
                <a:endParaRPr lang="en-US" sz="1100"/>
              </a:p>
            </p:txBody>
          </p:sp>
          <p:cxnSp>
            <p:nvCxnSpPr>
              <p:cNvPr id="17" name="Connector 17"/>
              <p:cNvCxnSpPr/>
              <p:nvPr>
                <p:custDataLst>
                  <p:tags r:id="rId14"/>
                </p:custDataLst>
              </p:nvPr>
            </p:nvCxnSpPr>
            <p:spPr>
              <a:xfrm rot="-15626">
                <a:off x="7400" y="5990"/>
                <a:ext cx="4400" cy="20"/>
              </a:xfrm>
              <a:prstGeom prst="straightConnector1">
                <a:avLst/>
              </a:prstGeom>
              <a:solidFill>
                <a:srgbClr val="DEE0E3">
                  <a:alpha val="100000"/>
                </a:srgbClr>
              </a:solidFill>
              <a:ln w="12700" cap="flat" cmpd="sng">
                <a:solidFill>
                  <a:srgbClr val="2E4047">
                    <a:alpha val="20000"/>
                  </a:srgbClr>
                </a:solidFill>
                <a:prstDash val="solid"/>
                <a:round/>
                <a:headEnd type="none" w="med" len="med"/>
                <a:tailEnd type="none" w="med" len="med"/>
              </a:ln>
            </p:spPr>
          </p:cxnSp>
          <p:sp>
            <p:nvSpPr>
              <p:cNvPr id="18" name="AutoShape 18"/>
              <p:cNvSpPr/>
              <p:nvPr>
                <p:custDataLst>
                  <p:tags r:id="rId15"/>
                </p:custDataLst>
              </p:nvPr>
            </p:nvSpPr>
            <p:spPr>
              <a:xfrm>
                <a:off x="7400" y="6400"/>
                <a:ext cx="4400" cy="18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串联内乡县衙、密县县衙、南阳府衙等官署建筑遗存，以建筑形制为切入点，系统解读中国古代地方行政制度的演变与建筑规制的等级体现。</a:t>
                </a:r>
                <a:endParaRPr lang="en-US" sz="1100"/>
              </a:p>
            </p:txBody>
          </p:sp>
        </p:grpSp>
        <p:sp>
          <p:nvSpPr>
            <p:cNvPr id="19" name="AutoShape 19"/>
            <p:cNvSpPr/>
            <p:nvPr>
              <p:custDataLst>
                <p:tags r:id="rId3"/>
              </p:custDataLst>
            </p:nvPr>
          </p:nvSpPr>
          <p:spPr>
            <a:xfrm>
              <a:off x="12800" y="4400"/>
              <a:ext cx="5200" cy="4600"/>
            </a:xfrm>
            <a:prstGeom prst="roundRect">
              <a:avLst>
                <a:gd name="adj" fmla="val 5217"/>
              </a:avLst>
            </a:prstGeom>
            <a:solidFill>
              <a:srgbClr val="FFFFFF">
                <a:alpha val="90000"/>
              </a:srgbClr>
            </a:solidFill>
            <a:ln w="25400" cap="flat" cmpd="sng">
              <a:noFill/>
              <a:prstDash val="solid"/>
              <a:round/>
            </a:ln>
            <a:effectLst>
              <a:outerShdw blurRad="190500" dist="63500" dir="2700000" algn="tl" rotWithShape="0">
                <a:srgbClr val="2E4047">
                  <a:alpha val="18000"/>
                </a:srgbClr>
              </a:outerShdw>
            </a:effectLst>
          </p:spPr>
          <p:txBody>
            <a:bodyPr vert="horz" wrap="square" lIns="63500" tIns="63500" rIns="63500" bIns="63500" rtlCol="0" anchor="ctr"/>
            <a:lstStyle/>
            <a:p>
              <a:pPr algn="ctr">
                <a:defRPr/>
              </a:pPr>
              <a:endParaRPr/>
            </a:p>
          </p:txBody>
        </p:sp>
        <p:sp>
          <p:nvSpPr>
            <p:cNvPr id="20" name="AutoShape 20"/>
            <p:cNvSpPr/>
            <p:nvPr>
              <p:custDataLst>
                <p:tags r:id="rId4"/>
              </p:custDataLst>
            </p:nvPr>
          </p:nvSpPr>
          <p:spPr>
            <a:xfrm>
              <a:off x="13200" y="4800"/>
              <a:ext cx="960" cy="960"/>
            </a:xfrm>
            <a:prstGeom prst="ellipse">
              <a:avLst/>
            </a:prstGeom>
            <a:solidFill>
              <a:srgbClr val="2E4047">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custDataLst>
                <p:tags r:id="rId5"/>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13400" y="5000"/>
              <a:ext cx="560" cy="560"/>
            </a:xfrm>
            <a:prstGeom prst="rect">
              <a:avLst/>
            </a:prstGeom>
          </p:spPr>
        </p:pic>
        <p:sp>
          <p:nvSpPr>
            <p:cNvPr id="22" name="AutoShape 22"/>
            <p:cNvSpPr/>
            <p:nvPr>
              <p:custDataLst>
                <p:tags r:id="rId6"/>
              </p:custDataLst>
            </p:nvPr>
          </p:nvSpPr>
          <p:spPr>
            <a:xfrm>
              <a:off x="14400" y="4900"/>
              <a:ext cx="32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古都变迁</a:t>
              </a:r>
              <a:endParaRPr lang="en-US" sz="1100"/>
            </a:p>
          </p:txBody>
        </p:sp>
        <p:cxnSp>
          <p:nvCxnSpPr>
            <p:cNvPr id="23" name="Connector 23"/>
            <p:cNvCxnSpPr/>
            <p:nvPr>
              <p:custDataLst>
                <p:tags r:id="rId7"/>
              </p:custDataLst>
            </p:nvPr>
          </p:nvCxnSpPr>
          <p:spPr>
            <a:xfrm rot="-15626">
              <a:off x="13200" y="5990"/>
              <a:ext cx="4400" cy="20"/>
            </a:xfrm>
            <a:prstGeom prst="straightConnector1">
              <a:avLst/>
            </a:prstGeom>
            <a:solidFill>
              <a:srgbClr val="DEE0E3">
                <a:alpha val="100000"/>
              </a:srgbClr>
            </a:solidFill>
            <a:ln w="12700" cap="flat" cmpd="sng">
              <a:solidFill>
                <a:srgbClr val="2E4047">
                  <a:alpha val="20000"/>
                </a:srgbClr>
              </a:solidFill>
              <a:prstDash val="solid"/>
              <a:round/>
              <a:headEnd type="none" w="med" len="med"/>
              <a:tailEnd type="none" w="med" len="med"/>
            </a:ln>
          </p:spPr>
        </p:cxnSp>
        <p:sp>
          <p:nvSpPr>
            <p:cNvPr id="24" name="AutoShape 24"/>
            <p:cNvSpPr/>
            <p:nvPr>
              <p:custDataLst>
                <p:tags r:id="rId8"/>
              </p:custDataLst>
            </p:nvPr>
          </p:nvSpPr>
          <p:spPr>
            <a:xfrm>
              <a:off x="13200" y="6400"/>
              <a:ext cx="4400" cy="18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以郑州商城、汉魏洛阳故城、北宋东京城为核心案例，全景展示中原地区都城从西向东的空间迁移轨迹，以及历代都城规划思想的继承与演变。</a:t>
              </a:r>
              <a:endParaRPr lang="en-US" sz="11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 calcmode="lin" valueType="num">
                                      <p:cBhvr additive="base">
                                        <p:cTn id="21" dur="500"/>
                                        <p:tgtEl>
                                          <p:spTgt spid="28"/>
                                        </p:tgtEl>
                                        <p:attrNameLst>
                                          <p:attrName>ppt_y</p:attrName>
                                        </p:attrNameLst>
                                      </p:cBhvr>
                                      <p:tavLst>
                                        <p:tav tm="0">
                                          <p:val>
                                            <p:strVal val="#ppt_y+#ppt_h*1.125000"/>
                                          </p:val>
                                        </p:tav>
                                        <p:tav tm="100000">
                                          <p:val>
                                            <p:strVal val="#ppt_y"/>
                                          </p:val>
                                        </p:tav>
                                      </p:tavLst>
                                    </p:anim>
                                    <p:animEffect transition="in" filter="wipe(up)">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animBg="1"/>
      <p:bldP spid="4" grpId="1" animBg="1"/>
      <p:bldP spid="5" grpId="0"/>
      <p:bldP spid="5" grpId="1"/>
      <p:bldP spid="6" grpId="0"/>
      <p:bldP spid="6" grpI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136" r="-1136"/>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2E404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76530" y="1081405"/>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dirty="0">
                <a:solidFill>
                  <a:srgbClr val="D4AF3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04</a:t>
            </a:r>
            <a:endParaRPr lang="en-US" sz="12000" dirty="0"/>
          </a:p>
        </p:txBody>
      </p:sp>
      <p:sp>
        <p:nvSpPr>
          <p:cNvPr id="4" name="AutoShape 4"/>
          <p:cNvSpPr/>
          <p:nvPr/>
        </p:nvSpPr>
        <p:spPr>
          <a:xfrm>
            <a:off x="2654300" y="3993515"/>
            <a:ext cx="7400925"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5400" b="0" i="0" u="none" strike="noStrike" spc="400" dirty="0">
                <a:solidFill>
                  <a:srgbClr val="FFFFFF"/>
                </a:solidFill>
                <a:latin typeface="+mj-ea"/>
                <a:ea typeface="+mj-ea"/>
                <a:cs typeface="Noto Serif SC" panose="02020200000000000000" charset="-122"/>
                <a:sym typeface="Noto Serif SC" panose="02020200000000000000" charset="-122"/>
              </a:rPr>
              <a:t>技术路线与实现方案</a:t>
            </a:r>
          </a:p>
        </p:txBody>
      </p:sp>
      <p:sp>
        <p:nvSpPr>
          <p:cNvPr id="5" name="AutoShape 5"/>
          <p:cNvSpPr/>
          <p:nvPr/>
        </p:nvSpPr>
        <p:spPr>
          <a:xfrm>
            <a:off x="5125720" y="4940300"/>
            <a:ext cx="2193925" cy="36830"/>
          </a:xfrm>
          <a:custGeom>
            <a:avLst/>
            <a:gdLst>
              <a:gd name="connsiteX0" fmla="*/ 0 w 3455"/>
              <a:gd name="connsiteY0" fmla="*/ 0 h 58"/>
              <a:gd name="connsiteX1" fmla="*/ 3455 w 3455"/>
              <a:gd name="connsiteY1" fmla="*/ 2 h 58"/>
              <a:gd name="connsiteX2" fmla="*/ 3455 w 3455"/>
              <a:gd name="connsiteY2" fmla="*/ 58 h 58"/>
              <a:gd name="connsiteX3" fmla="*/ 0 w 3455"/>
              <a:gd name="connsiteY3" fmla="*/ 40 h 58"/>
              <a:gd name="connsiteX4" fmla="*/ 0 w 3455"/>
              <a:gd name="connsiteY4" fmla="*/ 0 h 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5" h="58">
                <a:moveTo>
                  <a:pt x="0" y="0"/>
                </a:moveTo>
                <a:lnTo>
                  <a:pt x="3455" y="2"/>
                </a:lnTo>
                <a:lnTo>
                  <a:pt x="3455" y="58"/>
                </a:lnTo>
                <a:lnTo>
                  <a:pt x="0" y="40"/>
                </a:lnTo>
                <a:lnTo>
                  <a:pt x="0" y="0"/>
                </a:lnTo>
                <a:close/>
              </a:path>
            </a:pathLst>
          </a:custGeom>
          <a:solidFill>
            <a:srgbClr val="D4AF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7" name="AutoShape 6"/>
          <p:cNvSpPr/>
          <p:nvPr/>
        </p:nvSpPr>
        <p:spPr>
          <a:xfrm>
            <a:off x="12700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7">
            <a:lum/>
          </a:blip>
          <a:srcRect/>
          <a:stretch>
            <a:fillRect l="-1136" r="-1136"/>
          </a:stretch>
        </a:blipFill>
        <a:effectLst/>
      </p:bgPr>
    </p:bg>
    <p:spTree>
      <p:nvGrpSpPr>
        <p:cNvPr id="1" name=""/>
        <p:cNvGrpSpPr/>
        <p:nvPr/>
      </p:nvGrpSpPr>
      <p:grpSpPr>
        <a:xfrm>
          <a:off x="0" y="0"/>
          <a:ext cx="0" cy="0"/>
          <a:chOff x="0" y="0"/>
          <a:chExt cx="0" cy="0"/>
        </a:xfrm>
      </p:grpSpPr>
      <p:sp>
        <p:nvSpPr>
          <p:cNvPr id="2" name="AutoShape 2"/>
          <p:cNvSpPr/>
          <p:nvPr/>
        </p:nvSpPr>
        <p:spPr>
          <a:xfrm>
            <a:off x="-95885" y="0"/>
            <a:ext cx="12287885" cy="6858000"/>
          </a:xfrm>
          <a:prstGeom prst="roundRect">
            <a:avLst>
              <a:gd name="adj" fmla="val 0"/>
            </a:avLst>
          </a:prstGeom>
          <a:solidFill>
            <a:srgbClr val="FFFFFF">
              <a:alpha val="25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tx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技术路线与实现方案</a:t>
            </a:r>
          </a:p>
        </p:txBody>
      </p:sp>
      <p:grpSp>
        <p:nvGrpSpPr>
          <p:cNvPr id="46" name="组合 45"/>
          <p:cNvGrpSpPr/>
          <p:nvPr>
            <p:custDataLst>
              <p:tags r:id="rId1"/>
            </p:custDataLst>
          </p:nvPr>
        </p:nvGrpSpPr>
        <p:grpSpPr>
          <a:xfrm>
            <a:off x="712470" y="1524000"/>
            <a:ext cx="10717530" cy="4572000"/>
            <a:chOff x="1122" y="2400"/>
            <a:chExt cx="16878" cy="7200"/>
          </a:xfrm>
        </p:grpSpPr>
        <p:grpSp>
          <p:nvGrpSpPr>
            <p:cNvPr id="45" name="组合 44"/>
            <p:cNvGrpSpPr/>
            <p:nvPr>
              <p:custDataLst>
                <p:tags r:id="rId2"/>
              </p:custDataLst>
            </p:nvPr>
          </p:nvGrpSpPr>
          <p:grpSpPr>
            <a:xfrm>
              <a:off x="1122" y="2400"/>
              <a:ext cx="16878" cy="7200"/>
              <a:chOff x="1122" y="2400"/>
              <a:chExt cx="16878" cy="7200"/>
            </a:xfrm>
          </p:grpSpPr>
          <p:grpSp>
            <p:nvGrpSpPr>
              <p:cNvPr id="44" name="组合 43"/>
              <p:cNvGrpSpPr/>
              <p:nvPr>
                <p:custDataLst>
                  <p:tags r:id="rId8"/>
                </p:custDataLst>
              </p:nvPr>
            </p:nvGrpSpPr>
            <p:grpSpPr>
              <a:xfrm>
                <a:off x="1122" y="2400"/>
                <a:ext cx="16878" cy="3400"/>
                <a:chOff x="1122" y="2400"/>
                <a:chExt cx="16878" cy="3400"/>
              </a:xfrm>
            </p:grpSpPr>
            <p:grpSp>
              <p:nvGrpSpPr>
                <p:cNvPr id="43" name="组合 42"/>
                <p:cNvGrpSpPr/>
                <p:nvPr>
                  <p:custDataLst>
                    <p:tags r:id="rId14"/>
                  </p:custDataLst>
                </p:nvPr>
              </p:nvGrpSpPr>
              <p:grpSpPr>
                <a:xfrm>
                  <a:off x="1122" y="2400"/>
                  <a:ext cx="8200" cy="3400"/>
                  <a:chOff x="1122" y="2400"/>
                  <a:chExt cx="8200" cy="3400"/>
                </a:xfrm>
              </p:grpSpPr>
              <p:sp>
                <p:nvSpPr>
                  <p:cNvPr id="23" name="AutoShape 4"/>
                  <p:cNvSpPr/>
                  <p:nvPr>
                    <p:custDataLst>
                      <p:tags r:id="rId20"/>
                    </p:custDataLst>
                  </p:nvPr>
                </p:nvSpPr>
                <p:spPr>
                  <a:xfrm>
                    <a:off x="1122" y="2400"/>
                    <a:ext cx="8200" cy="3400"/>
                  </a:xfrm>
                  <a:prstGeom prst="roundRect">
                    <a:avLst>
                      <a:gd name="adj" fmla="val 7058"/>
                    </a:avLst>
                  </a:prstGeom>
                  <a:solidFill>
                    <a:srgbClr val="2E4047">
                      <a:alpha val="90000"/>
                    </a:srgbClr>
                  </a:solidFill>
                  <a:ln w="12700" cap="flat" cmpd="sng">
                    <a:solidFill>
                      <a:srgbClr val="D4AF37">
                        <a:alpha val="80000"/>
                      </a:srgbClr>
                    </a:solidFill>
                    <a:prstDash val="solid"/>
                    <a:round/>
                  </a:ln>
                </p:spPr>
                <p:txBody>
                  <a:bodyPr vert="horz" wrap="square" lIns="63500" tIns="63500" rIns="63500" bIns="63500" rtlCol="0" anchor="ctr"/>
                  <a:lstStyle/>
                  <a:p>
                    <a:pPr algn="ctr">
                      <a:defRPr/>
                    </a:pPr>
                    <a:endParaRPr/>
                  </a:p>
                </p:txBody>
              </p:sp>
              <p:sp>
                <p:nvSpPr>
                  <p:cNvPr id="24" name="AutoShape 5"/>
                  <p:cNvSpPr/>
                  <p:nvPr>
                    <p:custDataLst>
                      <p:tags r:id="rId21"/>
                    </p:custDataLst>
                  </p:nvPr>
                </p:nvSpPr>
                <p:spPr>
                  <a:xfrm>
                    <a:off x="1600" y="2900"/>
                    <a:ext cx="1440" cy="1440"/>
                  </a:xfrm>
                  <a:prstGeom prst="ellipse">
                    <a:avLst/>
                  </a:prstGeom>
                  <a:solidFill>
                    <a:srgbClr val="D4AF37">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6"/>
                  <p:cNvPicPr>
                    <a:picLocks noChangeAspect="1"/>
                  </p:cNvPicPr>
                  <p:nvPr>
                    <p:custDataLst>
                      <p:tags r:id="rId22"/>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920" y="3220"/>
                    <a:ext cx="800" cy="800"/>
                  </a:xfrm>
                  <a:prstGeom prst="rect">
                    <a:avLst/>
                  </a:prstGeom>
                </p:spPr>
              </p:pic>
              <p:sp>
                <p:nvSpPr>
                  <p:cNvPr id="26" name="AutoShape 7"/>
                  <p:cNvSpPr/>
                  <p:nvPr>
                    <p:custDataLst>
                      <p:tags r:id="rId23"/>
                    </p:custDataLst>
                  </p:nvPr>
                </p:nvSpPr>
                <p:spPr>
                  <a:xfrm>
                    <a:off x="3400" y="2900"/>
                    <a:ext cx="56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4AF3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前端框架：React + Vite</a:t>
                    </a:r>
                    <a:endParaRPr lang="en-US" sz="1100"/>
                  </a:p>
                </p:txBody>
              </p:sp>
              <p:sp>
                <p:nvSpPr>
                  <p:cNvPr id="27" name="AutoShape 8"/>
                  <p:cNvSpPr/>
                  <p:nvPr>
                    <p:custDataLst>
                      <p:tags r:id="rId24"/>
                    </p:custDataLst>
                  </p:nvPr>
                </p:nvSpPr>
                <p:spPr>
                  <a:xfrm>
                    <a:off x="3400" y="3700"/>
                    <a:ext cx="5400" cy="16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采用现代、高效的前端框架组合，利用Vite的极速构建能力与React的组件化思想，保证了项目开发的高性能迭代与长期的可维护性。</a:t>
                    </a:r>
                    <a:endParaRPr lang="en-US" sz="1100"/>
                  </a:p>
                </p:txBody>
              </p:sp>
            </p:grpSp>
            <p:sp>
              <p:nvSpPr>
                <p:cNvPr id="28" name="AutoShape 9"/>
                <p:cNvSpPr/>
                <p:nvPr>
                  <p:custDataLst>
                    <p:tags r:id="rId15"/>
                  </p:custDataLst>
                </p:nvPr>
              </p:nvSpPr>
              <p:spPr>
                <a:xfrm>
                  <a:off x="9800" y="2400"/>
                  <a:ext cx="8200" cy="3400"/>
                </a:xfrm>
                <a:prstGeom prst="roundRect">
                  <a:avLst>
                    <a:gd name="adj" fmla="val 7058"/>
                  </a:avLst>
                </a:prstGeom>
                <a:solidFill>
                  <a:srgbClr val="2E4047">
                    <a:alpha val="90000"/>
                  </a:srgbClr>
                </a:solidFill>
                <a:ln w="12700" cap="flat" cmpd="sng">
                  <a:solidFill>
                    <a:srgbClr val="D4AF37">
                      <a:alpha val="80000"/>
                    </a:srgbClr>
                  </a:solidFill>
                  <a:prstDash val="solid"/>
                  <a:round/>
                </a:ln>
              </p:spPr>
              <p:txBody>
                <a:bodyPr vert="horz" wrap="square" lIns="63500" tIns="63500" rIns="63500" bIns="63500" rtlCol="0" anchor="ctr"/>
                <a:lstStyle/>
                <a:p>
                  <a:pPr algn="ctr">
                    <a:defRPr/>
                  </a:pPr>
                  <a:endParaRPr/>
                </a:p>
              </p:txBody>
            </p:sp>
            <p:sp>
              <p:nvSpPr>
                <p:cNvPr id="29" name="AutoShape 10"/>
                <p:cNvSpPr/>
                <p:nvPr>
                  <p:custDataLst>
                    <p:tags r:id="rId16"/>
                  </p:custDataLst>
                </p:nvPr>
              </p:nvSpPr>
              <p:spPr>
                <a:xfrm>
                  <a:off x="10200" y="2900"/>
                  <a:ext cx="1440" cy="1440"/>
                </a:xfrm>
                <a:prstGeom prst="ellipse">
                  <a:avLst/>
                </a:prstGeom>
                <a:solidFill>
                  <a:srgbClr val="D4AF37">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11"/>
                <p:cNvPicPr>
                  <a:picLocks noChangeAspect="1"/>
                </p:cNvPicPr>
                <p:nvPr>
                  <p:custDataLst>
                    <p:tags r:id="rId17"/>
                  </p:custDataLst>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10520" y="3220"/>
                  <a:ext cx="800" cy="800"/>
                </a:xfrm>
                <a:prstGeom prst="rect">
                  <a:avLst/>
                </a:prstGeom>
              </p:spPr>
            </p:pic>
            <p:sp>
              <p:nvSpPr>
                <p:cNvPr id="31" name="AutoShape 12"/>
                <p:cNvSpPr/>
                <p:nvPr>
                  <p:custDataLst>
                    <p:tags r:id="rId18"/>
                  </p:custDataLst>
                </p:nvPr>
              </p:nvSpPr>
              <p:spPr>
                <a:xfrm>
                  <a:off x="12000" y="2900"/>
                  <a:ext cx="56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4AF3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可视化核心：Apache ECharts</a:t>
                  </a:r>
                  <a:endParaRPr lang="en-US" sz="1100"/>
                </a:p>
              </p:txBody>
            </p:sp>
            <p:sp>
              <p:nvSpPr>
                <p:cNvPr id="32" name="AutoShape 13"/>
                <p:cNvSpPr/>
                <p:nvPr>
                  <p:custDataLst>
                    <p:tags r:id="rId19"/>
                  </p:custDataLst>
                </p:nvPr>
              </p:nvSpPr>
              <p:spPr>
                <a:xfrm>
                  <a:off x="12000" y="3700"/>
                  <a:ext cx="5600" cy="16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深度定制ECharts的配置项，将地图、时间轴、动态统计图表等可视化元素与项目的国风视觉风格深度融合，实现数据的直观呈现。</a:t>
                  </a:r>
                  <a:endParaRPr lang="en-US" sz="1100"/>
                </a:p>
              </p:txBody>
            </p:sp>
          </p:grpSp>
          <p:sp>
            <p:nvSpPr>
              <p:cNvPr id="33" name="AutoShape 14"/>
              <p:cNvSpPr/>
              <p:nvPr>
                <p:custDataLst>
                  <p:tags r:id="rId9"/>
                </p:custDataLst>
              </p:nvPr>
            </p:nvSpPr>
            <p:spPr>
              <a:xfrm>
                <a:off x="1200" y="6200"/>
                <a:ext cx="8200" cy="3400"/>
              </a:xfrm>
              <a:prstGeom prst="roundRect">
                <a:avLst>
                  <a:gd name="adj" fmla="val 7058"/>
                </a:avLst>
              </a:prstGeom>
              <a:solidFill>
                <a:srgbClr val="2E4047">
                  <a:alpha val="90000"/>
                </a:srgbClr>
              </a:solidFill>
              <a:ln w="12700" cap="flat" cmpd="sng">
                <a:solidFill>
                  <a:srgbClr val="D4AF37">
                    <a:alpha val="80000"/>
                  </a:srgbClr>
                </a:solidFill>
                <a:prstDash val="solid"/>
                <a:round/>
              </a:ln>
            </p:spPr>
            <p:txBody>
              <a:bodyPr vert="horz" wrap="square" lIns="63500" tIns="63500" rIns="63500" bIns="63500" rtlCol="0" anchor="ctr"/>
              <a:lstStyle/>
              <a:p>
                <a:pPr algn="ctr">
                  <a:defRPr/>
                </a:pPr>
                <a:endParaRPr/>
              </a:p>
            </p:txBody>
          </p:sp>
          <p:sp>
            <p:nvSpPr>
              <p:cNvPr id="34" name="AutoShape 15"/>
              <p:cNvSpPr/>
              <p:nvPr>
                <p:custDataLst>
                  <p:tags r:id="rId10"/>
                </p:custDataLst>
              </p:nvPr>
            </p:nvSpPr>
            <p:spPr>
              <a:xfrm>
                <a:off x="1600" y="6700"/>
                <a:ext cx="1440" cy="1440"/>
              </a:xfrm>
              <a:prstGeom prst="ellipse">
                <a:avLst/>
              </a:prstGeom>
              <a:solidFill>
                <a:srgbClr val="D4AF37">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5" name="Picture 16"/>
              <p:cNvPicPr>
                <a:picLocks noChangeAspect="1"/>
              </p:cNvPicPr>
              <p:nvPr>
                <p:custDataLst>
                  <p:tags r:id="rId11"/>
                </p:custDataLst>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920" y="7020"/>
                <a:ext cx="800" cy="800"/>
              </a:xfrm>
              <a:prstGeom prst="rect">
                <a:avLst/>
              </a:prstGeom>
            </p:spPr>
          </p:pic>
          <p:sp>
            <p:nvSpPr>
              <p:cNvPr id="36" name="AutoShape 17"/>
              <p:cNvSpPr/>
              <p:nvPr>
                <p:custDataLst>
                  <p:tags r:id="rId12"/>
                </p:custDataLst>
              </p:nvPr>
            </p:nvSpPr>
            <p:spPr>
              <a:xfrm>
                <a:off x="3400" y="6700"/>
                <a:ext cx="56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4AF3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数据组织：JSON + GeoJSON</a:t>
                </a:r>
                <a:endParaRPr lang="en-US" sz="1100"/>
              </a:p>
            </p:txBody>
          </p:sp>
          <p:sp>
            <p:nvSpPr>
              <p:cNvPr id="37" name="AutoShape 18"/>
              <p:cNvSpPr/>
              <p:nvPr>
                <p:custDataLst>
                  <p:tags r:id="rId13"/>
                </p:custDataLst>
              </p:nvPr>
            </p:nvSpPr>
            <p:spPr>
              <a:xfrm>
                <a:off x="3400" y="7500"/>
                <a:ext cx="5400" cy="17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使用JSON存储建筑的结构化属性信息；GeoJSON描述河南省域地理边界，实现空间数据与属性数据的高效关联，支撑地图可视化交互。</a:t>
                </a:r>
                <a:endParaRPr lang="en-US" sz="1100"/>
              </a:p>
            </p:txBody>
          </p:sp>
        </p:grpSp>
        <p:sp>
          <p:nvSpPr>
            <p:cNvPr id="38" name="AutoShape 19"/>
            <p:cNvSpPr/>
            <p:nvPr>
              <p:custDataLst>
                <p:tags r:id="rId3"/>
              </p:custDataLst>
            </p:nvPr>
          </p:nvSpPr>
          <p:spPr>
            <a:xfrm>
              <a:off x="9800" y="6200"/>
              <a:ext cx="8200" cy="3400"/>
            </a:xfrm>
            <a:prstGeom prst="roundRect">
              <a:avLst>
                <a:gd name="adj" fmla="val 7058"/>
              </a:avLst>
            </a:prstGeom>
            <a:solidFill>
              <a:srgbClr val="2E4047">
                <a:alpha val="90000"/>
              </a:srgbClr>
            </a:solidFill>
            <a:ln w="12700" cap="flat" cmpd="sng">
              <a:solidFill>
                <a:srgbClr val="D4AF37">
                  <a:alpha val="80000"/>
                </a:srgbClr>
              </a:solidFill>
              <a:prstDash val="solid"/>
              <a:round/>
            </a:ln>
          </p:spPr>
          <p:txBody>
            <a:bodyPr vert="horz" wrap="square" lIns="63500" tIns="63500" rIns="63500" bIns="63500" rtlCol="0" anchor="ctr"/>
            <a:lstStyle/>
            <a:p>
              <a:pPr algn="ctr">
                <a:defRPr/>
              </a:pPr>
              <a:endParaRPr/>
            </a:p>
          </p:txBody>
        </p:sp>
        <p:sp>
          <p:nvSpPr>
            <p:cNvPr id="39" name="AutoShape 20"/>
            <p:cNvSpPr/>
            <p:nvPr>
              <p:custDataLst>
                <p:tags r:id="rId4"/>
              </p:custDataLst>
            </p:nvPr>
          </p:nvSpPr>
          <p:spPr>
            <a:xfrm>
              <a:off x="10200" y="6700"/>
              <a:ext cx="1440" cy="1440"/>
            </a:xfrm>
            <a:prstGeom prst="ellipse">
              <a:avLst/>
            </a:prstGeom>
            <a:solidFill>
              <a:srgbClr val="D4AF37">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40" name="Picture 21"/>
            <p:cNvPicPr>
              <a:picLocks noChangeAspect="1"/>
            </p:cNvPicPr>
            <p:nvPr>
              <p:custDataLst>
                <p:tags r:id="rId5"/>
              </p:custDataLst>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520" y="7020"/>
              <a:ext cx="800" cy="800"/>
            </a:xfrm>
            <a:prstGeom prst="rect">
              <a:avLst/>
            </a:prstGeom>
          </p:spPr>
        </p:pic>
        <p:sp>
          <p:nvSpPr>
            <p:cNvPr id="41" name="AutoShape 22"/>
            <p:cNvSpPr/>
            <p:nvPr>
              <p:custDataLst>
                <p:tags r:id="rId6"/>
              </p:custDataLst>
            </p:nvPr>
          </p:nvSpPr>
          <p:spPr>
            <a:xfrm>
              <a:off x="12000" y="6700"/>
              <a:ext cx="56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4AF3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开发语言：TypeScript</a:t>
              </a:r>
              <a:endParaRPr lang="en-US" sz="1100"/>
            </a:p>
          </p:txBody>
        </p:sp>
        <p:sp>
          <p:nvSpPr>
            <p:cNvPr id="42" name="AutoShape 23"/>
            <p:cNvSpPr/>
            <p:nvPr>
              <p:custDataLst>
                <p:tags r:id="rId7"/>
              </p:custDataLst>
            </p:nvPr>
          </p:nvSpPr>
          <p:spPr>
            <a:xfrm>
              <a:off x="12000" y="7500"/>
              <a:ext cx="5600" cy="16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全栈使用TypeScript强类型语言进行开发，在编码阶段捕获潜在错误，显著增强了代码的可读性、可维护性以及团队协作的开发效率。</a:t>
              </a:r>
              <a:endParaRPr lang="en-US" sz="11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additive="base">
                                        <p:cTn id="12" dur="500"/>
                                        <p:tgtEl>
                                          <p:spTgt spid="46"/>
                                        </p:tgtEl>
                                        <p:attrNameLst>
                                          <p:attrName>ppt_y</p:attrName>
                                        </p:attrNameLst>
                                      </p:cBhvr>
                                      <p:tavLst>
                                        <p:tav tm="0">
                                          <p:val>
                                            <p:strVal val="#ppt_y+#ppt_h*1.125000"/>
                                          </p:val>
                                        </p:tav>
                                        <p:tav tm="100000">
                                          <p:val>
                                            <p:strVal val="#ppt_y"/>
                                          </p:val>
                                        </p:tav>
                                      </p:tavLst>
                                    </p:anim>
                                    <p:animEffect transition="in" filter="wipe(up)">
                                      <p:cBhvr>
                                        <p:cTn id="1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2" grpId="0"/>
      <p:bldP spid="22" grpId="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136" r="-1136"/>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2E404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76530" y="1081405"/>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dirty="0">
                <a:solidFill>
                  <a:srgbClr val="D4AF3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05</a:t>
            </a:r>
            <a:endParaRPr lang="en-US" sz="12000" dirty="0"/>
          </a:p>
        </p:txBody>
      </p:sp>
      <p:sp>
        <p:nvSpPr>
          <p:cNvPr id="4" name="AutoShape 4"/>
          <p:cNvSpPr/>
          <p:nvPr/>
        </p:nvSpPr>
        <p:spPr>
          <a:xfrm>
            <a:off x="2654300" y="3993515"/>
            <a:ext cx="7400925"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5400" b="0" i="0" u="none" strike="noStrike" spc="400" dirty="0">
                <a:solidFill>
                  <a:srgbClr val="FFFFFF"/>
                </a:solidFill>
                <a:latin typeface="+mj-ea"/>
                <a:ea typeface="+mj-ea"/>
                <a:cs typeface="Noto Serif SC" panose="02020200000000000000" charset="-122"/>
                <a:sym typeface="Noto Serif SC" panose="02020200000000000000" charset="-122"/>
              </a:rPr>
              <a:t>项目特色与核心亮点</a:t>
            </a:r>
          </a:p>
        </p:txBody>
      </p:sp>
      <p:sp>
        <p:nvSpPr>
          <p:cNvPr id="5" name="AutoShape 5"/>
          <p:cNvSpPr/>
          <p:nvPr/>
        </p:nvSpPr>
        <p:spPr>
          <a:xfrm>
            <a:off x="5125720" y="4940300"/>
            <a:ext cx="2193925" cy="36830"/>
          </a:xfrm>
          <a:custGeom>
            <a:avLst/>
            <a:gdLst>
              <a:gd name="connsiteX0" fmla="*/ 0 w 3455"/>
              <a:gd name="connsiteY0" fmla="*/ 0 h 58"/>
              <a:gd name="connsiteX1" fmla="*/ 3455 w 3455"/>
              <a:gd name="connsiteY1" fmla="*/ 2 h 58"/>
              <a:gd name="connsiteX2" fmla="*/ 3455 w 3455"/>
              <a:gd name="connsiteY2" fmla="*/ 58 h 58"/>
              <a:gd name="connsiteX3" fmla="*/ 0 w 3455"/>
              <a:gd name="connsiteY3" fmla="*/ 40 h 58"/>
              <a:gd name="connsiteX4" fmla="*/ 0 w 3455"/>
              <a:gd name="connsiteY4" fmla="*/ 0 h 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5" h="58">
                <a:moveTo>
                  <a:pt x="0" y="0"/>
                </a:moveTo>
                <a:lnTo>
                  <a:pt x="3455" y="2"/>
                </a:lnTo>
                <a:lnTo>
                  <a:pt x="3455" y="58"/>
                </a:lnTo>
                <a:lnTo>
                  <a:pt x="0" y="40"/>
                </a:lnTo>
                <a:lnTo>
                  <a:pt x="0" y="0"/>
                </a:lnTo>
                <a:close/>
              </a:path>
            </a:pathLst>
          </a:custGeom>
          <a:solidFill>
            <a:srgbClr val="D4AF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7" name="AutoShape 6"/>
          <p:cNvSpPr/>
          <p:nvPr/>
        </p:nvSpPr>
        <p:spPr>
          <a:xfrm>
            <a:off x="12700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9">
            <a:lum/>
          </a:blip>
          <a:srcRect/>
          <a:stretch>
            <a:fillRect l="-1136" r="-1136"/>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项目特色与创新亮点</a:t>
            </a:r>
            <a:endParaRPr lang="en-US" sz="1100"/>
          </a:p>
        </p:txBody>
      </p:sp>
      <p:grpSp>
        <p:nvGrpSpPr>
          <p:cNvPr id="22" name="组合 21"/>
          <p:cNvGrpSpPr/>
          <p:nvPr>
            <p:custDataLst>
              <p:tags r:id="rId1"/>
            </p:custDataLst>
          </p:nvPr>
        </p:nvGrpSpPr>
        <p:grpSpPr>
          <a:xfrm>
            <a:off x="762000" y="1524000"/>
            <a:ext cx="5334000" cy="5080000"/>
            <a:chOff x="1200" y="2400"/>
            <a:chExt cx="8400" cy="8000"/>
          </a:xfrm>
        </p:grpSpPr>
        <p:grpSp>
          <p:nvGrpSpPr>
            <p:cNvPr id="21" name="组合 20"/>
            <p:cNvGrpSpPr/>
            <p:nvPr>
              <p:custDataLst>
                <p:tags r:id="rId2"/>
              </p:custDataLst>
            </p:nvPr>
          </p:nvGrpSpPr>
          <p:grpSpPr>
            <a:xfrm>
              <a:off x="1200" y="2400"/>
              <a:ext cx="8400" cy="6100"/>
              <a:chOff x="1200" y="2400"/>
              <a:chExt cx="8400" cy="6100"/>
            </a:xfrm>
          </p:grpSpPr>
          <p:grpSp>
            <p:nvGrpSpPr>
              <p:cNvPr id="20" name="组合 19"/>
              <p:cNvGrpSpPr/>
              <p:nvPr>
                <p:custDataLst>
                  <p:tags r:id="rId6"/>
                </p:custDataLst>
              </p:nvPr>
            </p:nvGrpSpPr>
            <p:grpSpPr>
              <a:xfrm>
                <a:off x="1200" y="2400"/>
                <a:ext cx="8400" cy="4000"/>
                <a:chOff x="1200" y="2400"/>
                <a:chExt cx="8400" cy="4000"/>
              </a:xfrm>
            </p:grpSpPr>
            <p:grpSp>
              <p:nvGrpSpPr>
                <p:cNvPr id="19" name="组合 18"/>
                <p:cNvGrpSpPr/>
                <p:nvPr>
                  <p:custDataLst>
                    <p:tags r:id="rId10"/>
                  </p:custDataLst>
                </p:nvPr>
              </p:nvGrpSpPr>
              <p:grpSpPr>
                <a:xfrm>
                  <a:off x="1200" y="2400"/>
                  <a:ext cx="8400" cy="1900"/>
                  <a:chOff x="1200" y="2400"/>
                  <a:chExt cx="8400" cy="1900"/>
                </a:xfrm>
              </p:grpSpPr>
              <p:sp>
                <p:nvSpPr>
                  <p:cNvPr id="4" name="AutoShape 4"/>
                  <p:cNvSpPr/>
                  <p:nvPr>
                    <p:custDataLst>
                      <p:tags r:id="rId14"/>
                    </p:custDataLst>
                  </p:nvPr>
                </p:nvSpPr>
                <p:spPr>
                  <a:xfrm>
                    <a:off x="1200" y="2400"/>
                    <a:ext cx="8400" cy="1900"/>
                  </a:xfrm>
                  <a:prstGeom prst="roundRect">
                    <a:avLst>
                      <a:gd name="adj" fmla="val 12631"/>
                    </a:avLst>
                  </a:prstGeom>
                  <a:solidFill>
                    <a:srgbClr val="FFFFFF">
                      <a:alpha val="90000"/>
                    </a:srgbClr>
                  </a:solidFill>
                  <a:ln w="25400" cap="flat" cmpd="sng">
                    <a:noFill/>
                    <a:prstDash val="solid"/>
                    <a:round/>
                  </a:ln>
                  <a:effectLst>
                    <a:outerShdw blurRad="127000" dist="50800" dir="2700000" algn="tl" rotWithShape="0">
                      <a:srgbClr val="2E4047">
                        <a:alpha val="12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custDataLst>
                      <p:tags r:id="rId15"/>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600" y="2800"/>
                    <a:ext cx="960" cy="960"/>
                  </a:xfrm>
                  <a:prstGeom prst="rect">
                    <a:avLst/>
                  </a:prstGeom>
                </p:spPr>
              </p:pic>
              <p:sp>
                <p:nvSpPr>
                  <p:cNvPr id="6" name="AutoShape 6"/>
                  <p:cNvSpPr/>
                  <p:nvPr>
                    <p:custDataLst>
                      <p:tags r:id="rId16"/>
                    </p:custDataLst>
                  </p:nvPr>
                </p:nvSpPr>
                <p:spPr>
                  <a:xfrm>
                    <a:off x="2900" y="2600"/>
                    <a:ext cx="6200" cy="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文化主题驱动的可视化叙事</a:t>
                    </a:r>
                    <a:endParaRPr lang="en-US" sz="1100"/>
                  </a:p>
                  <a:p>
                    <a:pPr indent="0" algn="l">
                      <a:lnSpc>
                        <a:spcPct val="108000"/>
                      </a:lnSpc>
                    </a:pPr>
                    <a:r>
                      <a:rPr lang="en-US" sz="1100" b="0" i="0" u="none" strike="noStrike">
                        <a:solidFill>
                          <a:srgbClr val="556064"/>
                        </a:solidFill>
                        <a:latin typeface="Noto Sans SC" panose="020B0200000000000000" charset="-122"/>
                        <a:ea typeface="Noto Sans SC" panose="020B0200000000000000" charset="-122"/>
                        <a:cs typeface="Noto Sans SC" panose="020B0200000000000000" charset="-122"/>
                        <a:sym typeface="Noto Sans SC" panose="020B0200000000000000" charset="-122"/>
                      </a:rPr>
                      <a:t>以“数字长卷”为线索，拒绝枯燥罗列，将数据可视化与历史文化故事深度绑定，赋予数据温度。</a:t>
                    </a:r>
                  </a:p>
                </p:txBody>
              </p:sp>
            </p:grpSp>
            <p:sp>
              <p:nvSpPr>
                <p:cNvPr id="7" name="AutoShape 7"/>
                <p:cNvSpPr/>
                <p:nvPr>
                  <p:custDataLst>
                    <p:tags r:id="rId11"/>
                  </p:custDataLst>
                </p:nvPr>
              </p:nvSpPr>
              <p:spPr>
                <a:xfrm>
                  <a:off x="1200" y="4500"/>
                  <a:ext cx="8400" cy="1900"/>
                </a:xfrm>
                <a:prstGeom prst="roundRect">
                  <a:avLst>
                    <a:gd name="adj" fmla="val 12631"/>
                  </a:avLst>
                </a:prstGeom>
                <a:solidFill>
                  <a:srgbClr val="FFFFFF">
                    <a:alpha val="90000"/>
                  </a:srgbClr>
                </a:solidFill>
                <a:ln w="25400" cap="flat" cmpd="sng">
                  <a:noFill/>
                  <a:prstDash val="solid"/>
                  <a:round/>
                </a:ln>
                <a:effectLst>
                  <a:outerShdw blurRad="127000" dist="50800" dir="2700000" algn="tl" rotWithShape="0">
                    <a:srgbClr val="2E4047">
                      <a:alpha val="12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custDataLst>
                    <p:tags r:id="rId12"/>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600" y="4900"/>
                  <a:ext cx="960" cy="960"/>
                </a:xfrm>
                <a:prstGeom prst="rect">
                  <a:avLst/>
                </a:prstGeom>
              </p:spPr>
            </p:pic>
            <p:sp>
              <p:nvSpPr>
                <p:cNvPr id="9" name="AutoShape 9"/>
                <p:cNvSpPr/>
                <p:nvPr>
                  <p:custDataLst>
                    <p:tags r:id="rId13"/>
                  </p:custDataLst>
                </p:nvPr>
              </p:nvSpPr>
              <p:spPr>
                <a:xfrm>
                  <a:off x="2900" y="4700"/>
                  <a:ext cx="6200" cy="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多维度时空一体的协同展示</a:t>
                  </a:r>
                  <a:endParaRPr lang="en-US" sz="1100"/>
                </a:p>
                <a:p>
                  <a:pPr indent="0" algn="l">
                    <a:lnSpc>
                      <a:spcPct val="108000"/>
                    </a:lnSpc>
                  </a:pPr>
                  <a:r>
                    <a:rPr lang="en-US" sz="1100" b="0" i="0" u="none" strike="noStrike">
                      <a:solidFill>
                        <a:srgbClr val="556064"/>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构建宏观到微观的认知框架，用户可自由切换视角，全方位、深层次地解析河南古代建筑文明。</a:t>
                  </a:r>
                </a:p>
              </p:txBody>
            </p:sp>
          </p:grpSp>
          <p:sp>
            <p:nvSpPr>
              <p:cNvPr id="10" name="AutoShape 10"/>
              <p:cNvSpPr/>
              <p:nvPr>
                <p:custDataLst>
                  <p:tags r:id="rId7"/>
                </p:custDataLst>
              </p:nvPr>
            </p:nvSpPr>
            <p:spPr>
              <a:xfrm>
                <a:off x="1200" y="6600"/>
                <a:ext cx="8400" cy="1900"/>
              </a:xfrm>
              <a:prstGeom prst="roundRect">
                <a:avLst>
                  <a:gd name="adj" fmla="val 12631"/>
                </a:avLst>
              </a:prstGeom>
              <a:solidFill>
                <a:srgbClr val="FFFFFF">
                  <a:alpha val="90000"/>
                </a:srgbClr>
              </a:solidFill>
              <a:ln w="25400" cap="flat" cmpd="sng">
                <a:noFill/>
                <a:prstDash val="solid"/>
                <a:round/>
              </a:ln>
              <a:effectLst>
                <a:outerShdw blurRad="127000" dist="50800" dir="2700000" algn="tl" rotWithShape="0">
                  <a:srgbClr val="2E4047">
                    <a:alpha val="12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custDataLst>
                  <p:tags r:id="rId8"/>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600" y="7000"/>
                <a:ext cx="960" cy="960"/>
              </a:xfrm>
              <a:prstGeom prst="rect">
                <a:avLst/>
              </a:prstGeom>
            </p:spPr>
          </p:pic>
          <p:sp>
            <p:nvSpPr>
              <p:cNvPr id="12" name="AutoShape 12"/>
              <p:cNvSpPr/>
              <p:nvPr>
                <p:custDataLst>
                  <p:tags r:id="rId9"/>
                </p:custDataLst>
              </p:nvPr>
            </p:nvSpPr>
            <p:spPr>
              <a:xfrm>
                <a:off x="2900" y="6800"/>
                <a:ext cx="6200" cy="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国风美学与现代技术的融合</a:t>
                </a:r>
                <a:endParaRPr lang="en-US" sz="1100" dirty="0"/>
              </a:p>
              <a:p>
                <a:pPr indent="0" algn="l">
                  <a:lnSpc>
                    <a:spcPct val="108000"/>
                  </a:lnSpc>
                </a:pPr>
                <a:r>
                  <a:rPr lang="en-US" sz="1100" b="0" i="0" u="none" strike="noStrike" dirty="0">
                    <a:solidFill>
                      <a:srgbClr val="556064"/>
                    </a:solidFill>
                    <a:latin typeface="Noto Sans SC" panose="020B0200000000000000" charset="-122"/>
                    <a:ea typeface="Noto Sans SC" panose="020B0200000000000000" charset="-122"/>
                    <a:cs typeface="Noto Sans SC" panose="020B0200000000000000" charset="-122"/>
                    <a:sym typeface="Noto Sans SC" panose="020B0200000000000000" charset="-122"/>
                  </a:rPr>
                  <a:t>坚持雅致的国风视觉基调，将传统水墨意境与现代扁平化UI设计结合，打造独特的视觉交互体验。</a:t>
                </a:r>
              </a:p>
            </p:txBody>
          </p:sp>
        </p:grpSp>
        <p:sp>
          <p:nvSpPr>
            <p:cNvPr id="13" name="AutoShape 13"/>
            <p:cNvSpPr/>
            <p:nvPr>
              <p:custDataLst>
                <p:tags r:id="rId3"/>
              </p:custDataLst>
            </p:nvPr>
          </p:nvSpPr>
          <p:spPr>
            <a:xfrm>
              <a:off x="1200" y="8700"/>
              <a:ext cx="8400" cy="1700"/>
            </a:xfrm>
            <a:prstGeom prst="roundRect">
              <a:avLst>
                <a:gd name="adj" fmla="val 14117"/>
              </a:avLst>
            </a:prstGeom>
            <a:solidFill>
              <a:srgbClr val="FFFFFF">
                <a:alpha val="90000"/>
              </a:srgbClr>
            </a:solidFill>
            <a:ln w="25400" cap="flat" cmpd="sng">
              <a:noFill/>
              <a:prstDash val="solid"/>
              <a:round/>
            </a:ln>
            <a:effectLst>
              <a:outerShdw blurRad="127000" dist="50800" dir="2700000" algn="tl" rotWithShape="0">
                <a:srgbClr val="2E4047">
                  <a:alpha val="12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custDataLst>
                <p:tags r:id="rId4"/>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600" y="9000"/>
              <a:ext cx="960" cy="960"/>
            </a:xfrm>
            <a:prstGeom prst="rect">
              <a:avLst/>
            </a:prstGeom>
          </p:spPr>
        </p:pic>
        <p:sp>
          <p:nvSpPr>
            <p:cNvPr id="15" name="AutoShape 15"/>
            <p:cNvSpPr/>
            <p:nvPr>
              <p:custDataLst>
                <p:tags r:id="rId5"/>
              </p:custDataLst>
            </p:nvPr>
          </p:nvSpPr>
          <p:spPr>
            <a:xfrm>
              <a:off x="2900" y="8900"/>
              <a:ext cx="6200" cy="13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青年视角的文化传承与实践</a:t>
              </a:r>
              <a:endParaRPr lang="en-US" sz="1100"/>
            </a:p>
            <a:p>
              <a:pPr indent="0" algn="l">
                <a:lnSpc>
                  <a:spcPct val="108000"/>
                </a:lnSpc>
              </a:pPr>
              <a:r>
                <a:rPr lang="en-US" sz="1100" b="0" i="0" u="none" strike="noStrike">
                  <a:solidFill>
                    <a:srgbClr val="556064"/>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这不仅是技术实践，更是青年一代对中华优秀传统文化进行数字化保护与创新的责任体现。</a:t>
              </a:r>
            </a:p>
          </p:txBody>
        </p:sp>
      </p:grpSp>
      <p:sp>
        <p:nvSpPr>
          <p:cNvPr id="18" name="AutoShape 18"/>
          <p:cNvSpPr/>
          <p:nvPr/>
        </p:nvSpPr>
        <p:spPr>
          <a:xfrm>
            <a:off x="6351270" y="5651500"/>
            <a:ext cx="569214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spc="20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传承 · 创新 · 致远</a:t>
            </a:r>
            <a:endParaRPr lang="en-US" sz="1100"/>
          </a:p>
        </p:txBody>
      </p:sp>
      <p:grpSp>
        <p:nvGrpSpPr>
          <p:cNvPr id="17" name="组合 16"/>
          <p:cNvGrpSpPr/>
          <p:nvPr/>
        </p:nvGrpSpPr>
        <p:grpSpPr>
          <a:xfrm>
            <a:off x="6296660" y="2265680"/>
            <a:ext cx="5746750" cy="3258820"/>
            <a:chOff x="10000" y="2599"/>
            <a:chExt cx="9050" cy="5132"/>
          </a:xfrm>
        </p:grpSpPr>
        <p:sp>
          <p:nvSpPr>
            <p:cNvPr id="16" name="AutoShape 16"/>
            <p:cNvSpPr/>
            <p:nvPr/>
          </p:nvSpPr>
          <p:spPr>
            <a:xfrm>
              <a:off x="10000" y="2599"/>
              <a:ext cx="9050" cy="5132"/>
            </a:xfrm>
            <a:prstGeom prst="roundRect">
              <a:avLst>
                <a:gd name="adj" fmla="val 5161"/>
              </a:avLst>
            </a:prstGeom>
            <a:solidFill>
              <a:srgbClr val="FFFFFF">
                <a:alpha val="60000"/>
              </a:srgbClr>
            </a:solidFill>
            <a:ln w="12700" cap="flat" cmpd="sng">
              <a:solidFill>
                <a:srgbClr val="2E4047">
                  <a:alpha val="30000"/>
                </a:srgbClr>
              </a:solidFill>
              <a:prstDash val="solid"/>
              <a:round/>
            </a:ln>
            <a:effectLst>
              <a:outerShdw blurRad="190500" dist="762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2" name="图片 1"/>
            <p:cNvPicPr/>
            <p:nvPr/>
          </p:nvPicPr>
          <p:blipFill>
            <a:blip r:embed="rId28"/>
            <a:stretch>
              <a:fillRect/>
            </a:stretch>
          </p:blipFill>
          <p:spPr>
            <a:xfrm>
              <a:off x="10085" y="2705"/>
              <a:ext cx="8881" cy="4908"/>
            </a:xfrm>
            <a:prstGeom prst="roundRect">
              <a:avLst>
                <a:gd name="adj" fmla="val 1894"/>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down)">
                                      <p:cBhvr>
                                        <p:cTn id="10" dur="500"/>
                                        <p:tgtEl>
                                          <p:spTgt spid="1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down)">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500" fill="hold"/>
                                        <p:tgtEl>
                                          <p:spTgt spid="22"/>
                                        </p:tgtEl>
                                        <p:attrNameLst>
                                          <p:attrName>ppt_x</p:attrName>
                                        </p:attrNameLst>
                                      </p:cBhvr>
                                      <p:tavLst>
                                        <p:tav tm="0">
                                          <p:val>
                                            <p:strVal val="0-#ppt_w/2"/>
                                          </p:val>
                                        </p:tav>
                                        <p:tav tm="100000">
                                          <p:val>
                                            <p:strVal val="#ppt_x"/>
                                          </p:val>
                                        </p:tav>
                                      </p:tavLst>
                                    </p:anim>
                                    <p:anim calcmode="lin" valueType="num">
                                      <p:cBhvr additive="base">
                                        <p:cTn id="19"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18" grpId="0"/>
      <p:bldP spid="18" grpId="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136" r="-1136"/>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2E404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76530" y="1081405"/>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dirty="0">
                <a:solidFill>
                  <a:srgbClr val="D4AF3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06</a:t>
            </a:r>
            <a:endParaRPr lang="en-US" sz="12000" dirty="0"/>
          </a:p>
        </p:txBody>
      </p:sp>
      <p:sp>
        <p:nvSpPr>
          <p:cNvPr id="4" name="AutoShape 4"/>
          <p:cNvSpPr/>
          <p:nvPr/>
        </p:nvSpPr>
        <p:spPr>
          <a:xfrm>
            <a:off x="2654300" y="3993515"/>
            <a:ext cx="7400925"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5400" b="0" i="0" u="none" strike="noStrike" spc="400" dirty="0">
                <a:solidFill>
                  <a:srgbClr val="FFFFFF"/>
                </a:solidFill>
                <a:latin typeface="+mj-ea"/>
                <a:ea typeface="+mj-ea"/>
                <a:cs typeface="Noto Serif SC" panose="02020200000000000000" charset="-122"/>
                <a:sym typeface="Noto Serif SC" panose="02020200000000000000" charset="-122"/>
              </a:rPr>
              <a:t>总结与未来展望</a:t>
            </a:r>
          </a:p>
        </p:txBody>
      </p:sp>
      <p:sp>
        <p:nvSpPr>
          <p:cNvPr id="5" name="AutoShape 5"/>
          <p:cNvSpPr/>
          <p:nvPr/>
        </p:nvSpPr>
        <p:spPr>
          <a:xfrm>
            <a:off x="5125720" y="4940300"/>
            <a:ext cx="2193925" cy="36830"/>
          </a:xfrm>
          <a:custGeom>
            <a:avLst/>
            <a:gdLst>
              <a:gd name="connsiteX0" fmla="*/ 0 w 3455"/>
              <a:gd name="connsiteY0" fmla="*/ 0 h 58"/>
              <a:gd name="connsiteX1" fmla="*/ 3455 w 3455"/>
              <a:gd name="connsiteY1" fmla="*/ 2 h 58"/>
              <a:gd name="connsiteX2" fmla="*/ 3455 w 3455"/>
              <a:gd name="connsiteY2" fmla="*/ 58 h 58"/>
              <a:gd name="connsiteX3" fmla="*/ 0 w 3455"/>
              <a:gd name="connsiteY3" fmla="*/ 40 h 58"/>
              <a:gd name="connsiteX4" fmla="*/ 0 w 3455"/>
              <a:gd name="connsiteY4" fmla="*/ 0 h 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5" h="58">
                <a:moveTo>
                  <a:pt x="0" y="0"/>
                </a:moveTo>
                <a:lnTo>
                  <a:pt x="3455" y="2"/>
                </a:lnTo>
                <a:lnTo>
                  <a:pt x="3455" y="58"/>
                </a:lnTo>
                <a:lnTo>
                  <a:pt x="0" y="40"/>
                </a:lnTo>
                <a:lnTo>
                  <a:pt x="0" y="0"/>
                </a:lnTo>
                <a:close/>
              </a:path>
            </a:pathLst>
          </a:custGeom>
          <a:solidFill>
            <a:srgbClr val="D4AF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7" name="AutoShape 6"/>
          <p:cNvSpPr/>
          <p:nvPr/>
        </p:nvSpPr>
        <p:spPr>
          <a:xfrm>
            <a:off x="12700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1">
            <a:lum/>
          </a:blip>
          <a:srcRect/>
          <a:stretch>
            <a:fillRect l="-1136" r="-1136"/>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总结与未来展望</a:t>
            </a:r>
            <a:endParaRPr lang="en-US" sz="1100" dirty="0"/>
          </a:p>
        </p:txBody>
      </p:sp>
      <p:sp>
        <p:nvSpPr>
          <p:cNvPr id="8" name="AutoShape 8"/>
          <p:cNvSpPr/>
          <p:nvPr>
            <p:custDataLst>
              <p:tags r:id="rId1"/>
            </p:custDataLst>
          </p:nvPr>
        </p:nvSpPr>
        <p:spPr>
          <a:xfrm>
            <a:off x="762000" y="4142196"/>
            <a:ext cx="2794000" cy="2095500"/>
          </a:xfrm>
          <a:prstGeom prst="roundRect">
            <a:avLst>
              <a:gd name="adj" fmla="val 7272"/>
            </a:avLst>
          </a:prstGeom>
          <a:solidFill>
            <a:srgbClr val="FFFFFF">
              <a:alpha val="90000"/>
            </a:srgbClr>
          </a:solidFill>
          <a:ln w="25400" cap="flat" cmpd="sng">
            <a:noFill/>
            <a:prstDash val="solid"/>
            <a:round/>
          </a:ln>
          <a:effectLst>
            <a:outerShdw blurRad="127000" dist="38100" dir="2700000" algn="tl" rotWithShape="0">
              <a:srgbClr val="2E4047">
                <a:alpha val="10000"/>
              </a:srgbClr>
            </a:outerShdw>
          </a:effectLst>
        </p:spPr>
        <p:txBody>
          <a:bodyPr vert="horz" wrap="square" lIns="63500" tIns="63500" rIns="63500" bIns="63500" rtlCol="0" anchor="ctr"/>
          <a:lstStyle/>
          <a:p>
            <a:pPr algn="ctr">
              <a:defRPr/>
            </a:pPr>
            <a:endParaRPr/>
          </a:p>
        </p:txBody>
      </p:sp>
      <p:grpSp>
        <p:nvGrpSpPr>
          <p:cNvPr id="16" name="组合 15"/>
          <p:cNvGrpSpPr/>
          <p:nvPr>
            <p:custDataLst>
              <p:tags r:id="rId2"/>
            </p:custDataLst>
          </p:nvPr>
        </p:nvGrpSpPr>
        <p:grpSpPr>
          <a:xfrm>
            <a:off x="762000" y="1232535"/>
            <a:ext cx="4572000" cy="4687570"/>
            <a:chOff x="1200" y="1941"/>
            <a:chExt cx="7200" cy="7382"/>
          </a:xfrm>
        </p:grpSpPr>
        <p:grpSp>
          <p:nvGrpSpPr>
            <p:cNvPr id="2" name="组合 1"/>
            <p:cNvGrpSpPr/>
            <p:nvPr/>
          </p:nvGrpSpPr>
          <p:grpSpPr>
            <a:xfrm>
              <a:off x="1200" y="1941"/>
              <a:ext cx="7200" cy="4140"/>
              <a:chOff x="1200" y="1941"/>
              <a:chExt cx="7200" cy="4140"/>
            </a:xfrm>
          </p:grpSpPr>
          <p:sp>
            <p:nvSpPr>
              <p:cNvPr id="4" name="AutoShape 4"/>
              <p:cNvSpPr/>
              <p:nvPr/>
            </p:nvSpPr>
            <p:spPr>
              <a:xfrm>
                <a:off x="1200" y="1941"/>
                <a:ext cx="7200" cy="4140"/>
              </a:xfrm>
              <a:prstGeom prst="roundRect">
                <a:avLst>
                  <a:gd name="adj" fmla="val 3333"/>
                </a:avLst>
              </a:prstGeom>
              <a:solidFill>
                <a:srgbClr val="FFFFFF">
                  <a:alpha val="90000"/>
                </a:srgbClr>
              </a:solidFill>
              <a:ln w="25400" cap="flat" cmpd="sng">
                <a:noFill/>
                <a:prstDash val="solid"/>
                <a:round/>
              </a:ln>
              <a:effectLst>
                <a:outerShdw blurRad="152400" dist="50800" dir="2700000" algn="tl" rotWithShape="0">
                  <a:srgbClr val="2E4047">
                    <a:alpha val="12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701" y="2411"/>
                <a:ext cx="62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▍项目总结</a:t>
                </a:r>
                <a:endParaRPr lang="en-US" sz="1100" dirty="0"/>
              </a:p>
            </p:txBody>
          </p:sp>
          <p:sp>
            <p:nvSpPr>
              <p:cNvPr id="6" name="AutoShape 6"/>
              <p:cNvSpPr/>
              <p:nvPr/>
            </p:nvSpPr>
            <p:spPr>
              <a:xfrm>
                <a:off x="1701" y="3311"/>
                <a:ext cx="6200" cy="40"/>
              </a:xfrm>
              <a:prstGeom prst="roundRect">
                <a:avLst>
                  <a:gd name="adj" fmla="val 0"/>
                </a:avLst>
              </a:prstGeom>
              <a:solidFill>
                <a:srgbClr val="2E4047">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701" y="3511"/>
                <a:ext cx="6200" cy="2100"/>
              </a:xfrm>
              <a:prstGeom prst="rect">
                <a:avLst/>
              </a:prstGeom>
              <a:noFill/>
              <a:ln w="12700" cap="flat" cmpd="sng">
                <a:noFill/>
                <a:prstDash val="solid"/>
                <a:round/>
              </a:ln>
            </p:spPr>
            <p:txBody>
              <a:bodyPr vert="horz" wrap="square" lIns="0" tIns="0" rIns="0" bIns="0" rtlCol="0" anchor="t" anchorCtr="0"/>
              <a:lstStyle/>
              <a:p>
                <a:pPr indent="0" algn="l">
                  <a:lnSpc>
                    <a:spcPct val="142000"/>
                  </a:lnSpc>
                  <a:defRPr/>
                </a:pPr>
                <a:r>
                  <a:rPr lang="en-US" sz="1200" b="0" i="0" u="none" strike="noStrike" dirty="0">
                    <a:solidFill>
                      <a:srgbClr val="505A5F"/>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本项目通过构建“营造中原”数字长卷，成功地将河南古代建筑文明进行了系统化、可视化的展示。</a:t>
                </a:r>
                <a:endParaRPr lang="en-US" sz="1100" dirty="0"/>
              </a:p>
              <a:p>
                <a:pPr indent="0" algn="l">
                  <a:lnSpc>
                    <a:spcPct val="142000"/>
                  </a:lnSpc>
                </a:pPr>
                <a:r>
                  <a:rPr lang="en-US" sz="1200" b="0" i="0" u="none" strike="noStrike" dirty="0">
                    <a:solidFill>
                      <a:srgbClr val="505A5F"/>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我们整合了历史文献与现代数据，实现了从宏观到微观的多维度探索，为文化传播与美育教育提供了新的数字化解决方案与实践可能。</a:t>
                </a:r>
              </a:p>
            </p:txBody>
          </p:sp>
        </p:grpSp>
        <p:pic>
          <p:nvPicPr>
            <p:cNvPr id="9" name="Picture 9"/>
            <p:cNvPicPr>
              <a:picLocks noChangeAspect="1"/>
            </p:cNvPicPr>
            <p:nvPr>
              <p:custDataLst>
                <p:tags r:id="rId16"/>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500" y="6923"/>
              <a:ext cx="720" cy="720"/>
            </a:xfrm>
            <a:prstGeom prst="rect">
              <a:avLst/>
            </a:prstGeom>
          </p:spPr>
        </p:pic>
        <p:sp>
          <p:nvSpPr>
            <p:cNvPr id="10" name="AutoShape 10"/>
            <p:cNvSpPr/>
            <p:nvPr>
              <p:custDataLst>
                <p:tags r:id="rId17"/>
              </p:custDataLst>
            </p:nvPr>
          </p:nvSpPr>
          <p:spPr>
            <a:xfrm>
              <a:off x="2500" y="6963"/>
              <a:ext cx="28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数据扩展</a:t>
              </a:r>
              <a:endParaRPr lang="en-US" sz="1100"/>
            </a:p>
          </p:txBody>
        </p:sp>
        <p:sp>
          <p:nvSpPr>
            <p:cNvPr id="11" name="AutoShape 11"/>
            <p:cNvSpPr/>
            <p:nvPr>
              <p:custDataLst>
                <p:tags r:id="rId18"/>
              </p:custDataLst>
            </p:nvPr>
          </p:nvSpPr>
          <p:spPr>
            <a:xfrm>
              <a:off x="1500" y="7923"/>
              <a:ext cx="3800" cy="14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zh-CN" altLang="en-US" sz="1100" b="0" i="0" u="none" strike="noStrike" dirty="0">
                  <a:solidFill>
                    <a:srgbClr val="5A6469"/>
                  </a:solidFill>
                  <a:latin typeface="Noto Sans SC" panose="020B0200000000000000" charset="-122"/>
                  <a:ea typeface="Noto Sans SC" panose="020B0200000000000000" charset="-122"/>
                  <a:cs typeface="Noto Sans SC" panose="020B0200000000000000" charset="-122"/>
                  <a:sym typeface="Noto Sans SC" panose="020B0200000000000000" charset="-122"/>
                </a:rPr>
                <a:t>补充庙宇、宝塔等数据，河南有很多道教、佛教相关的古建筑，它们对研究河南的古建筑文件也有着很大的意义。</a:t>
              </a:r>
              <a:endParaRPr lang="en-US" sz="1100" dirty="0"/>
            </a:p>
          </p:txBody>
        </p:sp>
      </p:grpSp>
      <p:pic>
        <p:nvPicPr>
          <p:cNvPr id="24" name="图片 23"/>
          <p:cNvPicPr>
            <a:picLocks noChangeAspect="1"/>
          </p:cNvPicPr>
          <p:nvPr/>
        </p:nvPicPr>
        <p:blipFill>
          <a:blip r:embed="rId24"/>
          <a:stretch>
            <a:fillRect/>
          </a:stretch>
        </p:blipFill>
        <p:spPr>
          <a:xfrm>
            <a:off x="5816146" y="-92033"/>
            <a:ext cx="5224725" cy="4340728"/>
          </a:xfrm>
          <a:prstGeom prst="rect">
            <a:avLst/>
          </a:prstGeom>
        </p:spPr>
      </p:pic>
      <p:grpSp>
        <p:nvGrpSpPr>
          <p:cNvPr id="52" name="组合 51"/>
          <p:cNvGrpSpPr/>
          <p:nvPr/>
        </p:nvGrpSpPr>
        <p:grpSpPr>
          <a:xfrm>
            <a:off x="4037965" y="4156075"/>
            <a:ext cx="2794000" cy="2095500"/>
            <a:chOff x="6359" y="6545"/>
            <a:chExt cx="4400" cy="3300"/>
          </a:xfrm>
        </p:grpSpPr>
        <p:grpSp>
          <p:nvGrpSpPr>
            <p:cNvPr id="17" name="组合 16"/>
            <p:cNvGrpSpPr/>
            <p:nvPr>
              <p:custDataLst>
                <p:tags r:id="rId7"/>
              </p:custDataLst>
            </p:nvPr>
          </p:nvGrpSpPr>
          <p:grpSpPr>
            <a:xfrm>
              <a:off x="6359" y="6545"/>
              <a:ext cx="4400" cy="3300"/>
              <a:chOff x="6359" y="6545"/>
              <a:chExt cx="4400" cy="3300"/>
            </a:xfrm>
          </p:grpSpPr>
          <p:sp>
            <p:nvSpPr>
              <p:cNvPr id="12" name="AutoShape 12"/>
              <p:cNvSpPr/>
              <p:nvPr>
                <p:custDataLst>
                  <p:tags r:id="rId12"/>
                </p:custDataLst>
              </p:nvPr>
            </p:nvSpPr>
            <p:spPr>
              <a:xfrm>
                <a:off x="6359" y="6545"/>
                <a:ext cx="4400" cy="3300"/>
              </a:xfrm>
              <a:prstGeom prst="roundRect">
                <a:avLst>
                  <a:gd name="adj" fmla="val 7272"/>
                </a:avLst>
              </a:prstGeom>
              <a:solidFill>
                <a:srgbClr val="FFFFFF">
                  <a:alpha val="90000"/>
                </a:srgbClr>
              </a:solidFill>
              <a:ln w="25400" cap="flat" cmpd="sng">
                <a:noFill/>
                <a:prstDash val="solid"/>
                <a:round/>
              </a:ln>
              <a:effectLst>
                <a:outerShdw blurRad="1270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custDataLst>
                  <p:tags r:id="rId13"/>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659" y="6945"/>
                <a:ext cx="720" cy="720"/>
              </a:xfrm>
              <a:prstGeom prst="rect">
                <a:avLst/>
              </a:prstGeom>
            </p:spPr>
          </p:pic>
          <p:sp>
            <p:nvSpPr>
              <p:cNvPr id="14" name="AutoShape 14"/>
              <p:cNvSpPr/>
              <p:nvPr>
                <p:custDataLst>
                  <p:tags r:id="rId14"/>
                </p:custDataLst>
              </p:nvPr>
            </p:nvSpPr>
            <p:spPr>
              <a:xfrm>
                <a:off x="7659" y="6985"/>
                <a:ext cx="28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交互优化</a:t>
                </a:r>
                <a:endParaRPr lang="en-US" sz="1100" dirty="0"/>
              </a:p>
            </p:txBody>
          </p:sp>
          <p:sp>
            <p:nvSpPr>
              <p:cNvPr id="15" name="AutoShape 15"/>
              <p:cNvSpPr/>
              <p:nvPr>
                <p:custDataLst>
                  <p:tags r:id="rId15"/>
                </p:custDataLst>
              </p:nvPr>
            </p:nvSpPr>
            <p:spPr>
              <a:xfrm>
                <a:off x="6659" y="7945"/>
                <a:ext cx="3800" cy="14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dirty="0">
                    <a:solidFill>
                      <a:srgbClr val="5A6469"/>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引入VR/AR交互技术，提供沉浸式的虚拟建筑漫游体验，增强用户参与感。</a:t>
                </a:r>
                <a:endParaRPr lang="en-US" sz="1100" dirty="0"/>
              </a:p>
            </p:txBody>
          </p:sp>
        </p:grpSp>
        <p:grpSp>
          <p:nvGrpSpPr>
            <p:cNvPr id="18" name="组合 17"/>
            <p:cNvGrpSpPr/>
            <p:nvPr>
              <p:custDataLst>
                <p:tags r:id="rId8"/>
              </p:custDataLst>
            </p:nvPr>
          </p:nvGrpSpPr>
          <p:grpSpPr>
            <a:xfrm>
              <a:off x="6658" y="6945"/>
              <a:ext cx="3800" cy="2400"/>
              <a:chOff x="6659" y="6945"/>
              <a:chExt cx="3800" cy="2400"/>
            </a:xfrm>
          </p:grpSpPr>
          <p:pic>
            <p:nvPicPr>
              <p:cNvPr id="25" name="Picture 13"/>
              <p:cNvPicPr>
                <a:picLocks noChangeAspect="1"/>
              </p:cNvPicPr>
              <p:nvPr>
                <p:custDataLst>
                  <p:tags r:id="rId9"/>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659" y="6945"/>
                <a:ext cx="720" cy="720"/>
              </a:xfrm>
              <a:prstGeom prst="rect">
                <a:avLst/>
              </a:prstGeom>
            </p:spPr>
          </p:pic>
          <p:sp>
            <p:nvSpPr>
              <p:cNvPr id="26" name="AutoShape 14"/>
              <p:cNvSpPr/>
              <p:nvPr>
                <p:custDataLst>
                  <p:tags r:id="rId10"/>
                </p:custDataLst>
              </p:nvPr>
            </p:nvSpPr>
            <p:spPr>
              <a:xfrm>
                <a:off x="7659" y="6985"/>
                <a:ext cx="28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交互优化</a:t>
                </a:r>
                <a:endParaRPr lang="en-US" sz="1100" dirty="0"/>
              </a:p>
            </p:txBody>
          </p:sp>
          <p:sp>
            <p:nvSpPr>
              <p:cNvPr id="27" name="AutoShape 15"/>
              <p:cNvSpPr/>
              <p:nvPr>
                <p:custDataLst>
                  <p:tags r:id="rId11"/>
                </p:custDataLst>
              </p:nvPr>
            </p:nvSpPr>
            <p:spPr>
              <a:xfrm>
                <a:off x="6659" y="7945"/>
                <a:ext cx="3800" cy="14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dirty="0">
                    <a:solidFill>
                      <a:srgbClr val="5A6469"/>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引入VR/AR交互技术，提供沉浸式的虚拟建筑漫游体验，增强用户参与感。</a:t>
                </a:r>
                <a:endParaRPr lang="en-US" sz="1100" dirty="0"/>
              </a:p>
            </p:txBody>
          </p:sp>
        </p:grpSp>
      </p:grpSp>
      <p:grpSp>
        <p:nvGrpSpPr>
          <p:cNvPr id="53" name="组合 52"/>
          <p:cNvGrpSpPr/>
          <p:nvPr/>
        </p:nvGrpSpPr>
        <p:grpSpPr>
          <a:xfrm>
            <a:off x="7313930" y="4156075"/>
            <a:ext cx="2794000" cy="2095500"/>
            <a:chOff x="11519" y="6523"/>
            <a:chExt cx="4400" cy="3300"/>
          </a:xfrm>
        </p:grpSpPr>
        <p:sp>
          <p:nvSpPr>
            <p:cNvPr id="20" name="AutoShape 20"/>
            <p:cNvSpPr/>
            <p:nvPr>
              <p:custDataLst>
                <p:tags r:id="rId3"/>
              </p:custDataLst>
            </p:nvPr>
          </p:nvSpPr>
          <p:spPr>
            <a:xfrm>
              <a:off x="11519" y="6523"/>
              <a:ext cx="4400" cy="3300"/>
            </a:xfrm>
            <a:prstGeom prst="roundRect">
              <a:avLst>
                <a:gd name="adj" fmla="val 7272"/>
              </a:avLst>
            </a:prstGeom>
            <a:solidFill>
              <a:srgbClr val="FFFFFF">
                <a:alpha val="90000"/>
              </a:srgbClr>
            </a:solidFill>
            <a:ln w="25400" cap="flat" cmpd="sng">
              <a:noFill/>
              <a:prstDash val="solid"/>
              <a:round/>
            </a:ln>
            <a:effectLst>
              <a:outerShdw blurRad="127000" dist="38100" dir="2700000" algn="tl" rotWithShape="0">
                <a:srgbClr val="2E4047">
                  <a:alpha val="10000"/>
                </a:srgbClr>
              </a:outerShdw>
            </a:effectLst>
          </p:spPr>
          <p:txBody>
            <a:bodyPr vert="horz" wrap="square" lIns="63500" tIns="63500" rIns="63500" bIns="63500" rtlCol="0" anchor="ctr"/>
            <a:lstStyle/>
            <a:p>
              <a:pPr algn="ctr">
                <a:defRPr/>
              </a:pPr>
              <a:endParaRPr/>
            </a:p>
          </p:txBody>
        </p:sp>
        <p:pic>
          <p:nvPicPr>
            <p:cNvPr id="28" name="Picture 21"/>
            <p:cNvPicPr>
              <a:picLocks noChangeAspect="1"/>
            </p:cNvPicPr>
            <p:nvPr>
              <p:custDataLst>
                <p:tags r:id="rId4"/>
              </p:custDataLst>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1818" y="6923"/>
              <a:ext cx="720" cy="720"/>
            </a:xfrm>
            <a:prstGeom prst="rect">
              <a:avLst/>
            </a:prstGeom>
          </p:spPr>
        </p:pic>
        <p:sp>
          <p:nvSpPr>
            <p:cNvPr id="29" name="AutoShape 22"/>
            <p:cNvSpPr/>
            <p:nvPr>
              <p:custDataLst>
                <p:tags r:id="rId5"/>
              </p:custDataLst>
            </p:nvPr>
          </p:nvSpPr>
          <p:spPr>
            <a:xfrm>
              <a:off x="12818" y="6963"/>
              <a:ext cx="28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404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传播应用</a:t>
              </a:r>
              <a:endParaRPr lang="en-US" sz="1100"/>
            </a:p>
          </p:txBody>
        </p:sp>
        <p:sp>
          <p:nvSpPr>
            <p:cNvPr id="30" name="AutoShape 23"/>
            <p:cNvSpPr/>
            <p:nvPr>
              <p:custDataLst>
                <p:tags r:id="rId6"/>
              </p:custDataLst>
            </p:nvPr>
          </p:nvSpPr>
          <p:spPr>
            <a:xfrm>
              <a:off x="11818" y="7923"/>
              <a:ext cx="3800" cy="14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dirty="0">
                  <a:solidFill>
                    <a:srgbClr val="5A6469"/>
                  </a:solidFill>
                  <a:latin typeface="Noto Sans SC" panose="020B0200000000000000" charset="-122"/>
                  <a:ea typeface="Noto Sans SC" panose="020B0200000000000000" charset="-122"/>
                  <a:cs typeface="Noto Sans SC" panose="020B0200000000000000" charset="-122"/>
                  <a:sym typeface="Noto Sans SC" panose="020B0200000000000000" charset="-122"/>
                </a:rPr>
                <a:t>将成果转化为线上展览、教育课件等科普产品，服务于更广泛的社会公众。</a:t>
              </a:r>
              <a:endParaRPr lang="en-US" sz="11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12"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strips(downLeft)">
                                      <p:cBhvr>
                                        <p:cTn id="15" dur="500"/>
                                        <p:tgtEl>
                                          <p:spTgt spid="16"/>
                                        </p:tgtEl>
                                      </p:cBhvr>
                                    </p:animEffect>
                                  </p:childTnLst>
                                </p:cTn>
                              </p:par>
                              <p:par>
                                <p:cTn id="16" presetID="18" presetClass="entr" presetSubtype="12"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strips(downLeft)">
                                      <p:cBhvr>
                                        <p:cTn id="18" dur="500"/>
                                        <p:tgtEl>
                                          <p:spTgt spid="8"/>
                                        </p:tgtEl>
                                      </p:cBhvr>
                                    </p:animEffect>
                                  </p:childTnLst>
                                </p:cTn>
                              </p:par>
                              <p:par>
                                <p:cTn id="19" presetID="18" presetClass="entr" presetSubtype="12" fill="hold" nodeType="with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strips(downLeft)">
                                      <p:cBhvr>
                                        <p:cTn id="21" dur="500"/>
                                        <p:tgtEl>
                                          <p:spTgt spid="52"/>
                                        </p:tgtEl>
                                      </p:cBhvr>
                                    </p:animEffect>
                                  </p:childTnLst>
                                </p:cTn>
                              </p:par>
                              <p:par>
                                <p:cTn id="22" presetID="18" presetClass="entr" presetSubtype="12" fill="hold" nodeType="withEffect">
                                  <p:stCondLst>
                                    <p:cond delay="0"/>
                                  </p:stCondLst>
                                  <p:childTnLst>
                                    <p:set>
                                      <p:cBhvr>
                                        <p:cTn id="23" dur="1" fill="hold">
                                          <p:stCondLst>
                                            <p:cond delay="0"/>
                                          </p:stCondLst>
                                        </p:cTn>
                                        <p:tgtEl>
                                          <p:spTgt spid="53"/>
                                        </p:tgtEl>
                                        <p:attrNameLst>
                                          <p:attrName>style.visibility</p:attrName>
                                        </p:attrNameLst>
                                      </p:cBhvr>
                                      <p:to>
                                        <p:strVal val="visible"/>
                                      </p:to>
                                    </p:set>
                                    <p:animEffect transition="in" filter="strips(downLeft)">
                                      <p:cBhvr>
                                        <p:cTn id="24"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8" grpId="0" animBg="1"/>
      <p:bldP spid="8" grpId="1"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 name="KSO_WM_SLIDE_ANIMATION_ID" val="311059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 name="KSO_WM_SLIDE_ANIMATION_ID" val="311059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 name="KSO_WM_SLIDE_ANIMATION_ID" val="311059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 name="KSO_WM_SLIDE_ANIMATION_ID" val="311059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 name="KSO_WM_SLIDE_ANIMATION_ID" val="311059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 name="KSO_WM_SLIDE_ANIMATION_ID" val="3110590"/>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i"/>
  <p:tag name="KSO_WM_UNIT_INDEX" val="1_6_2"/>
  <p:tag name="KSO_WM_UNIT_ID" val="diagram19882022_6*l_h_i*1_6_2"/>
  <p:tag name="KSO_WM_TEMPLATE_INDEX" val="19882022"/>
  <p:tag name="KSO_WM_TAG_VERSION" val="2.0"/>
  <p:tag name="KSO_WM_DIAGRAM_GROUP_CODE" val="l1-1"/>
  <p:tag name="KSO_WM_DIAGRAM_VIRTUALLY_FRAME" val="{&quot;height&quot;:340,&quot;left&quot;:60,&quot;top&quot;:140,&quot;width&quot;:840}"/>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i"/>
  <p:tag name="KSO_WM_UNIT_INDEX" val="1_6_1"/>
  <p:tag name="KSO_WM_UNIT_ID" val="diagram19882022_6*l_h_i*1_6_1"/>
  <p:tag name="KSO_WM_TEMPLATE_INDEX" val="19882022"/>
  <p:tag name="KSO_WM_TAG_VERSION" val="2.0"/>
  <p:tag name="KSO_WM_DIAGRAM_GROUP_CODE" val="l1-1"/>
  <p:tag name="KSO_WM_UNIT_SUBTYPE" val="d"/>
  <p:tag name="KSO_WM_DIAGRAM_VIRTUALLY_FRAME" val="{&quot;height&quot;:340,&quot;left&quot;:60,&quot;top&quot;:140,&quot;width&quot;:840}"/>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a"/>
  <p:tag name="KSO_WM_UNIT_INDEX" val="1_6_1"/>
  <p:tag name="KSO_WM_UNIT_ID" val="diagram19882022_6*l_h_a*1_6_1"/>
  <p:tag name="KSO_WM_TEMPLATE_INDEX" val="19882022"/>
  <p:tag name="KSO_WM_TAG_VERSION" val="2.0"/>
  <p:tag name="KSO_WM_DIAGRAM_GROUP_CODE" val="l1-1"/>
  <p:tag name="KSO_WM_DIAGRAM_VIRTUALLY_FRAME" val="{&quot;height&quot;:340,&quot;left&quot;:60,&quot;top&quot;:140,&quot;width&quot;:840}"/>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f"/>
  <p:tag name="KSO_WM_UNIT_INDEX" val="1_6_1"/>
  <p:tag name="KSO_WM_UNIT_ID" val="diagram19882022_6*l_h_f*1_6_1"/>
  <p:tag name="KSO_WM_TEMPLATE_INDEX" val="19882022"/>
  <p:tag name="KSO_WM_TAG_VERSION" val="2.0"/>
  <p:tag name="KSO_WM_DIAGRAM_GROUP_CODE" val="l1-1"/>
  <p:tag name="KSO_WM_DIAGRAM_VIRTUALLY_FRAME" val="{&quot;height&quot;:340,&quot;left&quot;:60,&quot;top&quot;:140,&quot;width&quot;:840}"/>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i"/>
  <p:tag name="KSO_WM_UNIT_INDEX" val="1_5_2"/>
  <p:tag name="KSO_WM_UNIT_ID" val="diagram19882022_6*l_h_i*1_5_2"/>
  <p:tag name="KSO_WM_TEMPLATE_INDEX" val="19882022"/>
  <p:tag name="KSO_WM_TAG_VERSION" val="2.0"/>
  <p:tag name="KSO_WM_DIAGRAM_GROUP_CODE" val="l1-1"/>
  <p:tag name="KSO_WM_DIAGRAM_VIRTUALLY_FRAME" val="{&quot;height&quot;:340,&quot;left&quot;:60,&quot;top&quot;:140,&quot;width&quot;:840}"/>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i"/>
  <p:tag name="KSO_WM_UNIT_INDEX" val="1_5_1"/>
  <p:tag name="KSO_WM_UNIT_ID" val="diagram19882022_6*l_h_i*1_5_1"/>
  <p:tag name="KSO_WM_TEMPLATE_INDEX" val="19882022"/>
  <p:tag name="KSO_WM_TAG_VERSION" val="2.0"/>
  <p:tag name="KSO_WM_DIAGRAM_GROUP_CODE" val="l1-1"/>
  <p:tag name="KSO_WM_UNIT_SUBTYPE" val="d"/>
  <p:tag name="KSO_WM_DIAGRAM_VIRTUALLY_FRAME" val="{&quot;height&quot;:340,&quot;left&quot;:60,&quot;top&quot;:140,&quot;width&quot;:840}"/>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f"/>
  <p:tag name="KSO_WM_UNIT_INDEX" val="1_5_2"/>
  <p:tag name="KSO_WM_UNIT_ID" val="diagram19882022_6*l_h_f*1_5_2"/>
  <p:tag name="KSO_WM_TEMPLATE_INDEX" val="19882022"/>
  <p:tag name="KSO_WM_TAG_VERSION" val="2.0"/>
  <p:tag name="KSO_WM_DIAGRAM_GROUP_CODE" val="l1-1"/>
  <p:tag name="KSO_WM_DIAGRAM_VIRTUALLY_FRAME" val="{&quot;height&quot;:340,&quot;left&quot;:60,&quot;top&quot;:140,&quot;width&quot;:840}"/>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f"/>
  <p:tag name="KSO_WM_UNIT_INDEX" val="1_5_1"/>
  <p:tag name="KSO_WM_UNIT_ID" val="diagram19882022_6*l_h_f*1_5_1"/>
  <p:tag name="KSO_WM_TEMPLATE_INDEX" val="19882022"/>
  <p:tag name="KSO_WM_TAG_VERSION" val="2.0"/>
  <p:tag name="KSO_WM_DIAGRAM_GROUP_CODE" val="l1-1"/>
  <p:tag name="KSO_WM_DIAGRAM_VIRTUALLY_FRAME" val="{&quot;height&quot;:340,&quot;left&quot;:60,&quot;top&quot;:140,&quot;width&quot;:840}"/>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i"/>
  <p:tag name="KSO_WM_UNIT_INDEX" val="1_4_2"/>
  <p:tag name="KSO_WM_UNIT_ID" val="diagram19882022_6*l_h_i*1_4_2"/>
  <p:tag name="KSO_WM_TEMPLATE_INDEX" val="19882022"/>
  <p:tag name="KSO_WM_TAG_VERSION" val="2.0"/>
  <p:tag name="KSO_WM_DIAGRAM_GROUP_CODE" val="l1-1"/>
  <p:tag name="KSO_WM_DIAGRAM_VIRTUALLY_FRAME" val="{&quot;height&quot;:340,&quot;left&quot;:60,&quot;top&quot;:140,&quot;width&quot;:840}"/>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i"/>
  <p:tag name="KSO_WM_UNIT_INDEX" val="1_4_1"/>
  <p:tag name="KSO_WM_UNIT_ID" val="diagram19882022_6*l_h_i*1_4_1"/>
  <p:tag name="KSO_WM_TEMPLATE_INDEX" val="19882022"/>
  <p:tag name="KSO_WM_TAG_VERSION" val="2.0"/>
  <p:tag name="KSO_WM_DIAGRAM_GROUP_CODE" val="l1-1"/>
  <p:tag name="KSO_WM_UNIT_SUBTYPE" val="d"/>
  <p:tag name="KSO_WM_DIAGRAM_VIRTUALLY_FRAME" val="{&quot;height&quot;:340,&quot;left&quot;:60,&quot;top&quot;:140,&quot;width&quot;:840}"/>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f"/>
  <p:tag name="KSO_WM_UNIT_INDEX" val="1_4_2"/>
  <p:tag name="KSO_WM_UNIT_ID" val="diagram19882022_6*l_h_f*1_4_2"/>
  <p:tag name="KSO_WM_TEMPLATE_INDEX" val="19882022"/>
  <p:tag name="KSO_WM_TAG_VERSION" val="2.0"/>
  <p:tag name="KSO_WM_DIAGRAM_GROUP_CODE" val="l1-1"/>
  <p:tag name="KSO_WM_DIAGRAM_VIRTUALLY_FRAME" val="{&quot;height&quot;:340,&quot;left&quot;:60,&quot;top&quot;:140,&quot;width&quot;:840}"/>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f"/>
  <p:tag name="KSO_WM_UNIT_INDEX" val="1_4_1"/>
  <p:tag name="KSO_WM_UNIT_ID" val="diagram19882022_6*l_h_f*1_4_1"/>
  <p:tag name="KSO_WM_TEMPLATE_INDEX" val="19882022"/>
  <p:tag name="KSO_WM_TAG_VERSION" val="2.0"/>
  <p:tag name="KSO_WM_DIAGRAM_GROUP_CODE" val="l1-1"/>
  <p:tag name="KSO_WM_DIAGRAM_VIRTUALLY_FRAME" val="{&quot;height&quot;:340,&quot;left&quot;:60,&quot;top&quot;:140,&quot;width&quot;:840}"/>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i"/>
  <p:tag name="KSO_WM_UNIT_INDEX" val="1_3_2"/>
  <p:tag name="KSO_WM_UNIT_ID" val="diagram19882022_6*l_h_i*1_3_2"/>
  <p:tag name="KSO_WM_TEMPLATE_INDEX" val="19882022"/>
  <p:tag name="KSO_WM_TAG_VERSION" val="2.0"/>
  <p:tag name="KSO_WM_DIAGRAM_GROUP_CODE" val="l1-1"/>
  <p:tag name="KSO_WM_DIAGRAM_VIRTUALLY_FRAME" val="{&quot;height&quot;:340,&quot;left&quot;:60,&quot;top&quot;:140,&quot;width&quot;:840}"/>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i"/>
  <p:tag name="KSO_WM_UNIT_INDEX" val="1_3_1"/>
  <p:tag name="KSO_WM_UNIT_ID" val="diagram19882022_6*l_h_i*1_3_1"/>
  <p:tag name="KSO_WM_TEMPLATE_INDEX" val="19882022"/>
  <p:tag name="KSO_WM_TAG_VERSION" val="2.0"/>
  <p:tag name="KSO_WM_DIAGRAM_GROUP_CODE" val="l1-1"/>
  <p:tag name="KSO_WM_UNIT_SUBTYPE" val="d"/>
  <p:tag name="KSO_WM_DIAGRAM_VIRTUALLY_FRAME" val="{&quot;height&quot;:340,&quot;left&quot;:60,&quot;top&quot;:140,&quot;width&quot;:840}"/>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a"/>
  <p:tag name="KSO_WM_UNIT_INDEX" val="1_3_1"/>
  <p:tag name="KSO_WM_UNIT_ID" val="diagram19882022_6*l_h_a*1_3_1"/>
  <p:tag name="KSO_WM_TEMPLATE_INDEX" val="19882022"/>
  <p:tag name="KSO_WM_TAG_VERSION" val="2.0"/>
  <p:tag name="KSO_WM_DIAGRAM_GROUP_CODE" val="l1-1"/>
  <p:tag name="KSO_WM_DIAGRAM_VIRTUALLY_FRAME" val="{&quot;height&quot;:340,&quot;left&quot;:60,&quot;top&quot;:140,&quot;width&quot;:840}"/>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f"/>
  <p:tag name="KSO_WM_UNIT_INDEX" val="1_3_1"/>
  <p:tag name="KSO_WM_UNIT_ID" val="diagram19882022_6*l_h_f*1_3_1"/>
  <p:tag name="KSO_WM_TEMPLATE_INDEX" val="19882022"/>
  <p:tag name="KSO_WM_TAG_VERSION" val="2.0"/>
  <p:tag name="KSO_WM_DIAGRAM_GROUP_CODE" val="l1-1"/>
  <p:tag name="KSO_WM_DIAGRAM_VIRTUALLY_FRAME" val="{&quot;height&quot;:340,&quot;left&quot;:60,&quot;top&quot;:140,&quot;width&quot;:840}"/>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i"/>
  <p:tag name="KSO_WM_UNIT_INDEX" val="1_2_2"/>
  <p:tag name="KSO_WM_UNIT_ID" val="diagram19882022_6*l_h_i*1_2_2"/>
  <p:tag name="KSO_WM_TEMPLATE_INDEX" val="19882022"/>
  <p:tag name="KSO_WM_TAG_VERSION" val="2.0"/>
  <p:tag name="KSO_WM_DIAGRAM_GROUP_CODE" val="l1-1"/>
  <p:tag name="KSO_WM_DIAGRAM_VIRTUALLY_FRAME" val="{&quot;height&quot;:340,&quot;left&quot;:60,&quot;top&quot;:140,&quot;width&quot;:840}"/>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i"/>
  <p:tag name="KSO_WM_UNIT_INDEX" val="1_2_1"/>
  <p:tag name="KSO_WM_UNIT_ID" val="diagram19882022_6*l_h_i*1_2_1"/>
  <p:tag name="KSO_WM_TEMPLATE_INDEX" val="19882022"/>
  <p:tag name="KSO_WM_TAG_VERSION" val="2.0"/>
  <p:tag name="KSO_WM_DIAGRAM_GROUP_CODE" val="l1-1"/>
  <p:tag name="KSO_WM_UNIT_SUBTYPE" val="d"/>
  <p:tag name="KSO_WM_DIAGRAM_VIRTUALLY_FRAME" val="{&quot;height&quot;:340,&quot;left&quot;:60,&quot;top&quot;:140,&quot;width&quot;:840}"/>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f"/>
  <p:tag name="KSO_WM_UNIT_INDEX" val="1_2_2"/>
  <p:tag name="KSO_WM_UNIT_ID" val="diagram19882022_6*l_h_f*1_2_2"/>
  <p:tag name="KSO_WM_TEMPLATE_INDEX" val="19882022"/>
  <p:tag name="KSO_WM_TAG_VERSION" val="2.0"/>
  <p:tag name="KSO_WM_DIAGRAM_GROUP_CODE" val="l1-1"/>
  <p:tag name="KSO_WM_DIAGRAM_VIRTUALLY_FRAME" val="{&quot;height&quot;:340,&quot;left&quot;:60,&quot;top&quot;:140,&quot;width&quot;:840}"/>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f"/>
  <p:tag name="KSO_WM_UNIT_INDEX" val="1_2_1"/>
  <p:tag name="KSO_WM_UNIT_ID" val="diagram19882022_6*l_h_f*1_2_1"/>
  <p:tag name="KSO_WM_TEMPLATE_INDEX" val="19882022"/>
  <p:tag name="KSO_WM_TAG_VERSION" val="2.0"/>
  <p:tag name="KSO_WM_DIAGRAM_GROUP_CODE" val="l1-1"/>
  <p:tag name="KSO_WM_DIAGRAM_VIRTUALLY_FRAME" val="{&quot;height&quot;:340,&quot;left&quot;:60,&quot;top&quot;:140,&quot;width&quot;:840}"/>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i"/>
  <p:tag name="KSO_WM_UNIT_INDEX" val="1_1_2"/>
  <p:tag name="KSO_WM_UNIT_ID" val="diagram19882022_6*l_h_i*1_1_2"/>
  <p:tag name="KSO_WM_TEMPLATE_INDEX" val="19882022"/>
  <p:tag name="KSO_WM_TAG_VERSION" val="2.0"/>
  <p:tag name="KSO_WM_DIAGRAM_GROUP_CODE" val="l1-1"/>
  <p:tag name="KSO_WM_DIAGRAM_VIRTUALLY_FRAME" val="{&quot;height&quot;:340,&quot;left&quot;:60,&quot;top&quot;:140,&quot;width&quot;:840}"/>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i"/>
  <p:tag name="KSO_WM_UNIT_INDEX" val="1_1_1"/>
  <p:tag name="KSO_WM_UNIT_ID" val="diagram19882022_6*l_h_i*1_1_1"/>
  <p:tag name="KSO_WM_TEMPLATE_INDEX" val="19882022"/>
  <p:tag name="KSO_WM_TAG_VERSION" val="2.0"/>
  <p:tag name="KSO_WM_DIAGRAM_GROUP_CODE" val="l1-1"/>
  <p:tag name="KSO_WM_UNIT_SUBTYPE" val="d"/>
  <p:tag name="KSO_WM_DIAGRAM_VIRTUALLY_FRAME" val="{&quot;height&quot;:340,&quot;left&quot;:60,&quot;top&quot;:140,&quot;width&quot;:840}"/>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a"/>
  <p:tag name="KSO_WM_UNIT_INDEX" val="1_1_1"/>
  <p:tag name="KSO_WM_UNIT_ID" val="diagram19882022_6*l_h_a*1_1_1"/>
  <p:tag name="KSO_WM_TEMPLATE_INDEX" val="19882022"/>
  <p:tag name="KSO_WM_TAG_VERSION" val="2.0"/>
  <p:tag name="KSO_WM_DIAGRAM_GROUP_CODE" val="l1-1"/>
  <p:tag name="KSO_WM_DIAGRAM_VIRTUALLY_FRAME" val="{&quot;height&quot;:340,&quot;left&quot;:60,&quot;top&quot;:140,&quot;width&quot;:840}"/>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wm#"/>
  <p:tag name="KSO_WM_UNIT_TYPE" val="l_h_f"/>
  <p:tag name="KSO_WM_UNIT_INDEX" val="1_1_1"/>
  <p:tag name="KSO_WM_UNIT_ID" val="diagram19882022_6*l_h_f*1_1_1"/>
  <p:tag name="KSO_WM_TEMPLATE_INDEX" val="19882022"/>
  <p:tag name="KSO_WM_TAG_VERSION" val="2.0"/>
  <p:tag name="KSO_WM_DIAGRAM_GROUP_CODE" val="l1-1"/>
  <p:tag name="KSO_WM_DIAGRAM_VIRTUALLY_FRAME" val="{&quot;height&quot;:340,&quot;left&quot;:60,&quot;top&quot;:140,&quot;width&quot;:84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20,&quot;top&quot;:120,&quot;width&quot;:480}"/>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29.75,&quot;left&quot;:60,&quot;top&quot;:182.45,&quot;width&quot;:53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22,&quot;left&quot;:30,&quot;top&quot;:118,&quot;width&quot;:870}"/>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160,&quot;left&quot;:60,&quot;top&quot;:130,&quot;width&quot;:840}"/>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252.5,&quot;left&quot;:24,&quot;top&quot;:87.5,&quot;width&quot;:876}"/>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76.7,&quot;left&quot;:460,&quot;top&quot;:120,&quot;width&quot;:440}"/>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460,&quot;top&quot;:130,&quot;width&quot;:430}"/>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192.75,&quot;left&quot;:50,&quot;top&quot;:167.75,&quot;width&quot;:420}"/>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235,&quot;left&quot;:60,&quot;top&quot;:270,&quot;width&quot;:400}"/>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220,&quot;width&quot;:840}"/>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56.1,&quot;top&quot;:120,&quot;width&quot;:843.9}"/>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420}"/>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5}"/>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5}"/>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5}"/>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285039370079}"/>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285039370079}"/>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285039370079}"/>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5}"/>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285039370079}"/>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285039370079}"/>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285039370079}"/>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285039370079}"/>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5}"/>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5}"/>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5}"/>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5}"/>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5}"/>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5}"/>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95.2124409448819,&quot;left&quot;:60,&quot;top&quot;:97.05,&quot;width&quot;:735.9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1675</Words>
  <Application>Microsoft Office PowerPoint</Application>
  <PresentationFormat>宽屏</PresentationFormat>
  <Paragraphs>229</Paragraphs>
  <Slides>20</Slides>
  <Notes>20</Notes>
  <HiddenSlides>0</HiddenSlides>
  <MMClips>0</MMClips>
  <ScaleCrop>false</ScaleCrop>
  <HeadingPairs>
    <vt:vector size="6" baseType="variant">
      <vt:variant>
        <vt:lpstr>已用的字体</vt:lpstr>
      </vt:variant>
      <vt:variant>
        <vt:i4>4</vt:i4>
      </vt:variant>
      <vt:variant>
        <vt:lpstr>主题</vt:lpstr>
      </vt:variant>
      <vt:variant>
        <vt:i4>10</vt:i4>
      </vt:variant>
      <vt:variant>
        <vt:lpstr>幻灯片标题</vt:lpstr>
      </vt:variant>
      <vt:variant>
        <vt:i4>20</vt:i4>
      </vt:variant>
    </vt:vector>
  </HeadingPairs>
  <TitlesOfParts>
    <vt:vector size="34" baseType="lpstr">
      <vt:lpstr>+中文标题</vt:lpstr>
      <vt:lpstr>Noto Sans SC</vt:lpstr>
      <vt:lpstr>Noto Serif SC</vt:lpstr>
      <vt:lpstr>Arial</vt:lpstr>
      <vt:lpstr>Office 主题​​</vt:lpstr>
      <vt:lpstr>默认主题</vt:lpstr>
      <vt:lpstr>1_默认主题</vt:lpstr>
      <vt:lpstr>2_默认主题</vt:lpstr>
      <vt:lpstr>4_默认主题</vt:lpstr>
      <vt:lpstr>3_默认主题</vt:lpstr>
      <vt:lpstr>5_默认主题</vt:lpstr>
      <vt:lpstr>6_默认主题</vt:lpstr>
      <vt:lpstr>7_默认主题</vt:lpstr>
      <vt:lpstr>8_默认主题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 Yh</dc:creator>
  <cp:lastModifiedBy>T Yh</cp:lastModifiedBy>
  <cp:revision>8</cp:revision>
  <dcterms:created xsi:type="dcterms:W3CDTF">2026-04-20T16:24:00Z</dcterms:created>
  <dcterms:modified xsi:type="dcterms:W3CDTF">2026-04-30T11:53:44Z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B51CC6D96FC446B2B80C7EFE9B2F02FB_13</vt:lpwstr>
  </property>
</Properties>
</file>